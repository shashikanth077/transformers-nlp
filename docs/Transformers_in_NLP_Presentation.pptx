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handoutMasters/handoutMaster1.xml" ContentType="application/vnd.openxmlformats-officedocument.presentationml.handoutMaster+xml"/>
  <Override PartName="/ppt/media/image11.svg" ContentType="image/svg+xml"/>
  <Override PartName="/ppt/media/image14.svg" ContentType="image/svg+xml"/>
  <Override PartName="/ppt/media/image3.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handoutMasterIdLst>
    <p:handoutMasterId r:id="rId21"/>
  </p:handout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5" userDrawn="1">
          <p15:clr>
            <a:srgbClr val="A4A3A4"/>
          </p15:clr>
        </p15:guide>
        <p15:guide id="2" pos="14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04"/>
    <p:restoredTop sz="96405"/>
  </p:normalViewPr>
  <p:slideViewPr>
    <p:cSldViewPr snapToGrid="0" snapToObjects="1">
      <p:cViewPr varScale="1">
        <p:scale>
          <a:sx n="127" d="100"/>
          <a:sy n="127" d="100"/>
        </p:scale>
        <p:origin x="1728" y="176"/>
      </p:cViewPr>
      <p:guideLst>
        <p:guide orient="horz" pos="255"/>
        <p:guide pos="142"/>
      </p:guideLst>
    </p:cSldViewPr>
  </p:slideViewPr>
  <p:notesTextViewPr>
    <p:cViewPr>
      <p:scale>
        <a:sx n="1" d="1"/>
        <a:sy n="1" d="1"/>
      </p:scale>
      <p:origin x="0" y="0"/>
    </p:cViewPr>
  </p:notesTextViewPr>
  <p:notesViewPr>
    <p:cSldViewPr snapToGrid="0" snapToObjects="1" showGuides="1">
      <p:cViewPr varScale="1">
        <p:scale>
          <a:sx n="99" d="100"/>
          <a:sy n="99" d="100"/>
        </p:scale>
        <p:origin x="4272" y="1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21" Type="http://schemas.openxmlformats.org/officeDocument/2006/relationships/handoutMaster" Target="handoutMasters/handout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Accuracy, %</c:v>
                </c:pt>
              </c:strCache>
            </c:strRef>
          </c:tx>
          <c:dPt>
            <c:idx val="0"/>
            <c:spPr>
              <a:solidFill>
                <a:srgbClr val="0B4DC7"/>
              </a:solidFill>
            </c:spPr>
          </c:dPt>
          <c:dPt>
            <c:idx val="1"/>
            <c:spPr>
              <a:solidFill>
                <a:srgbClr val="0B4DC7"/>
              </a:solidFill>
            </c:spPr>
          </c:dPt>
          <c:dPt>
            <c:idx val="2"/>
            <c:spPr>
              <a:solidFill>
                <a:srgbClr val="3EB8D8"/>
              </a:solidFill>
            </c:spPr>
          </c:dPt>
          <c:dPt>
            <c:idx val="3"/>
            <c:spPr>
              <a:solidFill>
                <a:srgbClr val="3EB8D8"/>
              </a:solidFill>
            </c:spPr>
          </c:dPt>
          <c:dPt>
            <c:idx val="4"/>
            <c:spPr>
              <a:solidFill>
                <a:srgbClr val="F68B28"/>
              </a:solidFill>
            </c:spPr>
          </c:dPt>
          <c:dPt>
            <c:idx val="5"/>
            <c:spPr>
              <a:solidFill>
                <a:srgbClr val="3EB8D8"/>
              </a:solidFill>
            </c:spPr>
          </c:dPt>
          <c:dPt>
            <c:idx val="6"/>
            <c:spPr>
              <a:solidFill>
                <a:srgbClr val="0B4DC7"/>
              </a:solidFill>
            </c:spPr>
          </c:dPt>
          <c:dPt>
            <c:idx val="7"/>
            <c:spPr>
              <a:solidFill>
                <a:srgbClr val="0B4DC7"/>
              </a:solidFill>
            </c:spPr>
          </c:dPt>
          <c:dPt>
            <c:idx val="8"/>
            <c:spPr>
              <a:solidFill>
                <a:srgbClr val="0B4DC7"/>
              </a:solidFill>
            </c:spPr>
          </c:dPt>
          <c:dPt>
            <c:idx val="9"/>
            <c:spPr>
              <a:solidFill>
                <a:srgbClr val="0B4DC7"/>
              </a:solidFill>
            </c:spPr>
          </c:dPt>
          <c:cat>
            <c:strRef>
              <c:f>Sheet1!$A$2:$A$11</c:f>
              <c:strCache>
                <c:ptCount val="10"/>
                <c:pt idx="0">
                  <c:v>BERT-tiny fine-tuned (8k)</c:v>
                </c:pt>
                <c:pt idx="1">
                  <c:v>Zero-shot NLI DistilRoBERTa</c:v>
                </c:pt>
                <c:pt idx="2">
                  <c:v>TF-IDF + Logistic Regr.</c:v>
                </c:pt>
                <c:pt idx="3">
                  <c:v>TF-IDF + Naive Bayes</c:v>
                </c:pt>
                <c:pt idx="4">
                  <c:v>BiLSTM (from scratch)</c:v>
                </c:pt>
                <c:pt idx="5">
                  <c:v>TF-IDF + Linear SVM</c:v>
                </c:pt>
                <c:pt idx="6">
                  <c:v>BERT-small fine-tuned (8k)</c:v>
                </c:pt>
                <c:pt idx="7">
                  <c:v>Twitter-RoBERTa (off-the-shelf)</c:v>
                </c:pt>
                <c:pt idx="8">
                  <c:v>DistilBERT fine-tuned (8k)</c:v>
                </c:pt>
                <c:pt idx="9">
                  <c:v>DistilBERT-SST2 (off-the-shelf)</c:v>
                </c:pt>
              </c:strCache>
            </c:strRef>
          </c:cat>
          <c:val>
            <c:numRef>
              <c:f>Sheet1!$B$2:$B$11</c:f>
              <c:numCache>
                <c:formatCode>General</c:formatCode>
                <c:ptCount val="10"/>
                <c:pt idx="0">
                  <c:v>76.6</c:v>
                </c:pt>
                <c:pt idx="1">
                  <c:v>81.8</c:v>
                </c:pt>
                <c:pt idx="2">
                  <c:v>81.9</c:v>
                </c:pt>
                <c:pt idx="3">
                  <c:v>82.2</c:v>
                </c:pt>
                <c:pt idx="4">
                  <c:v>82.8</c:v>
                </c:pt>
                <c:pt idx="5">
                  <c:v>82.9</c:v>
                </c:pt>
                <c:pt idx="6">
                  <c:v>83.7</c:v>
                </c:pt>
                <c:pt idx="7">
                  <c:v>85.8</c:v>
                </c:pt>
                <c:pt idx="8">
                  <c:v>88.8</c:v>
                </c:pt>
                <c:pt idx="9">
                  <c:v>91.1</c:v>
                </c:pt>
              </c:numCache>
            </c:numRef>
          </c:val>
        </c:ser>
        <c:dLbls>
          <c:numFmt formatCode="0.0&quot;%&quot;" sourceLinked="0"/>
          <c:txPr>
            <a:bodyPr/>
            <a:lstStyle/>
            <a:p>
              <a:pPr>
                <a:defRPr sz="1000"/>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95.0"/>
          <c:min val="60.0"/>
        </c:scaling>
        <c:delete val="0"/>
        <c:axPos val="b"/>
        <c:majorTickMark val="out"/>
        <c:minorTickMark val="none"/>
        <c:tickLblPos val="nextTo"/>
        <c:txPr>
          <a:bodyPr/>
          <a:lstStyle/>
          <a:p>
            <a:pPr>
              <a:defRPr sz="900"/>
            </a:pPr>
          </a:p>
        </c:txPr>
        <c:crossAx val="-2068027336"/>
        <c:crosses val="autoZero"/>
      </c:valAx>
    </c:plotArea>
    <c:dispBlanksAs val="gap"/>
  </c:chart>
  <c:txPr>
    <a:bodyPr/>
    <a:lstStyle/>
    <a:p>
      <a:pPr>
        <a:defRPr sz="105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BERT-small (pre-trained)</c:v>
                </c:pt>
              </c:strCache>
            </c:strRef>
          </c:tx>
          <c:spPr>
            <a:ln w="34925">
              <a:solidFill>
                <a:srgbClr val="0B4DC7"/>
              </a:solidFill>
            </a:ln>
          </c:spPr>
          <c:marker>
            <c:spPr>
              <a:solidFill>
                <a:srgbClr val="0B4DC7"/>
              </a:solidFill>
              <a:ln>
                <a:solidFill>
                  <a:srgbClr val="0B4DC7"/>
                </a:solidFill>
              </a:ln>
            </c:spPr>
          </c:marker>
          <c:dLbls>
            <c:txPr>
              <a:bodyPr/>
              <a:lstStyle/>
              <a:p>
                <a:pPr>
                  <a:defRPr sz="900"/>
                </a:pPr>
              </a:p>
            </c:txPr>
            <c:dLblPos val="t"/>
            <c:showLegendKey val="0"/>
            <c:showVal val="1"/>
            <c:showCatName val="0"/>
            <c:showSerName val="0"/>
            <c:showPercent val="0"/>
            <c:showBubbleSize val="0"/>
            <c:showLeaderLines val="1"/>
          </c:dLbls>
          <c:cat>
            <c:strRef>
              <c:f>Sheet1!$A$2:$A$6</c:f>
              <c:strCache>
                <c:ptCount val="5"/>
                <c:pt idx="0">
                  <c:v>500</c:v>
                </c:pt>
                <c:pt idx="1">
                  <c:v>1,000</c:v>
                </c:pt>
                <c:pt idx="2">
                  <c:v>2,000</c:v>
                </c:pt>
                <c:pt idx="3">
                  <c:v>4,000</c:v>
                </c:pt>
                <c:pt idx="4">
                  <c:v>8,000</c:v>
                </c:pt>
              </c:strCache>
            </c:strRef>
          </c:cat>
          <c:val>
            <c:numRef>
              <c:f>Sheet1!$B$2:$B$6</c:f>
              <c:numCache>
                <c:formatCode>General</c:formatCode>
                <c:ptCount val="5"/>
                <c:pt idx="0">
                  <c:v>75.9</c:v>
                </c:pt>
                <c:pt idx="1">
                  <c:v>77.6</c:v>
                </c:pt>
                <c:pt idx="2">
                  <c:v>80.7</c:v>
                </c:pt>
                <c:pt idx="3">
                  <c:v>82.7</c:v>
                </c:pt>
                <c:pt idx="4">
                  <c:v>83.7</c:v>
                </c:pt>
              </c:numCache>
            </c:numRef>
          </c:val>
          <c:smooth val="0"/>
        </c:ser>
        <c:ser>
          <c:idx val="1"/>
          <c:order val="1"/>
          <c:tx>
            <c:strRef>
              <c:f>Sheet1!$C$1</c:f>
              <c:strCache>
                <c:ptCount val="1"/>
                <c:pt idx="0">
                  <c:v>TF-IDF + logistic regression</c:v>
                </c:pt>
              </c:strCache>
            </c:strRef>
          </c:tx>
          <c:spPr>
            <a:ln w="34925">
              <a:solidFill>
                <a:srgbClr val="F68B28"/>
              </a:solidFill>
            </a:ln>
          </c:spPr>
          <c:marker>
            <c:spPr>
              <a:solidFill>
                <a:srgbClr val="F68B28"/>
              </a:solidFill>
              <a:ln>
                <a:solidFill>
                  <a:srgbClr val="F68B28"/>
                </a:solidFill>
              </a:ln>
            </c:spPr>
          </c:marker>
          <c:dLbls>
            <c:txPr>
              <a:bodyPr/>
              <a:lstStyle/>
              <a:p>
                <a:pPr>
                  <a:defRPr sz="900"/>
                </a:pPr>
              </a:p>
            </c:txPr>
            <c:dLblPos val="t"/>
            <c:showLegendKey val="0"/>
            <c:showVal val="1"/>
            <c:showCatName val="0"/>
            <c:showSerName val="0"/>
            <c:showPercent val="0"/>
            <c:showBubbleSize val="0"/>
            <c:showLeaderLines val="1"/>
          </c:dLbls>
          <c:cat>
            <c:strRef>
              <c:f>Sheet1!$A$2:$A$6</c:f>
              <c:strCache>
                <c:ptCount val="5"/>
                <c:pt idx="0">
                  <c:v>500</c:v>
                </c:pt>
                <c:pt idx="1">
                  <c:v>1,000</c:v>
                </c:pt>
                <c:pt idx="2">
                  <c:v>2,000</c:v>
                </c:pt>
                <c:pt idx="3">
                  <c:v>4,000</c:v>
                </c:pt>
                <c:pt idx="4">
                  <c:v>8,000</c:v>
                </c:pt>
              </c:strCache>
            </c:strRef>
          </c:cat>
          <c:val>
            <c:numRef>
              <c:f>Sheet1!$C$2:$C$6</c:f>
              <c:numCache>
                <c:formatCode>General</c:formatCode>
                <c:ptCount val="5"/>
                <c:pt idx="0">
                  <c:v>61.8</c:v>
                </c:pt>
                <c:pt idx="1">
                  <c:v>68.1</c:v>
                </c:pt>
                <c:pt idx="2">
                  <c:v>71.0</c:v>
                </c:pt>
                <c:pt idx="3">
                  <c:v>75.8</c:v>
                </c:pt>
                <c:pt idx="4">
                  <c:v>77.5</c:v>
                </c:pt>
              </c:numCache>
            </c:numRef>
          </c:val>
          <c:smooth val="0"/>
        </c:ser>
        <c:marker val="1"/>
        <c:smooth val="0"/>
        <c:axId val="2118791784"/>
        <c:axId val="2140495176"/>
      </c:lineChart>
      <c:catAx>
        <c:axId val="2118791784"/>
        <c:scaling>
          <c:orientation val="minMax"/>
        </c:scaling>
        <c:delete val="0"/>
        <c:axPos val="b"/>
        <c:title>
          <c:tx>
            <c:rich>
              <a:bodyPr/>
              <a:lstStyle/>
              <a:p>
                <a:r>
                  <a:rPr sz="1000"/>
                  <a:t>labelled training sentences</a:t>
                </a:r>
              </a:p>
            </c:rich>
          </c:tx>
          <c:layout/>
          <c:overlay val="0"/>
        </c:title>
        <c:majorTickMark val="out"/>
        <c:minorTickMark val="none"/>
        <c:tickLblPos val="nextTo"/>
        <c:txPr>
          <a:bodyPr/>
          <a:lstStyle/>
          <a:p>
            <a:pPr>
              <a:defRPr sz="1000"/>
            </a:pPr>
          </a:p>
        </c:txPr>
        <c:crossAx val="2140495176"/>
        <c:crosses val="autoZero"/>
        <c:auto val="1"/>
        <c:lblAlgn val="ctr"/>
        <c:lblOffset val="100"/>
        <c:noMultiLvlLbl val="0"/>
      </c:catAx>
      <c:valAx>
        <c:axId val="2140495176"/>
        <c:scaling>
          <c:max val="90.0"/>
          <c:min val="55.0"/>
        </c:scaling>
        <c:delete val="0"/>
        <c:axPos val="l"/>
        <c:majorGridlines>
          <c:spPr>
            <a:ln>
              <a:solidFill>
                <a:srgbClr val="DDDDDD"/>
              </a:solidFill>
            </a:ln>
          </c:spPr>
        </c:majorGridlines>
        <c:majorTickMark val="out"/>
        <c:minorTickMark val="none"/>
        <c:tickLblPos val="nextTo"/>
        <c:txPr>
          <a:bodyPr/>
          <a:lstStyle/>
          <a:p>
            <a:pPr>
              <a:defRPr sz="900"/>
            </a:pPr>
          </a:p>
        </c:txPr>
        <c:crossAx val="2118791784"/>
        <c:crosses val="autoZero"/>
      </c:valAx>
    </c:plotArea>
    <c:legend>
      <c:legendPos val="b"/>
      <c:layout/>
      <c:overlay val="0"/>
      <c:txPr>
        <a:bodyPr/>
        <a:lstStyle/>
        <a:p>
          <a:pPr>
            <a:defRPr sz="1050"/>
          </a:pPr>
        </a:p>
      </c:txPr>
    </c:legend>
    <c:plotVisOnly val="1"/>
    <c:dispBlanksAs val="gap"/>
    <c:showDLblsOverMax val="0"/>
  </c:chart>
  <c:txPr>
    <a:bodyPr/>
    <a:lstStyle/>
    <a:p>
      <a:pPr>
        <a:defRPr sz="105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All sentences</c:v>
                </c:pt>
              </c:strCache>
            </c:strRef>
          </c:tx>
          <c:spPr>
            <a:solidFill>
              <a:srgbClr val="0B4DC7"/>
            </a:solidFill>
          </c:spPr>
          <c:cat>
            <c:strRef>
              <c:f>Sheet1!$A$2:$A$5</c:f>
              <c:strCache>
                <c:ptCount val="4"/>
                <c:pt idx="0">
                  <c:v>TF-IDF + Linear SVM</c:v>
                </c:pt>
                <c:pt idx="1">
                  <c:v>BiLSTM</c:v>
                </c:pt>
                <c:pt idx="2">
                  <c:v>DistilBERT fine-tuned</c:v>
                </c:pt>
                <c:pt idx="3">
                  <c:v>DistilBERT-SST2</c:v>
                </c:pt>
              </c:strCache>
            </c:strRef>
          </c:cat>
          <c:val>
            <c:numRef>
              <c:f>Sheet1!$B$2:$B$5</c:f>
              <c:numCache>
                <c:formatCode>General</c:formatCode>
                <c:ptCount val="4"/>
                <c:pt idx="0">
                  <c:v>82.9</c:v>
                </c:pt>
                <c:pt idx="1">
                  <c:v>82.8</c:v>
                </c:pt>
                <c:pt idx="2">
                  <c:v>88.8</c:v>
                </c:pt>
                <c:pt idx="3">
                  <c:v>91.1</c:v>
                </c:pt>
              </c:numCache>
            </c:numRef>
          </c:val>
        </c:ser>
        <c:ser>
          <c:idx val="1"/>
          <c:order val="1"/>
          <c:tx>
            <c:strRef>
              <c:f>Sheet1!$C$1</c:f>
              <c:strCache>
                <c:ptCount val="1"/>
                <c:pt idx="0">
                  <c:v>Negation</c:v>
                </c:pt>
              </c:strCache>
            </c:strRef>
          </c:tx>
          <c:spPr>
            <a:solidFill>
              <a:srgbClr val="F68B28"/>
            </a:solidFill>
          </c:spPr>
          <c:cat>
            <c:strRef>
              <c:f>Sheet1!$A$2:$A$5</c:f>
              <c:strCache>
                <c:ptCount val="4"/>
                <c:pt idx="0">
                  <c:v>TF-IDF + Linear SVM</c:v>
                </c:pt>
                <c:pt idx="1">
                  <c:v>BiLSTM</c:v>
                </c:pt>
                <c:pt idx="2">
                  <c:v>DistilBERT fine-tuned</c:v>
                </c:pt>
                <c:pt idx="3">
                  <c:v>DistilBERT-SST2</c:v>
                </c:pt>
              </c:strCache>
            </c:strRef>
          </c:cat>
          <c:val>
            <c:numRef>
              <c:f>Sheet1!$C$2:$C$5</c:f>
              <c:numCache>
                <c:formatCode>General</c:formatCode>
                <c:ptCount val="4"/>
                <c:pt idx="0">
                  <c:v>74.5</c:v>
                </c:pt>
                <c:pt idx="1">
                  <c:v>78.8</c:v>
                </c:pt>
                <c:pt idx="2">
                  <c:v>85.3</c:v>
                </c:pt>
                <c:pt idx="3">
                  <c:v>87.0</c:v>
                </c:pt>
              </c:numCache>
            </c:numRef>
          </c:val>
        </c:ser>
        <c:ser>
          <c:idx val="2"/>
          <c:order val="2"/>
          <c:tx>
            <c:strRef>
              <c:f>Sheet1!$D$1</c:f>
              <c:strCache>
                <c:ptCount val="1"/>
                <c:pt idx="0">
                  <c:v>Contrast</c:v>
                </c:pt>
              </c:strCache>
            </c:strRef>
          </c:tx>
          <c:spPr>
            <a:solidFill>
              <a:srgbClr val="3EB8D8"/>
            </a:solidFill>
          </c:spPr>
          <c:cat>
            <c:strRef>
              <c:f>Sheet1!$A$2:$A$5</c:f>
              <c:strCache>
                <c:ptCount val="4"/>
                <c:pt idx="0">
                  <c:v>TF-IDF + Linear SVM</c:v>
                </c:pt>
                <c:pt idx="1">
                  <c:v>BiLSTM</c:v>
                </c:pt>
                <c:pt idx="2">
                  <c:v>DistilBERT fine-tuned</c:v>
                </c:pt>
                <c:pt idx="3">
                  <c:v>DistilBERT-SST2</c:v>
                </c:pt>
              </c:strCache>
            </c:strRef>
          </c:cat>
          <c:val>
            <c:numRef>
              <c:f>Sheet1!$D$2:$D$5</c:f>
              <c:numCache>
                <c:formatCode>General</c:formatCode>
                <c:ptCount val="4"/>
                <c:pt idx="0">
                  <c:v>77.7</c:v>
                </c:pt>
                <c:pt idx="1">
                  <c:v>77.7</c:v>
                </c:pt>
                <c:pt idx="2">
                  <c:v>85.4</c:v>
                </c:pt>
                <c:pt idx="3">
                  <c:v>86.2</c:v>
                </c:pt>
              </c:numCache>
            </c:numRef>
          </c:val>
        </c:ser>
        <c:dLbls>
          <c:numFmt formatCode="0" sourceLinked="0"/>
          <c:txPr>
            <a:bodyPr/>
            <a:lstStyle/>
            <a:p>
              <a:pPr>
                <a:defRPr sz="800"/>
              </a:pPr>
            </a:p>
          </c:txPr>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txPr>
          <a:bodyPr/>
          <a:lstStyle/>
          <a:p>
            <a:pPr>
              <a:defRPr sz="900"/>
            </a:pPr>
          </a:p>
        </c:txPr>
        <c:crossAx val="-2113994440"/>
        <c:crosses val="autoZero"/>
        <c:auto val="1"/>
        <c:lblAlgn val="ctr"/>
        <c:lblOffset val="100"/>
        <c:noMultiLvlLbl val="0"/>
      </c:catAx>
      <c:valAx>
        <c:axId val="-2113994440"/>
        <c:scaling>
          <c:max val="95.0"/>
          <c:min val="60.0"/>
        </c:scaling>
        <c:delete val="0"/>
        <c:axPos val="l"/>
        <c:majorTickMark val="out"/>
        <c:minorTickMark val="none"/>
        <c:tickLblPos val="nextTo"/>
        <c:txPr>
          <a:bodyPr/>
          <a:lstStyle/>
          <a:p>
            <a:pPr>
              <a:defRPr sz="900"/>
            </a:pPr>
          </a:p>
        </c:txPr>
        <c:crossAx val="-2068027336"/>
        <c:crosses val="autoZero"/>
      </c:valAx>
    </c:plotArea>
    <c:legend>
      <c:legendPos val="b"/>
      <c:overlay val="0"/>
      <c:txPr>
        <a:bodyPr/>
        <a:lstStyle/>
        <a:p>
          <a:pPr>
            <a:defRPr sz="1000"/>
          </a:pPr>
        </a:p>
      </c:txPr>
    </c:legend>
    <c:dispBlanksAs val="gap"/>
  </c:chart>
  <c:txPr>
    <a:bodyPr/>
    <a:lstStyle/>
    <a:p>
      <a:pPr>
        <a:defRPr sz="10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0F6A4CF-6F40-F247-A40D-A5060038123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LT"/>
          </a:p>
        </p:txBody>
      </p:sp>
      <p:sp>
        <p:nvSpPr>
          <p:cNvPr id="3" name="Date Placeholder 2">
            <a:extLst>
              <a:ext uri="{FF2B5EF4-FFF2-40B4-BE49-F238E27FC236}">
                <a16:creationId xmlns:a16="http://schemas.microsoft.com/office/drawing/2014/main" id="{B2442FE1-1197-204F-8F29-30924E62D8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616102-A814-B34B-A78D-C3C8F1BEDD06}" type="datetimeFigureOut">
              <a:rPr lang="en-LT" smtClean="0"/>
              <a:t>2020-12-16</a:t>
            </a:fld>
            <a:endParaRPr lang="en-LT"/>
          </a:p>
        </p:txBody>
      </p:sp>
      <p:sp>
        <p:nvSpPr>
          <p:cNvPr id="4" name="Footer Placeholder 3">
            <a:extLst>
              <a:ext uri="{FF2B5EF4-FFF2-40B4-BE49-F238E27FC236}">
                <a16:creationId xmlns:a16="http://schemas.microsoft.com/office/drawing/2014/main" id="{4EA926D2-6108-F742-8CE9-3BDE43E5D57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LT"/>
          </a:p>
        </p:txBody>
      </p:sp>
      <p:sp>
        <p:nvSpPr>
          <p:cNvPr id="5" name="Slide Number Placeholder 4">
            <a:extLst>
              <a:ext uri="{FF2B5EF4-FFF2-40B4-BE49-F238E27FC236}">
                <a16:creationId xmlns:a16="http://schemas.microsoft.com/office/drawing/2014/main" id="{21A1404D-63A8-8A4A-AADA-E0995DC43E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8A18C4D-A878-9141-BB15-8DD00E6EE4FD}" type="slidenum">
              <a:rPr lang="en-LT" smtClean="0"/>
              <a:t>‹#›</a:t>
            </a:fld>
            <a:endParaRPr lang="en-LT"/>
          </a:p>
        </p:txBody>
      </p:sp>
    </p:spTree>
    <p:extLst>
      <p:ext uri="{BB962C8B-B14F-4D97-AF65-F5344CB8AC3E}">
        <p14:creationId xmlns:p14="http://schemas.microsoft.com/office/powerpoint/2010/main" val="20209319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Shashikanth (≈30 s). Introduce the team and the topic: Transformers are the architecture behind BERT, GPT and almost every modern NLP system. Our question: what do they really give, and at what cost, when you only have a normal laptop and limited labelled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Shashikanth (≈45 s). Before 2017 NLP models read sentences word by word. The Transformer by Vaswani et al. removed recurrence and kept only attention. That gave parallel training and made huge pre-training possible: BERT, GPT and others. Aim of the project: explain the architecture and measure its benefit experimentally.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Shashikanth (≈60 s). Explain Q, K, V: each word asks a question (query), every word offers a key, the softmax of their dot products gives attention weights, and the output is a weighted mix of values. Several heads run in parallel. Layers are stacked with residual connections and layer normalisation. For classification we take the [CLS] vector and add a softmax layer.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Shaeed (≈60 s). In one sentence: the papers tell us which model is accurate, but not what it costs or how many labels it needs. We searched Google Scholar and Web of Science (transformer OR BERT AND sentiment / text classification, plus Lithuanian). There are three model families; we use encoder-only models for classification. What the studies show: first, Transformers are the most accurate, above 90% on SST-2 against 79 to 83% for classical models. Second, without pre-training small data is a problem: in Lithuania naive Bayes at 0.735 beat LSTM and CNN at 0.706. Third, Lithuanian now has pre-trained models, LitLat BERT and BERT/T5, and open Llama2 models. What is missing, our gap: these studies report accuracy, but a student with a laptop also needs to know the cost, how many labels are needed, and whether a ready-made model is enough. We measure all three on one laptop CPU.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Shaeed (≈45 s). Dataset: Stanford Sentiment Treebank, binary. The official validation set is our test set, 2,000 training sentences are the dev set. Ten models in four groups. Everything runs on the same laptop CPU so times are comparable.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Shashikanth (≈40 s). The program is a pipeline of nine scripts. The key one is the fine-tuning script: give it any model name from the Hugging Face hub and a number of training examples. All results are stored with predictions, so the report script computes tables, figures and statistical tests.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Shashikanth (≈60 s). Ranking of all ten models. Classical TF-IDF models reach 81.9–82.9%, the BiLSTM 82.8%, our fine-tuned Transformers up to 88.8% with only 8,000 labelled sentences. The ready-made DistilBERT-SST2 reaches 91.1%. Zero-shot, with no labels at all, still gets 81.8%.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Shashikanth (≈45 s). The gain is not free: a TF-IDF model trains in seconds and classifies in microseconds; Transformers need minutes to tens of minutes of CPU training and milliseconds per sentence. For most applications that is still perfectly acceptable.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Shaeed (≈50 s). Same random subsets for both models. With very few labels TF-IDF cannot learn the vocabulary, while BERT-small already knows English from pre-training. This confirms the Lithuanian finding that pre-training, not the neural network as such, is what makes the difference on small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Shaeed (≈45 s). Bag-of-words models lose most on sentences with negation and contrast, because 'not good' contains the word 'good'. Transformers keep their accuracy much better. The heat-map shows how attention links the words in such a sentence – but, as Jain and Wallace warn, attention is an illustration, not a proof of reasoning.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Shaeed (≈60 s). Summarise the answers to the research questions and give the practical recommendation: first try a public in-domain model, otherwise fine-tune a compact Transformer on a few thousand labels; use TF-IDF only when latency or hardware are extremely limited. Future work: Lithuanian data with LitLat BERT.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png"/><Relationship Id="rId5"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image" Target="../media/image6.png"/><Relationship Id="rId5"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image" Target="../media/image6.png"/><Relationship Id="rId5" Type="http://schemas.openxmlformats.org/officeDocument/2006/relationships/image" Target="../media/image7.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8.png"/><Relationship Id="rId4"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png"/><Relationship Id="rId5"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ulinis">
    <p:bg>
      <p:bgPr>
        <a:solidFill>
          <a:schemeClr val="accent1"/>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7B9B736-8059-9E4F-8226-97318FD73FB6}"/>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28764" y="3411676"/>
            <a:ext cx="4343236" cy="2805830"/>
          </a:xfrm>
          <a:prstGeom prst="rect">
            <a:avLst/>
          </a:prstGeom>
        </p:spPr>
      </p:pic>
      <p:sp>
        <p:nvSpPr>
          <p:cNvPr id="11" name="Title 10">
            <a:extLst>
              <a:ext uri="{FF2B5EF4-FFF2-40B4-BE49-F238E27FC236}">
                <a16:creationId xmlns:a16="http://schemas.microsoft.com/office/drawing/2014/main" id="{BC0F03C4-3A8C-4FCE-B447-DE322F73619C}"/>
              </a:ext>
            </a:extLst>
          </p:cNvPr>
          <p:cNvSpPr>
            <a:spLocks noGrp="1"/>
          </p:cNvSpPr>
          <p:nvPr>
            <p:ph type="title" hasCustomPrompt="1"/>
          </p:nvPr>
        </p:nvSpPr>
        <p:spPr>
          <a:xfrm>
            <a:off x="315154" y="3513477"/>
            <a:ext cx="4170457" cy="2602231"/>
          </a:xfrm>
          <a:prstGeom prst="rect">
            <a:avLst/>
          </a:prstGeom>
        </p:spPr>
        <p:txBody>
          <a:bodyPr anchor="b"/>
          <a:lstStyle>
            <a:lvl1pPr>
              <a:defRPr sz="3600" b="1">
                <a:solidFill>
                  <a:schemeClr val="bg1"/>
                </a:solidFill>
                <a:latin typeface="Arial" panose="020B0604020202020204" pitchFamily="34" charset="0"/>
                <a:cs typeface="Arial" panose="020B0604020202020204" pitchFamily="34" charset="0"/>
              </a:defRPr>
            </a:lvl1pPr>
          </a:lstStyle>
          <a:p>
            <a:r>
              <a:rPr lang="lt-LT" noProof="0" dirty="0" err="1"/>
              <a:t>Title</a:t>
            </a:r>
            <a:r>
              <a:rPr lang="lt-LT" noProof="0" dirty="0"/>
              <a:t> </a:t>
            </a:r>
            <a:r>
              <a:rPr lang="lt-LT" noProof="0" dirty="0" err="1"/>
              <a:t>of</a:t>
            </a:r>
            <a:r>
              <a:rPr lang="lt-LT" noProof="0" dirty="0"/>
              <a:t> </a:t>
            </a:r>
            <a:r>
              <a:rPr lang="lt-LT" noProof="0" dirty="0" err="1"/>
              <a:t>the</a:t>
            </a:r>
            <a:r>
              <a:rPr lang="lt-LT" noProof="0" dirty="0"/>
              <a:t> </a:t>
            </a:r>
            <a:r>
              <a:rPr lang="lt-LT" noProof="0" dirty="0" err="1"/>
              <a:t>presentation</a:t>
            </a:r>
            <a:endParaRPr lang="en-US" noProof="0" dirty="0"/>
          </a:p>
        </p:txBody>
      </p:sp>
      <p:sp>
        <p:nvSpPr>
          <p:cNvPr id="13" name="Text Placeholder 12">
            <a:extLst>
              <a:ext uri="{FF2B5EF4-FFF2-40B4-BE49-F238E27FC236}">
                <a16:creationId xmlns:a16="http://schemas.microsoft.com/office/drawing/2014/main" id="{57287D86-E9E5-4E8F-92D7-9490F21B13C9}"/>
              </a:ext>
            </a:extLst>
          </p:cNvPr>
          <p:cNvSpPr>
            <a:spLocks noGrp="1"/>
          </p:cNvSpPr>
          <p:nvPr>
            <p:ph type="body" sz="quarter" idx="10" hasCustomPrompt="1"/>
          </p:nvPr>
        </p:nvSpPr>
        <p:spPr>
          <a:xfrm>
            <a:off x="315114" y="3246778"/>
            <a:ext cx="1444228" cy="266699"/>
          </a:xfrm>
          <a:prstGeom prst="rect">
            <a:avLst/>
          </a:prstGeom>
        </p:spPr>
        <p:txBody>
          <a:bodyPr/>
          <a:lstStyle>
            <a:lvl1pPr marL="0" indent="0" algn="ctr">
              <a:buNone/>
              <a:defRPr sz="1350">
                <a:solidFill>
                  <a:schemeClr val="bg1"/>
                </a:solidFill>
              </a:defRPr>
            </a:lvl1pPr>
            <a:lvl2pPr>
              <a:defRPr sz="750"/>
            </a:lvl2pPr>
            <a:lvl3pPr>
              <a:defRPr sz="675"/>
            </a:lvl3pPr>
            <a:lvl4pPr>
              <a:defRPr sz="600"/>
            </a:lvl4pPr>
            <a:lvl5pPr>
              <a:defRPr sz="600"/>
            </a:lvl5pPr>
          </a:lstStyle>
          <a:p>
            <a:pPr lvl="0"/>
            <a:r>
              <a:rPr lang="lt-LT" noProof="0" dirty="0"/>
              <a:t>Name </a:t>
            </a:r>
            <a:r>
              <a:rPr lang="lt-LT" noProof="0" dirty="0" err="1"/>
              <a:t>Surname</a:t>
            </a:r>
            <a:endParaRPr lang="en-US" noProof="0" dirty="0"/>
          </a:p>
        </p:txBody>
      </p:sp>
      <p:sp>
        <p:nvSpPr>
          <p:cNvPr id="14" name="Text Placeholder 12">
            <a:extLst>
              <a:ext uri="{FF2B5EF4-FFF2-40B4-BE49-F238E27FC236}">
                <a16:creationId xmlns:a16="http://schemas.microsoft.com/office/drawing/2014/main" id="{C2E5E2C2-ED9C-4B14-BD16-5C88B86E543F}"/>
              </a:ext>
            </a:extLst>
          </p:cNvPr>
          <p:cNvSpPr>
            <a:spLocks noGrp="1"/>
          </p:cNvSpPr>
          <p:nvPr>
            <p:ph type="body" sz="quarter" idx="11" hasCustomPrompt="1"/>
          </p:nvPr>
        </p:nvSpPr>
        <p:spPr>
          <a:xfrm>
            <a:off x="7515912" y="5976551"/>
            <a:ext cx="1312934" cy="266383"/>
          </a:xfrm>
          <a:prstGeom prst="rect">
            <a:avLst/>
          </a:prstGeom>
        </p:spPr>
        <p:txBody>
          <a:bodyPr anchor="b"/>
          <a:lstStyle>
            <a:lvl1pPr marL="0" indent="0" algn="ctr">
              <a:buNone/>
              <a:defRPr sz="900">
                <a:solidFill>
                  <a:schemeClr val="bg1"/>
                </a:solidFill>
              </a:defRPr>
            </a:lvl1pPr>
            <a:lvl2pPr>
              <a:defRPr sz="750"/>
            </a:lvl2pPr>
            <a:lvl3pPr>
              <a:defRPr sz="675"/>
            </a:lvl3pPr>
            <a:lvl4pPr>
              <a:defRPr sz="600"/>
            </a:lvl4pPr>
            <a:lvl5pPr>
              <a:defRPr sz="600"/>
            </a:lvl5pPr>
          </a:lstStyle>
          <a:p>
            <a:pPr lvl="0"/>
            <a:r>
              <a:rPr lang="lt-LT" dirty="0" err="1"/>
              <a:t>Date</a:t>
            </a:r>
            <a:endParaRPr lang="en-US" dirty="0"/>
          </a:p>
        </p:txBody>
      </p:sp>
      <p:pic>
        <p:nvPicPr>
          <p:cNvPr id="6" name="Graphic 5">
            <a:extLst>
              <a:ext uri="{FF2B5EF4-FFF2-40B4-BE49-F238E27FC236}">
                <a16:creationId xmlns:a16="http://schemas.microsoft.com/office/drawing/2014/main" id="{A9D67911-A124-C944-A96C-AFE5530A837B}"/>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225076" y="327991"/>
            <a:ext cx="2149841" cy="914399"/>
          </a:xfrm>
          <a:prstGeom prst="rect">
            <a:avLst/>
          </a:prstGeom>
        </p:spPr>
      </p:pic>
    </p:spTree>
    <p:extLst>
      <p:ext uri="{BB962C8B-B14F-4D97-AF65-F5344CB8AC3E}">
        <p14:creationId xmlns:p14="http://schemas.microsoft.com/office/powerpoint/2010/main" val="1362854494"/>
      </p:ext>
    </p:extLst>
  </p:cSld>
  <p:clrMapOvr>
    <a:masterClrMapping/>
  </p:clrMapOvr>
  <p:extLst>
    <p:ext uri="{DCECCB84-F9BA-43D5-87BE-67443E8EF086}">
      <p15:sldGuideLst xmlns:p15="http://schemas.microsoft.com/office/powerpoint/2012/main">
        <p15:guide id="1" orient="horz" pos="255" userDrawn="1">
          <p15:clr>
            <a:srgbClr val="FBAE40"/>
          </p15:clr>
        </p15:guide>
        <p15:guide id="2" pos="13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ulinis_fakultetui">
    <p:bg>
      <p:bgPr>
        <a:solidFill>
          <a:schemeClr val="accent1"/>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7B9B736-8059-9E4F-8226-97318FD73FB6}"/>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28764" y="3411676"/>
            <a:ext cx="4343236" cy="2805830"/>
          </a:xfrm>
          <a:prstGeom prst="rect">
            <a:avLst/>
          </a:prstGeom>
        </p:spPr>
      </p:pic>
      <p:sp>
        <p:nvSpPr>
          <p:cNvPr id="11" name="Title 10">
            <a:extLst>
              <a:ext uri="{FF2B5EF4-FFF2-40B4-BE49-F238E27FC236}">
                <a16:creationId xmlns:a16="http://schemas.microsoft.com/office/drawing/2014/main" id="{BC0F03C4-3A8C-4FCE-B447-DE322F73619C}"/>
              </a:ext>
            </a:extLst>
          </p:cNvPr>
          <p:cNvSpPr>
            <a:spLocks noGrp="1"/>
          </p:cNvSpPr>
          <p:nvPr>
            <p:ph type="title" hasCustomPrompt="1"/>
          </p:nvPr>
        </p:nvSpPr>
        <p:spPr>
          <a:xfrm>
            <a:off x="315154" y="3513477"/>
            <a:ext cx="4170457" cy="2602231"/>
          </a:xfrm>
          <a:prstGeom prst="rect">
            <a:avLst/>
          </a:prstGeom>
        </p:spPr>
        <p:txBody>
          <a:bodyPr anchor="b"/>
          <a:lstStyle>
            <a:lvl1pPr>
              <a:defRPr sz="3600" b="1">
                <a:solidFill>
                  <a:schemeClr val="bg1"/>
                </a:solidFill>
                <a:latin typeface="Arial" panose="020B0604020202020204" pitchFamily="34" charset="0"/>
                <a:cs typeface="Arial" panose="020B0604020202020204" pitchFamily="34" charset="0"/>
              </a:defRPr>
            </a:lvl1pPr>
          </a:lstStyle>
          <a:p>
            <a:r>
              <a:rPr lang="lt-LT" noProof="0" dirty="0" err="1"/>
              <a:t>Title</a:t>
            </a:r>
            <a:r>
              <a:rPr lang="lt-LT" noProof="0" dirty="0"/>
              <a:t> </a:t>
            </a:r>
            <a:r>
              <a:rPr lang="lt-LT" noProof="0" dirty="0" err="1"/>
              <a:t>of</a:t>
            </a:r>
            <a:r>
              <a:rPr lang="lt-LT" noProof="0" dirty="0"/>
              <a:t> </a:t>
            </a:r>
            <a:r>
              <a:rPr lang="lt-LT" noProof="0" dirty="0" err="1"/>
              <a:t>the</a:t>
            </a:r>
            <a:r>
              <a:rPr lang="lt-LT" noProof="0" dirty="0"/>
              <a:t> </a:t>
            </a:r>
            <a:r>
              <a:rPr lang="lt-LT" noProof="0" dirty="0" err="1"/>
              <a:t>presentation</a:t>
            </a:r>
            <a:endParaRPr lang="en-US" noProof="0" dirty="0"/>
          </a:p>
        </p:txBody>
      </p:sp>
      <p:sp>
        <p:nvSpPr>
          <p:cNvPr id="13" name="Text Placeholder 12">
            <a:extLst>
              <a:ext uri="{FF2B5EF4-FFF2-40B4-BE49-F238E27FC236}">
                <a16:creationId xmlns:a16="http://schemas.microsoft.com/office/drawing/2014/main" id="{57287D86-E9E5-4E8F-92D7-9490F21B13C9}"/>
              </a:ext>
            </a:extLst>
          </p:cNvPr>
          <p:cNvSpPr>
            <a:spLocks noGrp="1"/>
          </p:cNvSpPr>
          <p:nvPr>
            <p:ph type="body" sz="quarter" idx="10" hasCustomPrompt="1"/>
          </p:nvPr>
        </p:nvSpPr>
        <p:spPr>
          <a:xfrm>
            <a:off x="315114" y="3246778"/>
            <a:ext cx="1444228" cy="266699"/>
          </a:xfrm>
          <a:prstGeom prst="rect">
            <a:avLst/>
          </a:prstGeom>
        </p:spPr>
        <p:txBody>
          <a:bodyPr/>
          <a:lstStyle>
            <a:lvl1pPr marL="0" indent="0" algn="ctr">
              <a:buNone/>
              <a:defRPr sz="1350">
                <a:solidFill>
                  <a:schemeClr val="bg1"/>
                </a:solidFill>
              </a:defRPr>
            </a:lvl1pPr>
            <a:lvl2pPr>
              <a:defRPr sz="750"/>
            </a:lvl2pPr>
            <a:lvl3pPr>
              <a:defRPr sz="675"/>
            </a:lvl3pPr>
            <a:lvl4pPr>
              <a:defRPr sz="600"/>
            </a:lvl4pPr>
            <a:lvl5pPr>
              <a:defRPr sz="600"/>
            </a:lvl5pPr>
          </a:lstStyle>
          <a:p>
            <a:pPr lvl="0"/>
            <a:r>
              <a:rPr lang="lt-LT" noProof="0" dirty="0"/>
              <a:t>Name </a:t>
            </a:r>
            <a:r>
              <a:rPr lang="lt-LT" noProof="0" dirty="0" err="1"/>
              <a:t>Surname</a:t>
            </a:r>
            <a:endParaRPr lang="en-US" noProof="0" dirty="0"/>
          </a:p>
        </p:txBody>
      </p:sp>
      <p:sp>
        <p:nvSpPr>
          <p:cNvPr id="14" name="Text Placeholder 12">
            <a:extLst>
              <a:ext uri="{FF2B5EF4-FFF2-40B4-BE49-F238E27FC236}">
                <a16:creationId xmlns:a16="http://schemas.microsoft.com/office/drawing/2014/main" id="{C2E5E2C2-ED9C-4B14-BD16-5C88B86E543F}"/>
              </a:ext>
            </a:extLst>
          </p:cNvPr>
          <p:cNvSpPr>
            <a:spLocks noGrp="1"/>
          </p:cNvSpPr>
          <p:nvPr>
            <p:ph type="body" sz="quarter" idx="11" hasCustomPrompt="1"/>
          </p:nvPr>
        </p:nvSpPr>
        <p:spPr>
          <a:xfrm>
            <a:off x="7515912" y="5976551"/>
            <a:ext cx="1312934" cy="266383"/>
          </a:xfrm>
          <a:prstGeom prst="rect">
            <a:avLst/>
          </a:prstGeom>
        </p:spPr>
        <p:txBody>
          <a:bodyPr anchor="b"/>
          <a:lstStyle>
            <a:lvl1pPr marL="0" indent="0" algn="ctr">
              <a:buNone/>
              <a:defRPr sz="900">
                <a:solidFill>
                  <a:schemeClr val="bg1"/>
                </a:solidFill>
              </a:defRPr>
            </a:lvl1pPr>
            <a:lvl2pPr>
              <a:defRPr sz="750"/>
            </a:lvl2pPr>
            <a:lvl3pPr>
              <a:defRPr sz="675"/>
            </a:lvl3pPr>
            <a:lvl4pPr>
              <a:defRPr sz="600"/>
            </a:lvl4pPr>
            <a:lvl5pPr>
              <a:defRPr sz="600"/>
            </a:lvl5pPr>
          </a:lstStyle>
          <a:p>
            <a:pPr lvl="0"/>
            <a:r>
              <a:rPr lang="lt-LT" dirty="0" err="1"/>
              <a:t>Date</a:t>
            </a:r>
            <a:endParaRPr lang="en-US" dirty="0"/>
          </a:p>
        </p:txBody>
      </p:sp>
    </p:spTree>
    <p:extLst>
      <p:ext uri="{BB962C8B-B14F-4D97-AF65-F5344CB8AC3E}">
        <p14:creationId xmlns:p14="http://schemas.microsoft.com/office/powerpoint/2010/main" val="3567726280"/>
      </p:ext>
    </p:extLst>
  </p:cSld>
  <p:clrMapOvr>
    <a:masterClrMapping/>
  </p:clrMapOvr>
  <p:extLst>
    <p:ext uri="{DCECCB84-F9BA-43D5-87BE-67443E8EF086}">
      <p15:sldGuideLst xmlns:p15="http://schemas.microsoft.com/office/powerpoint/2012/main">
        <p15:guide id="1" orient="horz" pos="4088">
          <p15:clr>
            <a:srgbClr val="FBAE40"/>
          </p15:clr>
        </p15:guide>
        <p15:guide id="2" pos="1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ekstas">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5F1CD5A-CEDC-492D-AA05-893AEFDC298D}"/>
              </a:ext>
            </a:extLst>
          </p:cNvPr>
          <p:cNvSpPr>
            <a:spLocks noGrp="1"/>
          </p:cNvSpPr>
          <p:nvPr>
            <p:ph idx="4294967295" hasCustomPrompt="1"/>
          </p:nvPr>
        </p:nvSpPr>
        <p:spPr>
          <a:xfrm>
            <a:off x="428716" y="2344318"/>
            <a:ext cx="8286569" cy="3832642"/>
          </a:xfrm>
          <a:prstGeom prst="rect">
            <a:avLst/>
          </a:prstGeom>
        </p:spPr>
        <p:txBody>
          <a:bodyPr>
            <a:normAutofit/>
          </a:bodyPr>
          <a:lstStyle>
            <a:lvl1pPr marL="0" marR="0" indent="0" algn="l" defTabSz="685800" rtl="0" eaLnBrk="1" fontAlgn="auto" latinLnBrk="0" hangingPunct="1">
              <a:lnSpc>
                <a:spcPct val="150000"/>
              </a:lnSpc>
              <a:spcBef>
                <a:spcPts val="750"/>
              </a:spcBef>
              <a:spcAft>
                <a:spcPts val="0"/>
              </a:spcAft>
              <a:buClrTx/>
              <a:buSzTx/>
              <a:buFont typeface="Arial" panose="020B0604020202020204" pitchFamily="34" charset="0"/>
              <a:buNone/>
              <a:tabLst/>
              <a:defRPr/>
            </a:lvl1pPr>
          </a:lstStyle>
          <a:p>
            <a:pPr marL="0" lvl="0" indent="0">
              <a:lnSpc>
                <a:spcPct val="150000"/>
              </a:lnSpc>
              <a:buNone/>
            </a:pPr>
            <a:r>
              <a:rPr lang="en-GB" sz="825" b="0" i="0" dirty="0">
                <a:solidFill>
                  <a:srgbClr val="000000"/>
                </a:solidFill>
                <a:effectLst/>
                <a:latin typeface="Arial" panose="020B0604020202020204" pitchFamily="34" charset="0"/>
                <a:cs typeface="Arial" panose="020B0604020202020204" pitchFamily="34" charset="0"/>
              </a:rPr>
              <a:t>Content</a:t>
            </a:r>
          </a:p>
        </p:txBody>
      </p:sp>
      <p:sp>
        <p:nvSpPr>
          <p:cNvPr id="13" name="Text Placeholder 12">
            <a:extLst>
              <a:ext uri="{FF2B5EF4-FFF2-40B4-BE49-F238E27FC236}">
                <a16:creationId xmlns:a16="http://schemas.microsoft.com/office/drawing/2014/main" id="{F0E12C56-23FB-44A3-BEC6-73300A5A86F0}"/>
              </a:ext>
            </a:extLst>
          </p:cNvPr>
          <p:cNvSpPr>
            <a:spLocks noGrp="1"/>
          </p:cNvSpPr>
          <p:nvPr>
            <p:ph type="body" sz="quarter" idx="10" hasCustomPrompt="1"/>
          </p:nvPr>
        </p:nvSpPr>
        <p:spPr>
          <a:xfrm>
            <a:off x="428715" y="6176961"/>
            <a:ext cx="1797133" cy="681039"/>
          </a:xfrm>
          <a:prstGeom prst="rect">
            <a:avLst/>
          </a:prstGeom>
        </p:spPr>
        <p:txBody>
          <a:bodyPr anchor="ctr"/>
          <a:lstStyle>
            <a:lvl1pPr marL="0" indent="0">
              <a:buNone/>
              <a:defRPr sz="600"/>
            </a:lvl1pPr>
          </a:lstStyle>
          <a:p>
            <a:pPr lvl="0"/>
            <a:r>
              <a:rPr lang="lt-LT" sz="600" noProof="0" dirty="0" err="1"/>
              <a:t>Presentation</a:t>
            </a:r>
            <a:r>
              <a:rPr lang="lt-LT" sz="600" noProof="0" dirty="0"/>
              <a:t> </a:t>
            </a:r>
            <a:r>
              <a:rPr lang="lt-LT" sz="600" noProof="0" dirty="0" err="1"/>
              <a:t>title</a:t>
            </a:r>
            <a:endParaRPr lang="en-US" noProof="0" dirty="0"/>
          </a:p>
        </p:txBody>
      </p:sp>
      <p:sp>
        <p:nvSpPr>
          <p:cNvPr id="14" name="Text Placeholder 12">
            <a:extLst>
              <a:ext uri="{FF2B5EF4-FFF2-40B4-BE49-F238E27FC236}">
                <a16:creationId xmlns:a16="http://schemas.microsoft.com/office/drawing/2014/main" id="{3E5FAA83-A8DF-44A4-BFC5-70A3F33FBED1}"/>
              </a:ext>
            </a:extLst>
          </p:cNvPr>
          <p:cNvSpPr>
            <a:spLocks noGrp="1"/>
          </p:cNvSpPr>
          <p:nvPr>
            <p:ph type="body" sz="quarter" idx="11" hasCustomPrompt="1"/>
          </p:nvPr>
        </p:nvSpPr>
        <p:spPr>
          <a:xfrm>
            <a:off x="6918153" y="6176961"/>
            <a:ext cx="1797133" cy="681039"/>
          </a:xfrm>
          <a:prstGeom prst="rect">
            <a:avLst/>
          </a:prstGeom>
        </p:spPr>
        <p:txBody>
          <a:bodyPr anchor="ctr"/>
          <a:lstStyle>
            <a:lvl1pPr marL="0" indent="0" algn="r">
              <a:buNone/>
              <a:defRPr sz="600"/>
            </a:lvl1pPr>
          </a:lstStyle>
          <a:p>
            <a:pPr lvl="0"/>
            <a:r>
              <a:rPr lang="en-US" sz="600" noProof="0" dirty="0"/>
              <a:t>Date</a:t>
            </a:r>
            <a:endParaRPr lang="en-US" noProof="0" dirty="0"/>
          </a:p>
        </p:txBody>
      </p:sp>
      <p:sp>
        <p:nvSpPr>
          <p:cNvPr id="3" name="Title 2">
            <a:extLst>
              <a:ext uri="{FF2B5EF4-FFF2-40B4-BE49-F238E27FC236}">
                <a16:creationId xmlns:a16="http://schemas.microsoft.com/office/drawing/2014/main" id="{D83D24A7-BC2A-264B-86EC-2FB74CE95DA0}"/>
              </a:ext>
            </a:extLst>
          </p:cNvPr>
          <p:cNvSpPr>
            <a:spLocks noGrp="1"/>
          </p:cNvSpPr>
          <p:nvPr>
            <p:ph type="title" hasCustomPrompt="1"/>
          </p:nvPr>
        </p:nvSpPr>
        <p:spPr>
          <a:xfrm>
            <a:off x="428715" y="355973"/>
            <a:ext cx="8086635" cy="1325563"/>
          </a:xfrm>
          <a:prstGeom prst="rect">
            <a:avLst/>
          </a:prstGeom>
        </p:spPr>
        <p:txBody>
          <a:bodyPr/>
          <a:lstStyle/>
          <a:p>
            <a:r>
              <a:rPr lang="en-GB" dirty="0"/>
              <a:t>Heading</a:t>
            </a:r>
            <a:endParaRPr lang="en-LT" dirty="0"/>
          </a:p>
        </p:txBody>
      </p:sp>
      <p:pic>
        <p:nvPicPr>
          <p:cNvPr id="7" name="Graphic 6">
            <a:extLst>
              <a:ext uri="{FF2B5EF4-FFF2-40B4-BE49-F238E27FC236}">
                <a16:creationId xmlns:a16="http://schemas.microsoft.com/office/drawing/2014/main" id="{68234644-72EC-3A45-A8F4-A43A264235F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746628" y="443490"/>
            <a:ext cx="1041098" cy="296465"/>
          </a:xfrm>
          <a:prstGeom prst="rect">
            <a:avLst/>
          </a:prstGeom>
        </p:spPr>
      </p:pic>
    </p:spTree>
    <p:extLst>
      <p:ext uri="{BB962C8B-B14F-4D97-AF65-F5344CB8AC3E}">
        <p14:creationId xmlns:p14="http://schemas.microsoft.com/office/powerpoint/2010/main" val="2649738108"/>
      </p:ext>
    </p:extLst>
  </p:cSld>
  <p:clrMapOvr>
    <a:masterClrMapping/>
  </p:clrMapOvr>
  <p:extLst>
    <p:ext uri="{DCECCB84-F9BA-43D5-87BE-67443E8EF086}">
      <p15:sldGuideLst xmlns:p15="http://schemas.microsoft.com/office/powerpoint/2012/main">
        <p15:guide id="1" orient="horz" pos="21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ekstas_mėl">
    <p:bg>
      <p:bgPr>
        <a:solidFill>
          <a:schemeClr val="accent1"/>
        </a:solidFill>
        <a:effectLst/>
      </p:bgPr>
    </p:bg>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F0E12C56-23FB-44A3-BEC6-73300A5A86F0}"/>
              </a:ext>
            </a:extLst>
          </p:cNvPr>
          <p:cNvSpPr>
            <a:spLocks noGrp="1"/>
          </p:cNvSpPr>
          <p:nvPr>
            <p:ph type="body" sz="quarter" idx="10" hasCustomPrompt="1"/>
          </p:nvPr>
        </p:nvSpPr>
        <p:spPr>
          <a:xfrm>
            <a:off x="428715" y="6176961"/>
            <a:ext cx="1797133" cy="681039"/>
          </a:xfrm>
          <a:prstGeom prst="rect">
            <a:avLst/>
          </a:prstGeom>
        </p:spPr>
        <p:txBody>
          <a:bodyPr anchor="ctr"/>
          <a:lstStyle>
            <a:lvl1pPr marL="0" indent="0">
              <a:buNone/>
              <a:defRPr sz="600">
                <a:solidFill>
                  <a:schemeClr val="bg1"/>
                </a:solidFill>
              </a:defRPr>
            </a:lvl1pPr>
          </a:lstStyle>
          <a:p>
            <a:pPr lvl="0"/>
            <a:r>
              <a:rPr lang="lt-LT" sz="600" noProof="0" dirty="0" err="1"/>
              <a:t>Presentation</a:t>
            </a:r>
            <a:r>
              <a:rPr lang="lt-LT" sz="600" noProof="0" dirty="0"/>
              <a:t> </a:t>
            </a:r>
            <a:r>
              <a:rPr lang="lt-LT" sz="600" noProof="0" dirty="0" err="1"/>
              <a:t>title</a:t>
            </a:r>
            <a:endParaRPr lang="en-US" noProof="0" dirty="0"/>
          </a:p>
        </p:txBody>
      </p:sp>
      <p:sp>
        <p:nvSpPr>
          <p:cNvPr id="14" name="Text Placeholder 12">
            <a:extLst>
              <a:ext uri="{FF2B5EF4-FFF2-40B4-BE49-F238E27FC236}">
                <a16:creationId xmlns:a16="http://schemas.microsoft.com/office/drawing/2014/main" id="{3E5FAA83-A8DF-44A4-BFC5-70A3F33FBED1}"/>
              </a:ext>
            </a:extLst>
          </p:cNvPr>
          <p:cNvSpPr>
            <a:spLocks noGrp="1"/>
          </p:cNvSpPr>
          <p:nvPr>
            <p:ph type="body" sz="quarter" idx="11" hasCustomPrompt="1"/>
          </p:nvPr>
        </p:nvSpPr>
        <p:spPr>
          <a:xfrm>
            <a:off x="6918153" y="6176961"/>
            <a:ext cx="1797133" cy="681039"/>
          </a:xfrm>
          <a:prstGeom prst="rect">
            <a:avLst/>
          </a:prstGeom>
        </p:spPr>
        <p:txBody>
          <a:bodyPr anchor="ctr"/>
          <a:lstStyle>
            <a:lvl1pPr marL="0" indent="0" algn="r">
              <a:buNone/>
              <a:defRPr sz="600">
                <a:solidFill>
                  <a:schemeClr val="bg1"/>
                </a:solidFill>
              </a:defRPr>
            </a:lvl1pPr>
          </a:lstStyle>
          <a:p>
            <a:pPr lvl="0"/>
            <a:r>
              <a:rPr lang="en-US" sz="600" noProof="0" dirty="0"/>
              <a:t>Date</a:t>
            </a:r>
            <a:endParaRPr lang="en-US" noProof="0" dirty="0"/>
          </a:p>
        </p:txBody>
      </p:sp>
      <p:sp>
        <p:nvSpPr>
          <p:cNvPr id="6" name="Text Placeholder 5">
            <a:extLst>
              <a:ext uri="{FF2B5EF4-FFF2-40B4-BE49-F238E27FC236}">
                <a16:creationId xmlns:a16="http://schemas.microsoft.com/office/drawing/2014/main" id="{29C3DD15-7D91-1945-B0CE-259AB36DDBB3}"/>
              </a:ext>
            </a:extLst>
          </p:cNvPr>
          <p:cNvSpPr>
            <a:spLocks noGrp="1"/>
          </p:cNvSpPr>
          <p:nvPr>
            <p:ph type="body" sz="quarter" idx="12" hasCustomPrompt="1"/>
          </p:nvPr>
        </p:nvSpPr>
        <p:spPr>
          <a:xfrm>
            <a:off x="428625" y="3340100"/>
            <a:ext cx="4143375" cy="2484438"/>
          </a:xfrm>
          <a:prstGeom prst="rect">
            <a:avLst/>
          </a:prstGeom>
        </p:spPr>
        <p:txBody>
          <a:bodyPr/>
          <a:lstStyle>
            <a:lvl1pPr>
              <a:buNone/>
              <a:defRPr>
                <a:solidFill>
                  <a:schemeClr val="bg1"/>
                </a:solidFill>
              </a:defRPr>
            </a:lvl1pPr>
          </a:lstStyle>
          <a:p>
            <a:pPr lvl="0"/>
            <a:r>
              <a:rPr lang="en-GB" dirty="0"/>
              <a:t>Content	</a:t>
            </a:r>
            <a:endParaRPr lang="en-LT" dirty="0"/>
          </a:p>
        </p:txBody>
      </p:sp>
      <p:sp>
        <p:nvSpPr>
          <p:cNvPr id="7" name="Title 2">
            <a:extLst>
              <a:ext uri="{FF2B5EF4-FFF2-40B4-BE49-F238E27FC236}">
                <a16:creationId xmlns:a16="http://schemas.microsoft.com/office/drawing/2014/main" id="{A630CA56-3B23-BD4F-956C-6D69973D3208}"/>
              </a:ext>
            </a:extLst>
          </p:cNvPr>
          <p:cNvSpPr>
            <a:spLocks noGrp="1"/>
          </p:cNvSpPr>
          <p:nvPr>
            <p:ph type="title" hasCustomPrompt="1"/>
          </p:nvPr>
        </p:nvSpPr>
        <p:spPr>
          <a:xfrm>
            <a:off x="428715" y="355973"/>
            <a:ext cx="8086635" cy="1325563"/>
          </a:xfrm>
          <a:prstGeom prst="rect">
            <a:avLst/>
          </a:prstGeom>
        </p:spPr>
        <p:txBody>
          <a:bodyPr/>
          <a:lstStyle>
            <a:lvl1pPr>
              <a:defRPr>
                <a:solidFill>
                  <a:schemeClr val="bg1"/>
                </a:solidFill>
              </a:defRPr>
            </a:lvl1pPr>
          </a:lstStyle>
          <a:p>
            <a:r>
              <a:rPr lang="en-GB" dirty="0"/>
              <a:t>Heading</a:t>
            </a:r>
            <a:endParaRPr lang="en-LT" dirty="0"/>
          </a:p>
        </p:txBody>
      </p:sp>
      <p:pic>
        <p:nvPicPr>
          <p:cNvPr id="8" name="Graphic 7">
            <a:extLst>
              <a:ext uri="{FF2B5EF4-FFF2-40B4-BE49-F238E27FC236}">
                <a16:creationId xmlns:a16="http://schemas.microsoft.com/office/drawing/2014/main" id="{0891C8BC-096A-6F49-B498-A1C48FD0DB5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746628" y="443490"/>
            <a:ext cx="1041098" cy="296465"/>
          </a:xfrm>
          <a:prstGeom prst="rect">
            <a:avLst/>
          </a:prstGeom>
        </p:spPr>
      </p:pic>
    </p:spTree>
    <p:extLst>
      <p:ext uri="{BB962C8B-B14F-4D97-AF65-F5344CB8AC3E}">
        <p14:creationId xmlns:p14="http://schemas.microsoft.com/office/powerpoint/2010/main" val="1439005347"/>
      </p:ext>
    </p:extLst>
  </p:cSld>
  <p:clrMapOvr>
    <a:masterClrMapping/>
  </p:clrMapOvr>
  <p:extLst>
    <p:ext uri="{DCECCB84-F9BA-43D5-87BE-67443E8EF086}">
      <p15:sldGuideLst xmlns:p15="http://schemas.microsoft.com/office/powerpoint/2012/main">
        <p15:guide id="1" orient="horz" pos="232"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itata">
    <p:bg>
      <p:bgPr>
        <a:solidFill>
          <a:schemeClr val="accent2"/>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7283BC3-418F-4B42-92AC-FA81462BE822}"/>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655" y="443490"/>
            <a:ext cx="6743498" cy="13441585"/>
          </a:xfrm>
          <a:prstGeom prst="rect">
            <a:avLst/>
          </a:prstGeom>
        </p:spPr>
      </p:pic>
      <p:sp>
        <p:nvSpPr>
          <p:cNvPr id="3" name="Title 1">
            <a:extLst>
              <a:ext uri="{FF2B5EF4-FFF2-40B4-BE49-F238E27FC236}">
                <a16:creationId xmlns:a16="http://schemas.microsoft.com/office/drawing/2014/main" id="{BA1389F8-9C8C-43D8-A1BE-8E81D7D001F3}"/>
              </a:ext>
            </a:extLst>
          </p:cNvPr>
          <p:cNvSpPr>
            <a:spLocks noGrp="1"/>
          </p:cNvSpPr>
          <p:nvPr>
            <p:ph type="title" idx="4294967295" hasCustomPrompt="1"/>
          </p:nvPr>
        </p:nvSpPr>
        <p:spPr>
          <a:xfrm>
            <a:off x="1092425" y="1859426"/>
            <a:ext cx="4843084" cy="3256162"/>
          </a:xfrm>
          <a:prstGeom prst="rect">
            <a:avLst/>
          </a:prstGeom>
        </p:spPr>
        <p:txBody>
          <a:bodyPr anchor="ctr">
            <a:normAutofit fontScale="90000"/>
          </a:bodyPr>
          <a:lstStyle>
            <a:lvl1pPr algn="ctr">
              <a:defRPr sz="1500" b="1" baseline="0">
                <a:solidFill>
                  <a:schemeClr val="bg1"/>
                </a:solidFill>
                <a:latin typeface="+mj-lt"/>
              </a:defRPr>
            </a:lvl1pPr>
          </a:lstStyle>
          <a:p>
            <a:pPr lvl="0"/>
            <a:r>
              <a:rPr lang="en-US" sz="3000" dirty="0"/>
              <a:t>„Lorem ipsum dolor sit </a:t>
            </a:r>
            <a:r>
              <a:rPr lang="en-US" sz="3000" dirty="0" err="1"/>
              <a:t>amet</a:t>
            </a:r>
            <a:r>
              <a:rPr lang="en-US" sz="3000" dirty="0"/>
              <a:t>, </a:t>
            </a:r>
            <a:r>
              <a:rPr lang="en-US" sz="3000" dirty="0" err="1"/>
              <a:t>consectetur</a:t>
            </a:r>
            <a:r>
              <a:rPr lang="en-US" sz="3000" dirty="0"/>
              <a:t> </a:t>
            </a:r>
            <a:r>
              <a:rPr lang="en-US" sz="3000" dirty="0" err="1"/>
              <a:t>adipiscing</a:t>
            </a:r>
            <a:r>
              <a:rPr lang="en-US" sz="3000" dirty="0"/>
              <a:t> </a:t>
            </a:r>
            <a:r>
              <a:rPr lang="en-US" sz="3000" dirty="0" err="1"/>
              <a:t>elit</a:t>
            </a:r>
            <a:r>
              <a:rPr lang="en-US" sz="3000" dirty="0"/>
              <a:t>. </a:t>
            </a:r>
            <a:r>
              <a:rPr lang="en-US" sz="3000" dirty="0" err="1"/>
              <a:t>Etiam</a:t>
            </a:r>
            <a:r>
              <a:rPr lang="en-US" sz="3000" dirty="0"/>
              <a:t> </a:t>
            </a:r>
            <a:r>
              <a:rPr lang="en-US" sz="3000" dirty="0" err="1"/>
              <a:t>eget</a:t>
            </a:r>
            <a:r>
              <a:rPr lang="en-US" sz="3000" dirty="0"/>
              <a:t> </a:t>
            </a:r>
            <a:r>
              <a:rPr lang="en-US" sz="3000" dirty="0" err="1"/>
              <a:t>dapibus</a:t>
            </a:r>
            <a:r>
              <a:rPr lang="en-US" sz="3000" dirty="0"/>
              <a:t> </a:t>
            </a:r>
            <a:r>
              <a:rPr lang="en-US" sz="3000" dirty="0" err="1"/>
              <a:t>tellus</a:t>
            </a:r>
            <a:r>
              <a:rPr lang="en-US" sz="3000" dirty="0"/>
              <a:t>.“</a:t>
            </a:r>
            <a:br>
              <a:rPr lang="en-US" dirty="0"/>
            </a:br>
            <a:endParaRPr lang="en-LT" dirty="0"/>
          </a:p>
        </p:txBody>
      </p:sp>
      <p:sp>
        <p:nvSpPr>
          <p:cNvPr id="13" name="Text Placeholder 12">
            <a:extLst>
              <a:ext uri="{FF2B5EF4-FFF2-40B4-BE49-F238E27FC236}">
                <a16:creationId xmlns:a16="http://schemas.microsoft.com/office/drawing/2014/main" id="{F0E12C56-23FB-44A3-BEC6-73300A5A86F0}"/>
              </a:ext>
            </a:extLst>
          </p:cNvPr>
          <p:cNvSpPr>
            <a:spLocks noGrp="1"/>
          </p:cNvSpPr>
          <p:nvPr>
            <p:ph type="body" sz="quarter" idx="10" hasCustomPrompt="1"/>
          </p:nvPr>
        </p:nvSpPr>
        <p:spPr>
          <a:xfrm>
            <a:off x="428715" y="6176961"/>
            <a:ext cx="1797133" cy="681039"/>
          </a:xfrm>
          <a:prstGeom prst="rect">
            <a:avLst/>
          </a:prstGeom>
        </p:spPr>
        <p:txBody>
          <a:bodyPr anchor="ctr"/>
          <a:lstStyle>
            <a:lvl1pPr marL="0" indent="0">
              <a:buNone/>
              <a:defRPr sz="600"/>
            </a:lvl1pPr>
          </a:lstStyle>
          <a:p>
            <a:pPr lvl="0"/>
            <a:r>
              <a:rPr lang="lt-LT" sz="600" noProof="0" dirty="0" err="1"/>
              <a:t>Presentation</a:t>
            </a:r>
            <a:r>
              <a:rPr lang="lt-LT" sz="600" noProof="0" dirty="0"/>
              <a:t> </a:t>
            </a:r>
            <a:r>
              <a:rPr lang="lt-LT" sz="600" noProof="0" dirty="0" err="1"/>
              <a:t>title</a:t>
            </a:r>
            <a:endParaRPr lang="en-US" noProof="0" dirty="0"/>
          </a:p>
        </p:txBody>
      </p:sp>
      <p:sp>
        <p:nvSpPr>
          <p:cNvPr id="14" name="Text Placeholder 12">
            <a:extLst>
              <a:ext uri="{FF2B5EF4-FFF2-40B4-BE49-F238E27FC236}">
                <a16:creationId xmlns:a16="http://schemas.microsoft.com/office/drawing/2014/main" id="{3E5FAA83-A8DF-44A4-BFC5-70A3F33FBED1}"/>
              </a:ext>
            </a:extLst>
          </p:cNvPr>
          <p:cNvSpPr>
            <a:spLocks noGrp="1"/>
          </p:cNvSpPr>
          <p:nvPr>
            <p:ph type="body" sz="quarter" idx="11" hasCustomPrompt="1"/>
          </p:nvPr>
        </p:nvSpPr>
        <p:spPr>
          <a:xfrm>
            <a:off x="6918153" y="6176961"/>
            <a:ext cx="1797133" cy="681039"/>
          </a:xfrm>
          <a:prstGeom prst="rect">
            <a:avLst/>
          </a:prstGeom>
        </p:spPr>
        <p:txBody>
          <a:bodyPr anchor="ctr"/>
          <a:lstStyle>
            <a:lvl1pPr marL="0" indent="0" algn="r">
              <a:buNone/>
              <a:defRPr sz="600"/>
            </a:lvl1pPr>
          </a:lstStyle>
          <a:p>
            <a:pPr lvl="0"/>
            <a:r>
              <a:rPr lang="en-US" sz="600" noProof="0" dirty="0"/>
              <a:t>Det</a:t>
            </a:r>
            <a:r>
              <a:rPr lang="lt-LT" sz="600" noProof="0" dirty="0"/>
              <a:t>a</a:t>
            </a:r>
            <a:endParaRPr lang="en-US" noProof="0" dirty="0"/>
          </a:p>
        </p:txBody>
      </p:sp>
      <p:pic>
        <p:nvPicPr>
          <p:cNvPr id="8" name="Graphic 7">
            <a:extLst>
              <a:ext uri="{FF2B5EF4-FFF2-40B4-BE49-F238E27FC236}">
                <a16:creationId xmlns:a16="http://schemas.microsoft.com/office/drawing/2014/main" id="{56256431-7E56-B146-B91E-06FFB8B5F42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746628" y="443490"/>
            <a:ext cx="1041098" cy="296465"/>
          </a:xfrm>
          <a:prstGeom prst="rect">
            <a:avLst/>
          </a:prstGeom>
        </p:spPr>
      </p:pic>
    </p:spTree>
    <p:extLst>
      <p:ext uri="{BB962C8B-B14F-4D97-AF65-F5344CB8AC3E}">
        <p14:creationId xmlns:p14="http://schemas.microsoft.com/office/powerpoint/2010/main" val="2171034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itata">
    <p:bg>
      <p:bgPr>
        <a:solidFill>
          <a:schemeClr val="accent6"/>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7283BC3-418F-4B42-92AC-FA81462BE822}"/>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4655" y="429780"/>
            <a:ext cx="6743498" cy="13441585"/>
          </a:xfrm>
          <a:prstGeom prst="rect">
            <a:avLst/>
          </a:prstGeom>
        </p:spPr>
      </p:pic>
      <p:sp>
        <p:nvSpPr>
          <p:cNvPr id="13" name="Text Placeholder 12">
            <a:extLst>
              <a:ext uri="{FF2B5EF4-FFF2-40B4-BE49-F238E27FC236}">
                <a16:creationId xmlns:a16="http://schemas.microsoft.com/office/drawing/2014/main" id="{F0E12C56-23FB-44A3-BEC6-73300A5A86F0}"/>
              </a:ext>
            </a:extLst>
          </p:cNvPr>
          <p:cNvSpPr>
            <a:spLocks noGrp="1"/>
          </p:cNvSpPr>
          <p:nvPr>
            <p:ph type="body" sz="quarter" idx="10" hasCustomPrompt="1"/>
          </p:nvPr>
        </p:nvSpPr>
        <p:spPr>
          <a:xfrm>
            <a:off x="428715" y="6176961"/>
            <a:ext cx="1797133" cy="681039"/>
          </a:xfrm>
          <a:prstGeom prst="rect">
            <a:avLst/>
          </a:prstGeom>
        </p:spPr>
        <p:txBody>
          <a:bodyPr anchor="ctr"/>
          <a:lstStyle>
            <a:lvl1pPr marL="0" indent="0">
              <a:buNone/>
              <a:defRPr sz="600"/>
            </a:lvl1pPr>
          </a:lstStyle>
          <a:p>
            <a:pPr lvl="0"/>
            <a:r>
              <a:rPr lang="lt-LT" sz="600" noProof="0" dirty="0" err="1"/>
              <a:t>Presentation</a:t>
            </a:r>
            <a:r>
              <a:rPr lang="lt-LT" sz="600" noProof="0" dirty="0"/>
              <a:t> </a:t>
            </a:r>
            <a:r>
              <a:rPr lang="lt-LT" sz="600" noProof="0" dirty="0" err="1"/>
              <a:t>title</a:t>
            </a:r>
            <a:endParaRPr lang="en-US" noProof="0" dirty="0"/>
          </a:p>
        </p:txBody>
      </p:sp>
      <p:sp>
        <p:nvSpPr>
          <p:cNvPr id="14" name="Text Placeholder 12">
            <a:extLst>
              <a:ext uri="{FF2B5EF4-FFF2-40B4-BE49-F238E27FC236}">
                <a16:creationId xmlns:a16="http://schemas.microsoft.com/office/drawing/2014/main" id="{3E5FAA83-A8DF-44A4-BFC5-70A3F33FBED1}"/>
              </a:ext>
            </a:extLst>
          </p:cNvPr>
          <p:cNvSpPr>
            <a:spLocks noGrp="1"/>
          </p:cNvSpPr>
          <p:nvPr>
            <p:ph type="body" sz="quarter" idx="11" hasCustomPrompt="1"/>
          </p:nvPr>
        </p:nvSpPr>
        <p:spPr>
          <a:xfrm>
            <a:off x="6918153" y="6176961"/>
            <a:ext cx="1797133" cy="681039"/>
          </a:xfrm>
          <a:prstGeom prst="rect">
            <a:avLst/>
          </a:prstGeom>
        </p:spPr>
        <p:txBody>
          <a:bodyPr anchor="ctr"/>
          <a:lstStyle>
            <a:lvl1pPr marL="0" indent="0" algn="r">
              <a:buNone/>
              <a:defRPr sz="600"/>
            </a:lvl1pPr>
          </a:lstStyle>
          <a:p>
            <a:pPr lvl="0"/>
            <a:r>
              <a:rPr lang="en-US" sz="600" noProof="0" dirty="0"/>
              <a:t>Date</a:t>
            </a:r>
            <a:endParaRPr lang="en-US" noProof="0" dirty="0"/>
          </a:p>
        </p:txBody>
      </p:sp>
      <p:sp>
        <p:nvSpPr>
          <p:cNvPr id="7" name="Text Placeholder 6">
            <a:extLst>
              <a:ext uri="{FF2B5EF4-FFF2-40B4-BE49-F238E27FC236}">
                <a16:creationId xmlns:a16="http://schemas.microsoft.com/office/drawing/2014/main" id="{4225E6BE-7DAD-4C48-AC2C-3BF9FE8D4109}"/>
              </a:ext>
            </a:extLst>
          </p:cNvPr>
          <p:cNvSpPr>
            <a:spLocks noGrp="1"/>
          </p:cNvSpPr>
          <p:nvPr>
            <p:ph type="body" sz="quarter" idx="12" hasCustomPrompt="1"/>
          </p:nvPr>
        </p:nvSpPr>
        <p:spPr>
          <a:xfrm>
            <a:off x="1256289" y="1977585"/>
            <a:ext cx="4272595" cy="3556112"/>
          </a:xfrm>
          <a:prstGeom prst="rect">
            <a:avLst/>
          </a:prstGeom>
        </p:spPr>
        <p:txBody>
          <a:bodyPr/>
          <a:lstStyle>
            <a:lvl1pPr marL="171450" marR="0" indent="-171450" algn="ctr" defTabSz="685800" rtl="0" eaLnBrk="1" fontAlgn="auto" latinLnBrk="0" hangingPunct="1">
              <a:lnSpc>
                <a:spcPct val="100000"/>
              </a:lnSpc>
              <a:spcBef>
                <a:spcPts val="750"/>
              </a:spcBef>
              <a:spcAft>
                <a:spcPts val="0"/>
              </a:spcAft>
              <a:buClrTx/>
              <a:buSzTx/>
              <a:buFont typeface="Arial" panose="020B0604020202020204" pitchFamily="34" charset="0"/>
              <a:buNone/>
              <a:tabLst/>
              <a:defRPr sz="1800" b="1">
                <a:latin typeface="+mn-lt"/>
              </a:defRPr>
            </a:lvl1pPr>
          </a:lstStyle>
          <a:p>
            <a:pPr lvl="0"/>
            <a:r>
              <a:rPr lang="en-US" sz="2100" dirty="0"/>
              <a:t>„Lorem ipsum dolor sit </a:t>
            </a:r>
            <a:r>
              <a:rPr lang="en-US" sz="2100" dirty="0" err="1"/>
              <a:t>amet</a:t>
            </a:r>
            <a:r>
              <a:rPr lang="en-US" sz="2100" dirty="0"/>
              <a:t>, </a:t>
            </a:r>
            <a:r>
              <a:rPr lang="en-US" sz="2100" dirty="0" err="1"/>
              <a:t>consectetur</a:t>
            </a:r>
            <a:r>
              <a:rPr lang="en-US" sz="2100" dirty="0"/>
              <a:t> </a:t>
            </a:r>
            <a:r>
              <a:rPr lang="en-US" sz="2100" dirty="0" err="1"/>
              <a:t>adipiscing</a:t>
            </a:r>
            <a:r>
              <a:rPr lang="en-US" sz="2100" dirty="0"/>
              <a:t> </a:t>
            </a:r>
            <a:r>
              <a:rPr lang="en-US" sz="2100" dirty="0" err="1"/>
              <a:t>elit</a:t>
            </a:r>
            <a:r>
              <a:rPr lang="en-US" sz="2100" dirty="0"/>
              <a:t>. </a:t>
            </a:r>
            <a:r>
              <a:rPr lang="en-US" sz="2100" dirty="0" err="1"/>
              <a:t>Etiam</a:t>
            </a:r>
            <a:r>
              <a:rPr lang="en-US" sz="2100" dirty="0"/>
              <a:t> </a:t>
            </a:r>
            <a:r>
              <a:rPr lang="en-US" sz="2100" dirty="0" err="1"/>
              <a:t>eget</a:t>
            </a:r>
            <a:r>
              <a:rPr lang="en-US" sz="2100" dirty="0"/>
              <a:t> </a:t>
            </a:r>
            <a:r>
              <a:rPr lang="en-US" sz="2100" dirty="0" err="1"/>
              <a:t>dapibus</a:t>
            </a:r>
            <a:r>
              <a:rPr lang="en-US" sz="2100" dirty="0"/>
              <a:t> </a:t>
            </a:r>
            <a:r>
              <a:rPr lang="en-US" sz="2100" dirty="0" err="1"/>
              <a:t>tellus</a:t>
            </a:r>
            <a:r>
              <a:rPr lang="en-US" sz="2100" dirty="0"/>
              <a:t>, sed </a:t>
            </a:r>
            <a:r>
              <a:rPr lang="en-US" sz="2100" dirty="0" err="1"/>
              <a:t>finibus</a:t>
            </a:r>
            <a:r>
              <a:rPr lang="en-US" sz="2100" dirty="0"/>
              <a:t> </a:t>
            </a:r>
            <a:r>
              <a:rPr lang="en-US" sz="2100" dirty="0" err="1"/>
              <a:t>quam</a:t>
            </a:r>
            <a:r>
              <a:rPr lang="en-US" sz="2100" dirty="0"/>
              <a:t>. </a:t>
            </a:r>
            <a:r>
              <a:rPr lang="en-US" sz="2100" dirty="0" err="1"/>
              <a:t>Pellentesque</a:t>
            </a:r>
            <a:r>
              <a:rPr lang="en-US" sz="2100" dirty="0"/>
              <a:t> </a:t>
            </a:r>
            <a:r>
              <a:rPr lang="en-US" sz="2100" dirty="0" err="1"/>
              <a:t>molestie</a:t>
            </a:r>
            <a:r>
              <a:rPr lang="en-US" sz="2100" dirty="0"/>
              <a:t> </a:t>
            </a:r>
            <a:r>
              <a:rPr lang="en-US" sz="2100" dirty="0" err="1"/>
              <a:t>sagittis</a:t>
            </a:r>
            <a:r>
              <a:rPr lang="en-US" sz="2100" dirty="0"/>
              <a:t> </a:t>
            </a:r>
            <a:r>
              <a:rPr lang="en-US" sz="2100" dirty="0" err="1"/>
              <a:t>elementum</a:t>
            </a:r>
            <a:r>
              <a:rPr lang="en-US" sz="2100" dirty="0"/>
              <a:t>.“</a:t>
            </a:r>
          </a:p>
        </p:txBody>
      </p:sp>
      <p:pic>
        <p:nvPicPr>
          <p:cNvPr id="8" name="Graphic 7">
            <a:extLst>
              <a:ext uri="{FF2B5EF4-FFF2-40B4-BE49-F238E27FC236}">
                <a16:creationId xmlns:a16="http://schemas.microsoft.com/office/drawing/2014/main" id="{08E659AB-2D53-9547-8989-B5E692015F9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746628" y="443490"/>
            <a:ext cx="1041098" cy="296465"/>
          </a:xfrm>
          <a:prstGeom prst="rect">
            <a:avLst/>
          </a:prstGeom>
        </p:spPr>
      </p:pic>
    </p:spTree>
    <p:extLst>
      <p:ext uri="{BB962C8B-B14F-4D97-AF65-F5344CB8AC3E}">
        <p14:creationId xmlns:p14="http://schemas.microsoft.com/office/powerpoint/2010/main" val="2024531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Skyrius">
    <p:bg>
      <p:bgPr>
        <a:solidFill>
          <a:schemeClr val="accent5"/>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BAAA3A4-CB12-F642-B77E-F32DB9F3F66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6650182"/>
          </a:xfrm>
          <a:prstGeom prst="rect">
            <a:avLst/>
          </a:prstGeom>
        </p:spPr>
      </p:pic>
      <p:sp>
        <p:nvSpPr>
          <p:cNvPr id="4" name="Title 3">
            <a:extLst>
              <a:ext uri="{FF2B5EF4-FFF2-40B4-BE49-F238E27FC236}">
                <a16:creationId xmlns:a16="http://schemas.microsoft.com/office/drawing/2014/main" id="{5A964CC1-BD46-B14A-8F54-DAD8428561EF}"/>
              </a:ext>
            </a:extLst>
          </p:cNvPr>
          <p:cNvSpPr>
            <a:spLocks noGrp="1"/>
          </p:cNvSpPr>
          <p:nvPr>
            <p:ph type="title" hasCustomPrompt="1"/>
          </p:nvPr>
        </p:nvSpPr>
        <p:spPr>
          <a:xfrm>
            <a:off x="226115" y="4084983"/>
            <a:ext cx="5237922" cy="1908314"/>
          </a:xfrm>
          <a:prstGeom prst="rect">
            <a:avLst/>
          </a:prstGeom>
        </p:spPr>
        <p:txBody>
          <a:bodyPr anchor="b"/>
          <a:lstStyle>
            <a:lvl1pPr>
              <a:defRPr>
                <a:solidFill>
                  <a:schemeClr val="bg1"/>
                </a:solidFill>
              </a:defRPr>
            </a:lvl1pPr>
          </a:lstStyle>
          <a:p>
            <a:r>
              <a:rPr lang="en-GB" dirty="0"/>
              <a:t>Chapter title</a:t>
            </a:r>
            <a:endParaRPr lang="en-LT" dirty="0"/>
          </a:p>
        </p:txBody>
      </p:sp>
      <p:pic>
        <p:nvPicPr>
          <p:cNvPr id="5" name="Graphic 4">
            <a:extLst>
              <a:ext uri="{FF2B5EF4-FFF2-40B4-BE49-F238E27FC236}">
                <a16:creationId xmlns:a16="http://schemas.microsoft.com/office/drawing/2014/main" id="{D2D9A5DB-0C45-6944-8E6C-CB496A41341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23850" y="483248"/>
            <a:ext cx="1041098" cy="296465"/>
          </a:xfrm>
          <a:prstGeom prst="rect">
            <a:avLst/>
          </a:prstGeom>
        </p:spPr>
      </p:pic>
    </p:spTree>
    <p:extLst>
      <p:ext uri="{BB962C8B-B14F-4D97-AF65-F5344CB8AC3E}">
        <p14:creationId xmlns:p14="http://schemas.microsoft.com/office/powerpoint/2010/main" val="12413507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0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ekstas_nuotrauka">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1A1DE040-DE2B-41C7-AF8E-B17187AA0402}"/>
              </a:ext>
            </a:extLst>
          </p:cNvPr>
          <p:cNvSpPr>
            <a:spLocks noGrp="1"/>
          </p:cNvSpPr>
          <p:nvPr>
            <p:ph idx="4294967295" hasCustomPrompt="1"/>
          </p:nvPr>
        </p:nvSpPr>
        <p:spPr>
          <a:xfrm>
            <a:off x="428717" y="2344318"/>
            <a:ext cx="3362460" cy="3832644"/>
          </a:xfrm>
          <a:prstGeom prst="rect">
            <a:avLst/>
          </a:prstGeom>
        </p:spPr>
        <p:txBody>
          <a:bodyPr>
            <a:normAutofit/>
          </a:bodyPr>
          <a:lstStyle>
            <a:lvl1pPr>
              <a:lnSpc>
                <a:spcPct val="100000"/>
              </a:lnSpc>
              <a:defRPr/>
            </a:lvl1pPr>
          </a:lstStyle>
          <a:p>
            <a:pPr marL="0" lvl="0" indent="0">
              <a:lnSpc>
                <a:spcPct val="150000"/>
              </a:lnSpc>
              <a:buNone/>
            </a:pPr>
            <a:r>
              <a:rPr lang="en-GB" sz="825" b="0" i="0" dirty="0">
                <a:solidFill>
                  <a:srgbClr val="000000"/>
                </a:solidFill>
                <a:effectLst/>
                <a:latin typeface="Arial" panose="020B0604020202020204" pitchFamily="34" charset="0"/>
                <a:cs typeface="Arial" panose="020B0604020202020204" pitchFamily="34" charset="0"/>
              </a:rPr>
              <a:t>Content</a:t>
            </a:r>
          </a:p>
        </p:txBody>
      </p:sp>
      <p:sp>
        <p:nvSpPr>
          <p:cNvPr id="12" name="Picture Placeholder 11">
            <a:extLst>
              <a:ext uri="{FF2B5EF4-FFF2-40B4-BE49-F238E27FC236}">
                <a16:creationId xmlns:a16="http://schemas.microsoft.com/office/drawing/2014/main" id="{2D229D56-4D34-4E92-B08C-499915E61538}"/>
              </a:ext>
            </a:extLst>
          </p:cNvPr>
          <p:cNvSpPr>
            <a:spLocks noGrp="1"/>
          </p:cNvSpPr>
          <p:nvPr>
            <p:ph type="pic" sz="quarter" idx="10" hasCustomPrompt="1"/>
          </p:nvPr>
        </p:nvSpPr>
        <p:spPr>
          <a:xfrm>
            <a:off x="4572000" y="1"/>
            <a:ext cx="4572000" cy="6176961"/>
          </a:xfrm>
          <a:prstGeom prst="rect">
            <a:avLst/>
          </a:prstGeom>
        </p:spPr>
        <p:txBody>
          <a:bodyPr/>
          <a:lstStyle/>
          <a:p>
            <a:r>
              <a:rPr lang="en-GB" dirty="0"/>
              <a:t>Click to insert a picture</a:t>
            </a:r>
            <a:endParaRPr lang="en-US" dirty="0"/>
          </a:p>
        </p:txBody>
      </p:sp>
      <p:sp>
        <p:nvSpPr>
          <p:cNvPr id="25" name="Text Placeholder 12">
            <a:extLst>
              <a:ext uri="{FF2B5EF4-FFF2-40B4-BE49-F238E27FC236}">
                <a16:creationId xmlns:a16="http://schemas.microsoft.com/office/drawing/2014/main" id="{3553403A-EB7C-4A11-849E-99EBB2C932BE}"/>
              </a:ext>
            </a:extLst>
          </p:cNvPr>
          <p:cNvSpPr>
            <a:spLocks noGrp="1"/>
          </p:cNvSpPr>
          <p:nvPr>
            <p:ph type="body" sz="quarter" idx="11" hasCustomPrompt="1"/>
          </p:nvPr>
        </p:nvSpPr>
        <p:spPr>
          <a:xfrm>
            <a:off x="428715" y="6176961"/>
            <a:ext cx="1797133" cy="681039"/>
          </a:xfrm>
          <a:prstGeom prst="rect">
            <a:avLst/>
          </a:prstGeom>
        </p:spPr>
        <p:txBody>
          <a:bodyPr anchor="ctr"/>
          <a:lstStyle>
            <a:lvl1pPr marL="0" indent="0">
              <a:buNone/>
              <a:defRPr sz="600"/>
            </a:lvl1pPr>
          </a:lstStyle>
          <a:p>
            <a:pPr lvl="0"/>
            <a:r>
              <a:rPr lang="lt-LT" sz="600" noProof="0" dirty="0" err="1"/>
              <a:t>Presentation</a:t>
            </a:r>
            <a:r>
              <a:rPr lang="lt-LT" sz="600" noProof="0" dirty="0"/>
              <a:t> </a:t>
            </a:r>
            <a:r>
              <a:rPr lang="lt-LT" sz="600" noProof="0" dirty="0" err="1"/>
              <a:t>title</a:t>
            </a:r>
            <a:endParaRPr lang="en-US" noProof="0" dirty="0"/>
          </a:p>
        </p:txBody>
      </p:sp>
      <p:sp>
        <p:nvSpPr>
          <p:cNvPr id="26" name="Text Placeholder 12">
            <a:extLst>
              <a:ext uri="{FF2B5EF4-FFF2-40B4-BE49-F238E27FC236}">
                <a16:creationId xmlns:a16="http://schemas.microsoft.com/office/drawing/2014/main" id="{B9417CA9-0B2A-45BB-B815-09173918F613}"/>
              </a:ext>
            </a:extLst>
          </p:cNvPr>
          <p:cNvSpPr>
            <a:spLocks noGrp="1"/>
          </p:cNvSpPr>
          <p:nvPr>
            <p:ph type="body" sz="quarter" idx="12" hasCustomPrompt="1"/>
          </p:nvPr>
        </p:nvSpPr>
        <p:spPr>
          <a:xfrm>
            <a:off x="6918153" y="6176961"/>
            <a:ext cx="1797133" cy="681039"/>
          </a:xfrm>
          <a:prstGeom prst="rect">
            <a:avLst/>
          </a:prstGeom>
        </p:spPr>
        <p:txBody>
          <a:bodyPr anchor="ctr"/>
          <a:lstStyle>
            <a:lvl1pPr marL="0" indent="0" algn="r">
              <a:buNone/>
              <a:defRPr sz="600"/>
            </a:lvl1pPr>
          </a:lstStyle>
          <a:p>
            <a:pPr lvl="0"/>
            <a:r>
              <a:rPr lang="lt-LT" sz="600" dirty="0" err="1"/>
              <a:t>Date</a:t>
            </a:r>
            <a:endParaRPr lang="en-US" dirty="0"/>
          </a:p>
        </p:txBody>
      </p:sp>
      <p:sp>
        <p:nvSpPr>
          <p:cNvPr id="7" name="Title 2">
            <a:extLst>
              <a:ext uri="{FF2B5EF4-FFF2-40B4-BE49-F238E27FC236}">
                <a16:creationId xmlns:a16="http://schemas.microsoft.com/office/drawing/2014/main" id="{E88B7743-0B69-9C4A-B252-EDE95870DD47}"/>
              </a:ext>
            </a:extLst>
          </p:cNvPr>
          <p:cNvSpPr>
            <a:spLocks noGrp="1"/>
          </p:cNvSpPr>
          <p:nvPr>
            <p:ph type="title" hasCustomPrompt="1"/>
          </p:nvPr>
        </p:nvSpPr>
        <p:spPr>
          <a:xfrm>
            <a:off x="428715" y="355973"/>
            <a:ext cx="3805355" cy="1325563"/>
          </a:xfrm>
          <a:prstGeom prst="rect">
            <a:avLst/>
          </a:prstGeom>
        </p:spPr>
        <p:txBody>
          <a:bodyPr/>
          <a:lstStyle/>
          <a:p>
            <a:r>
              <a:rPr lang="en-GB" dirty="0"/>
              <a:t>Heading</a:t>
            </a:r>
            <a:endParaRPr lang="en-LT" dirty="0"/>
          </a:p>
        </p:txBody>
      </p:sp>
    </p:spTree>
    <p:extLst>
      <p:ext uri="{BB962C8B-B14F-4D97-AF65-F5344CB8AC3E}">
        <p14:creationId xmlns:p14="http://schemas.microsoft.com/office/powerpoint/2010/main" val="416560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Nuotrauka">
    <p:bg>
      <p:bgPr>
        <a:solidFill>
          <a:schemeClr val="bg1"/>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2D229D56-4D34-4E92-B08C-499915E61538}"/>
              </a:ext>
            </a:extLst>
          </p:cNvPr>
          <p:cNvSpPr>
            <a:spLocks noGrp="1"/>
          </p:cNvSpPr>
          <p:nvPr>
            <p:ph type="pic" sz="quarter" idx="10" hasCustomPrompt="1"/>
          </p:nvPr>
        </p:nvSpPr>
        <p:spPr>
          <a:xfrm>
            <a:off x="4572000" y="1"/>
            <a:ext cx="4572000" cy="6176961"/>
          </a:xfrm>
          <a:prstGeom prst="rect">
            <a:avLst/>
          </a:prstGeom>
        </p:spPr>
        <p:txBody>
          <a:bodyPr/>
          <a:lstStyle/>
          <a:p>
            <a:r>
              <a:rPr lang="en-GB" dirty="0"/>
              <a:t>Click to insert a picture</a:t>
            </a:r>
            <a:endParaRPr lang="en-US" dirty="0"/>
          </a:p>
        </p:txBody>
      </p:sp>
      <p:sp>
        <p:nvSpPr>
          <p:cNvPr id="25" name="Text Placeholder 12">
            <a:extLst>
              <a:ext uri="{FF2B5EF4-FFF2-40B4-BE49-F238E27FC236}">
                <a16:creationId xmlns:a16="http://schemas.microsoft.com/office/drawing/2014/main" id="{3553403A-EB7C-4A11-849E-99EBB2C932BE}"/>
              </a:ext>
            </a:extLst>
          </p:cNvPr>
          <p:cNvSpPr>
            <a:spLocks noGrp="1"/>
          </p:cNvSpPr>
          <p:nvPr>
            <p:ph type="body" sz="quarter" idx="11" hasCustomPrompt="1"/>
          </p:nvPr>
        </p:nvSpPr>
        <p:spPr>
          <a:xfrm>
            <a:off x="428715" y="6176961"/>
            <a:ext cx="1797133" cy="681039"/>
          </a:xfrm>
          <a:prstGeom prst="rect">
            <a:avLst/>
          </a:prstGeom>
        </p:spPr>
        <p:txBody>
          <a:bodyPr anchor="ctr"/>
          <a:lstStyle>
            <a:lvl1pPr marL="0" indent="0">
              <a:buNone/>
              <a:defRPr sz="600"/>
            </a:lvl1pPr>
          </a:lstStyle>
          <a:p>
            <a:pPr lvl="0"/>
            <a:r>
              <a:rPr lang="lt-LT" sz="600" noProof="0" dirty="0" err="1"/>
              <a:t>Presentation</a:t>
            </a:r>
            <a:r>
              <a:rPr lang="lt-LT" sz="600" noProof="0" dirty="0"/>
              <a:t> </a:t>
            </a:r>
            <a:r>
              <a:rPr lang="lt-LT" sz="600" noProof="0" dirty="0" err="1"/>
              <a:t>title</a:t>
            </a:r>
            <a:endParaRPr lang="en-US" noProof="0" dirty="0"/>
          </a:p>
        </p:txBody>
      </p:sp>
      <p:sp>
        <p:nvSpPr>
          <p:cNvPr id="26" name="Text Placeholder 12">
            <a:extLst>
              <a:ext uri="{FF2B5EF4-FFF2-40B4-BE49-F238E27FC236}">
                <a16:creationId xmlns:a16="http://schemas.microsoft.com/office/drawing/2014/main" id="{B9417CA9-0B2A-45BB-B815-09173918F613}"/>
              </a:ext>
            </a:extLst>
          </p:cNvPr>
          <p:cNvSpPr>
            <a:spLocks noGrp="1"/>
          </p:cNvSpPr>
          <p:nvPr>
            <p:ph type="body" sz="quarter" idx="12" hasCustomPrompt="1"/>
          </p:nvPr>
        </p:nvSpPr>
        <p:spPr>
          <a:xfrm>
            <a:off x="6918153" y="6176961"/>
            <a:ext cx="1797133" cy="681039"/>
          </a:xfrm>
          <a:prstGeom prst="rect">
            <a:avLst/>
          </a:prstGeom>
        </p:spPr>
        <p:txBody>
          <a:bodyPr anchor="ctr"/>
          <a:lstStyle>
            <a:lvl1pPr marL="0" indent="0" algn="r">
              <a:buNone/>
              <a:defRPr sz="600"/>
            </a:lvl1pPr>
          </a:lstStyle>
          <a:p>
            <a:pPr lvl="0"/>
            <a:r>
              <a:rPr lang="lt-LT" sz="600" dirty="0" err="1"/>
              <a:t>Date</a:t>
            </a:r>
            <a:endParaRPr lang="en-US" dirty="0"/>
          </a:p>
        </p:txBody>
      </p:sp>
    </p:spTree>
    <p:extLst>
      <p:ext uri="{BB962C8B-B14F-4D97-AF65-F5344CB8AC3E}">
        <p14:creationId xmlns:p14="http://schemas.microsoft.com/office/powerpoint/2010/main" val="3065204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Nuotrauka">
    <p:bg>
      <p:bgPr>
        <a:solidFill>
          <a:schemeClr val="bg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0571FF4-A7BC-3045-89E2-92C95ED43116}"/>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63865" y="1257334"/>
            <a:ext cx="3443336" cy="7870483"/>
          </a:xfrm>
          <a:prstGeom prst="rect">
            <a:avLst/>
          </a:prstGeom>
        </p:spPr>
      </p:pic>
      <p:sp>
        <p:nvSpPr>
          <p:cNvPr id="12" name="Picture Placeholder 11">
            <a:extLst>
              <a:ext uri="{FF2B5EF4-FFF2-40B4-BE49-F238E27FC236}">
                <a16:creationId xmlns:a16="http://schemas.microsoft.com/office/drawing/2014/main" id="{2D229D56-4D34-4E92-B08C-499915E61538}"/>
              </a:ext>
            </a:extLst>
          </p:cNvPr>
          <p:cNvSpPr>
            <a:spLocks noGrp="1"/>
          </p:cNvSpPr>
          <p:nvPr>
            <p:ph type="pic" sz="quarter" idx="10" hasCustomPrompt="1"/>
          </p:nvPr>
        </p:nvSpPr>
        <p:spPr>
          <a:xfrm>
            <a:off x="2888857" y="1"/>
            <a:ext cx="6255143" cy="6176961"/>
          </a:xfrm>
          <a:prstGeom prst="rect">
            <a:avLst/>
          </a:prstGeom>
        </p:spPr>
        <p:txBody>
          <a:bodyPr/>
          <a:lstStyle/>
          <a:p>
            <a:r>
              <a:rPr lang="en-GB" dirty="0"/>
              <a:t>Click to insert a picture</a:t>
            </a:r>
            <a:endParaRPr lang="en-US" dirty="0"/>
          </a:p>
        </p:txBody>
      </p:sp>
      <p:sp>
        <p:nvSpPr>
          <p:cNvPr id="25" name="Text Placeholder 12">
            <a:extLst>
              <a:ext uri="{FF2B5EF4-FFF2-40B4-BE49-F238E27FC236}">
                <a16:creationId xmlns:a16="http://schemas.microsoft.com/office/drawing/2014/main" id="{3553403A-EB7C-4A11-849E-99EBB2C932BE}"/>
              </a:ext>
            </a:extLst>
          </p:cNvPr>
          <p:cNvSpPr>
            <a:spLocks noGrp="1"/>
          </p:cNvSpPr>
          <p:nvPr>
            <p:ph type="body" sz="quarter" idx="11" hasCustomPrompt="1"/>
          </p:nvPr>
        </p:nvSpPr>
        <p:spPr>
          <a:xfrm>
            <a:off x="428715" y="6176961"/>
            <a:ext cx="1797133" cy="681039"/>
          </a:xfrm>
          <a:prstGeom prst="rect">
            <a:avLst/>
          </a:prstGeom>
        </p:spPr>
        <p:txBody>
          <a:bodyPr anchor="ctr"/>
          <a:lstStyle>
            <a:lvl1pPr marL="0" indent="0">
              <a:buNone/>
              <a:defRPr sz="600"/>
            </a:lvl1pPr>
          </a:lstStyle>
          <a:p>
            <a:pPr lvl="0"/>
            <a:r>
              <a:rPr lang="lt-LT" sz="600" noProof="0" dirty="0" err="1"/>
              <a:t>Presentation</a:t>
            </a:r>
            <a:r>
              <a:rPr lang="lt-LT" sz="600" noProof="0" dirty="0"/>
              <a:t> </a:t>
            </a:r>
            <a:r>
              <a:rPr lang="lt-LT" sz="600" noProof="0" dirty="0" err="1"/>
              <a:t>title</a:t>
            </a:r>
            <a:endParaRPr lang="en-US" noProof="0" dirty="0"/>
          </a:p>
        </p:txBody>
      </p:sp>
      <p:sp>
        <p:nvSpPr>
          <p:cNvPr id="26" name="Text Placeholder 12">
            <a:extLst>
              <a:ext uri="{FF2B5EF4-FFF2-40B4-BE49-F238E27FC236}">
                <a16:creationId xmlns:a16="http://schemas.microsoft.com/office/drawing/2014/main" id="{B9417CA9-0B2A-45BB-B815-09173918F613}"/>
              </a:ext>
            </a:extLst>
          </p:cNvPr>
          <p:cNvSpPr>
            <a:spLocks noGrp="1"/>
          </p:cNvSpPr>
          <p:nvPr>
            <p:ph type="body" sz="quarter" idx="12" hasCustomPrompt="1"/>
          </p:nvPr>
        </p:nvSpPr>
        <p:spPr>
          <a:xfrm>
            <a:off x="6918153" y="6176961"/>
            <a:ext cx="1797133" cy="681039"/>
          </a:xfrm>
          <a:prstGeom prst="rect">
            <a:avLst/>
          </a:prstGeom>
        </p:spPr>
        <p:txBody>
          <a:bodyPr anchor="ctr"/>
          <a:lstStyle>
            <a:lvl1pPr marL="0" indent="0" algn="r">
              <a:buNone/>
              <a:defRPr sz="600"/>
            </a:lvl1pPr>
          </a:lstStyle>
          <a:p>
            <a:pPr lvl="0"/>
            <a:r>
              <a:rPr lang="lt-LT" sz="600" dirty="0" err="1"/>
              <a:t>Date</a:t>
            </a:r>
            <a:endParaRPr lang="en-US" dirty="0"/>
          </a:p>
        </p:txBody>
      </p:sp>
      <p:pic>
        <p:nvPicPr>
          <p:cNvPr id="10" name="Graphic 9">
            <a:extLst>
              <a:ext uri="{FF2B5EF4-FFF2-40B4-BE49-F238E27FC236}">
                <a16:creationId xmlns:a16="http://schemas.microsoft.com/office/drawing/2014/main" id="{4E7A898C-35A3-E148-AE53-BBE27F45CBC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165990" y="1257334"/>
            <a:ext cx="3443336" cy="7870483"/>
          </a:xfrm>
          <a:prstGeom prst="rect">
            <a:avLst/>
          </a:prstGeom>
        </p:spPr>
      </p:pic>
      <p:sp>
        <p:nvSpPr>
          <p:cNvPr id="6" name="Text Placeholder 5">
            <a:extLst>
              <a:ext uri="{FF2B5EF4-FFF2-40B4-BE49-F238E27FC236}">
                <a16:creationId xmlns:a16="http://schemas.microsoft.com/office/drawing/2014/main" id="{EDAF4A23-2938-EF4F-BDDB-2FECC0CC2883}"/>
              </a:ext>
            </a:extLst>
          </p:cNvPr>
          <p:cNvSpPr>
            <a:spLocks noGrp="1"/>
          </p:cNvSpPr>
          <p:nvPr>
            <p:ph type="body" sz="quarter" idx="13" hasCustomPrompt="1"/>
          </p:nvPr>
        </p:nvSpPr>
        <p:spPr>
          <a:xfrm>
            <a:off x="631032" y="2006599"/>
            <a:ext cx="1853225" cy="3602914"/>
          </a:xfrm>
          <a:prstGeom prst="rect">
            <a:avLst/>
          </a:prstGeom>
        </p:spPr>
        <p:txBody>
          <a:bodyPr/>
          <a:lstStyle>
            <a:lvl1pPr>
              <a:lnSpc>
                <a:spcPct val="100000"/>
              </a:lnSpc>
              <a:buNone/>
              <a:defRPr sz="1800"/>
            </a:lvl1pPr>
          </a:lstStyle>
          <a:p>
            <a:pPr>
              <a:lnSpc>
                <a:spcPct val="100000"/>
              </a:lnSpc>
            </a:pPr>
            <a:r>
              <a:rPr lang="en-US" sz="2100" b="1" dirty="0"/>
              <a:t>Content</a:t>
            </a:r>
            <a:endParaRPr lang="en-LT" sz="2100" b="1" dirty="0"/>
          </a:p>
        </p:txBody>
      </p:sp>
    </p:spTree>
    <p:extLst>
      <p:ext uri="{BB962C8B-B14F-4D97-AF65-F5344CB8AC3E}">
        <p14:creationId xmlns:p14="http://schemas.microsoft.com/office/powerpoint/2010/main" val="2855470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_Kontaktai">
    <p:bg>
      <p:bgPr>
        <a:solidFill>
          <a:schemeClr val="accent1"/>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7B9B736-8059-9E4F-8226-97318FD73FB6}"/>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28764" y="3411676"/>
            <a:ext cx="4343236" cy="2805830"/>
          </a:xfrm>
          <a:prstGeom prst="rect">
            <a:avLst/>
          </a:prstGeom>
        </p:spPr>
      </p:pic>
      <p:sp>
        <p:nvSpPr>
          <p:cNvPr id="11" name="Title 10">
            <a:extLst>
              <a:ext uri="{FF2B5EF4-FFF2-40B4-BE49-F238E27FC236}">
                <a16:creationId xmlns:a16="http://schemas.microsoft.com/office/drawing/2014/main" id="{BC0F03C4-3A8C-4FCE-B447-DE322F73619C}"/>
              </a:ext>
            </a:extLst>
          </p:cNvPr>
          <p:cNvSpPr>
            <a:spLocks noGrp="1"/>
          </p:cNvSpPr>
          <p:nvPr>
            <p:ph type="title" hasCustomPrompt="1"/>
          </p:nvPr>
        </p:nvSpPr>
        <p:spPr>
          <a:xfrm>
            <a:off x="315154" y="3513477"/>
            <a:ext cx="4170457" cy="2602231"/>
          </a:xfrm>
          <a:prstGeom prst="rect">
            <a:avLst/>
          </a:prstGeom>
        </p:spPr>
        <p:txBody>
          <a:bodyPr anchor="b"/>
          <a:lstStyle>
            <a:lvl1pPr>
              <a:defRPr sz="3600" b="1">
                <a:solidFill>
                  <a:schemeClr val="bg1"/>
                </a:solidFill>
                <a:latin typeface="Arial" panose="020B0604020202020204" pitchFamily="34" charset="0"/>
                <a:cs typeface="Arial" panose="020B0604020202020204" pitchFamily="34" charset="0"/>
              </a:defRPr>
            </a:lvl1pPr>
          </a:lstStyle>
          <a:p>
            <a:r>
              <a:rPr lang="lt-LT" noProof="0" dirty="0" err="1"/>
              <a:t>Thank</a:t>
            </a:r>
            <a:r>
              <a:rPr lang="lt-LT" noProof="0" dirty="0"/>
              <a:t> </a:t>
            </a:r>
            <a:r>
              <a:rPr lang="lt-LT" noProof="0" dirty="0" err="1"/>
              <a:t>you</a:t>
            </a:r>
            <a:endParaRPr lang="en-US" noProof="0" dirty="0"/>
          </a:p>
        </p:txBody>
      </p:sp>
      <p:sp>
        <p:nvSpPr>
          <p:cNvPr id="13" name="Text Placeholder 12">
            <a:extLst>
              <a:ext uri="{FF2B5EF4-FFF2-40B4-BE49-F238E27FC236}">
                <a16:creationId xmlns:a16="http://schemas.microsoft.com/office/drawing/2014/main" id="{57287D86-E9E5-4E8F-92D7-9490F21B13C9}"/>
              </a:ext>
            </a:extLst>
          </p:cNvPr>
          <p:cNvSpPr>
            <a:spLocks noGrp="1"/>
          </p:cNvSpPr>
          <p:nvPr>
            <p:ph type="body" sz="quarter" idx="10" hasCustomPrompt="1"/>
          </p:nvPr>
        </p:nvSpPr>
        <p:spPr>
          <a:xfrm>
            <a:off x="315114" y="3246778"/>
            <a:ext cx="1444228" cy="266699"/>
          </a:xfrm>
          <a:prstGeom prst="rect">
            <a:avLst/>
          </a:prstGeom>
        </p:spPr>
        <p:txBody>
          <a:bodyPr/>
          <a:lstStyle>
            <a:lvl1pPr marL="0" indent="0" algn="ctr">
              <a:buNone/>
              <a:defRPr sz="1350">
                <a:solidFill>
                  <a:schemeClr val="bg1"/>
                </a:solidFill>
              </a:defRPr>
            </a:lvl1pPr>
            <a:lvl2pPr>
              <a:defRPr sz="750"/>
            </a:lvl2pPr>
            <a:lvl3pPr>
              <a:defRPr sz="675"/>
            </a:lvl3pPr>
            <a:lvl4pPr>
              <a:defRPr sz="600"/>
            </a:lvl4pPr>
            <a:lvl5pPr>
              <a:defRPr sz="600"/>
            </a:lvl5pPr>
          </a:lstStyle>
          <a:p>
            <a:pPr lvl="0"/>
            <a:r>
              <a:rPr lang="lt-LT" noProof="0" dirty="0"/>
              <a:t>Name </a:t>
            </a:r>
            <a:r>
              <a:rPr lang="lt-LT" noProof="0" dirty="0" err="1"/>
              <a:t>Surname</a:t>
            </a:r>
            <a:endParaRPr lang="en-US" noProof="0" dirty="0"/>
          </a:p>
        </p:txBody>
      </p:sp>
      <p:sp>
        <p:nvSpPr>
          <p:cNvPr id="14" name="Text Placeholder 12">
            <a:extLst>
              <a:ext uri="{FF2B5EF4-FFF2-40B4-BE49-F238E27FC236}">
                <a16:creationId xmlns:a16="http://schemas.microsoft.com/office/drawing/2014/main" id="{C2E5E2C2-ED9C-4B14-BD16-5C88B86E543F}"/>
              </a:ext>
            </a:extLst>
          </p:cNvPr>
          <p:cNvSpPr>
            <a:spLocks noGrp="1"/>
          </p:cNvSpPr>
          <p:nvPr>
            <p:ph type="body" sz="quarter" idx="11" hasCustomPrompt="1"/>
          </p:nvPr>
        </p:nvSpPr>
        <p:spPr>
          <a:xfrm>
            <a:off x="7515912" y="5976551"/>
            <a:ext cx="1312934" cy="266383"/>
          </a:xfrm>
          <a:prstGeom prst="rect">
            <a:avLst/>
          </a:prstGeom>
        </p:spPr>
        <p:txBody>
          <a:bodyPr anchor="b"/>
          <a:lstStyle>
            <a:lvl1pPr marL="0" indent="0" algn="ctr">
              <a:buNone/>
              <a:defRPr sz="900">
                <a:solidFill>
                  <a:schemeClr val="bg1"/>
                </a:solidFill>
              </a:defRPr>
            </a:lvl1pPr>
            <a:lvl2pPr>
              <a:defRPr sz="750"/>
            </a:lvl2pPr>
            <a:lvl3pPr>
              <a:defRPr sz="675"/>
            </a:lvl3pPr>
            <a:lvl4pPr>
              <a:defRPr sz="600"/>
            </a:lvl4pPr>
            <a:lvl5pPr>
              <a:defRPr sz="600"/>
            </a:lvl5pPr>
          </a:lstStyle>
          <a:p>
            <a:pPr lvl="0"/>
            <a:r>
              <a:rPr lang="lt-LT" dirty="0" err="1"/>
              <a:t>Date</a:t>
            </a:r>
            <a:endParaRPr lang="en-US" dirty="0"/>
          </a:p>
        </p:txBody>
      </p:sp>
      <p:sp>
        <p:nvSpPr>
          <p:cNvPr id="4" name="Text Placeholder 3">
            <a:extLst>
              <a:ext uri="{FF2B5EF4-FFF2-40B4-BE49-F238E27FC236}">
                <a16:creationId xmlns:a16="http://schemas.microsoft.com/office/drawing/2014/main" id="{D03F7CCC-CE51-A744-A6CC-29AE4479E861}"/>
              </a:ext>
            </a:extLst>
          </p:cNvPr>
          <p:cNvSpPr>
            <a:spLocks noGrp="1"/>
          </p:cNvSpPr>
          <p:nvPr>
            <p:ph type="body" sz="quarter" idx="12" hasCustomPrompt="1"/>
          </p:nvPr>
        </p:nvSpPr>
        <p:spPr>
          <a:xfrm>
            <a:off x="343252" y="3990778"/>
            <a:ext cx="3762375" cy="874713"/>
          </a:xfrm>
          <a:prstGeom prst="rect">
            <a:avLst/>
          </a:prstGeom>
        </p:spPr>
        <p:txBody>
          <a:bodyPr/>
          <a:lstStyle>
            <a:lvl1pPr algn="l">
              <a:buNone/>
              <a:defRPr sz="1600">
                <a:solidFill>
                  <a:schemeClr val="bg1"/>
                </a:solidFill>
              </a:defRPr>
            </a:lvl1pPr>
          </a:lstStyle>
          <a:p>
            <a:pPr lvl="0"/>
            <a:r>
              <a:rPr lang="lt-LT" noProof="0" dirty="0" err="1"/>
              <a:t>name@domain.com</a:t>
            </a:r>
            <a:endParaRPr lang="lt-LT" noProof="0" dirty="0"/>
          </a:p>
          <a:p>
            <a:pPr lvl="0"/>
            <a:r>
              <a:rPr lang="lt-LT" noProof="0" dirty="0"/>
              <a:t>+000 000 00 000</a:t>
            </a:r>
            <a:endParaRPr lang="en-US" noProof="0" dirty="0"/>
          </a:p>
        </p:txBody>
      </p:sp>
      <p:pic>
        <p:nvPicPr>
          <p:cNvPr id="8" name="Graphic 7">
            <a:extLst>
              <a:ext uri="{FF2B5EF4-FFF2-40B4-BE49-F238E27FC236}">
                <a16:creationId xmlns:a16="http://schemas.microsoft.com/office/drawing/2014/main" id="{62669142-6EC3-134B-AB9A-2A0D1AB90EC0}"/>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225076" y="327991"/>
            <a:ext cx="2149841" cy="914399"/>
          </a:xfrm>
          <a:prstGeom prst="rect">
            <a:avLst/>
          </a:prstGeom>
        </p:spPr>
      </p:pic>
    </p:spTree>
    <p:extLst>
      <p:ext uri="{BB962C8B-B14F-4D97-AF65-F5344CB8AC3E}">
        <p14:creationId xmlns:p14="http://schemas.microsoft.com/office/powerpoint/2010/main" val="2448347789"/>
      </p:ext>
    </p:extLst>
  </p:cSld>
  <p:clrMapOvr>
    <a:masterClrMapping/>
  </p:clrMapOvr>
  <p:extLst>
    <p:ext uri="{DCECCB84-F9BA-43D5-87BE-67443E8EF086}">
      <p15:sldGuideLst xmlns:p15="http://schemas.microsoft.com/office/powerpoint/2012/main">
        <p15:guide id="1" orient="horz" pos="278" userDrawn="1">
          <p15:clr>
            <a:srgbClr val="FBAE40"/>
          </p15:clr>
        </p15:guide>
        <p15:guide id="2" pos="136"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7249322"/>
      </p:ext>
    </p:extLst>
  </p:cSld>
  <p:clrMap bg1="lt1" tx1="dk1" bg2="lt2" tx2="dk2" accent1="accent1" accent2="accent2" accent3="accent3" accent4="accent4" accent5="accent5" accent6="accent6" hlink="hlink" folHlink="folHlink"/>
  <p:sldLayoutIdLst>
    <p:sldLayoutId id="2147483666" r:id="rId1"/>
    <p:sldLayoutId id="2147483678" r:id="rId2"/>
    <p:sldLayoutId id="2147483668" r:id="rId3"/>
    <p:sldLayoutId id="2147483673" r:id="rId4"/>
    <p:sldLayoutId id="2147483670" r:id="rId5"/>
    <p:sldLayoutId id="2147483669" r:id="rId6"/>
    <p:sldLayoutId id="2147483675" r:id="rId7"/>
    <p:sldLayoutId id="2147483655" r:id="rId8"/>
    <p:sldLayoutId id="2147483677" r:id="rId9"/>
    <p:sldLayoutId id="2147483674" r:id="rId10"/>
    <p:sldLayoutId id="214748367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3.xml"/><Relationship Id="rId3" Type="http://schemas.openxmlformats.org/officeDocument/2006/relationships/image" Target="../media/image1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400" b="1"/>
              <a:t>Transformers and their application in NLP tasks</a:t>
            </a:r>
          </a:p>
        </p:txBody>
      </p:sp>
      <p:sp>
        <p:nvSpPr>
          <p:cNvPr id="3" name="Text Placeholder 2"/>
          <p:cNvSpPr>
            <a:spLocks noGrp="1"/>
          </p:cNvSpPr>
          <p:nvPr>
            <p:ph type="body" idx="10" sz="quarter"/>
          </p:nvPr>
        </p:nvSpPr>
        <p:spPr/>
        <p:txBody>
          <a:bodyPr/>
          <a:lstStyle/>
          <a:p>
            <a:r>
              <a:t>VILNIUS TECH · Group project</a:t>
            </a:r>
          </a:p>
        </p:txBody>
      </p:sp>
      <p:sp>
        <p:nvSpPr>
          <p:cNvPr id="4" name="TextBox 3"/>
          <p:cNvSpPr txBox="1"/>
          <p:nvPr/>
        </p:nvSpPr>
        <p:spPr>
          <a:xfrm>
            <a:off x="310896" y="2331720"/>
            <a:ext cx="8412480" cy="822960"/>
          </a:xfrm>
          <a:prstGeom prst="rect">
            <a:avLst/>
          </a:prstGeom>
          <a:noFill/>
        </p:spPr>
        <p:txBody>
          <a:bodyPr wrap="square" anchor="t" lIns="45720" rIns="45720" tIns="27432" bIns="27432">
            <a:spAutoFit/>
          </a:bodyPr>
          <a:lstStyle/>
          <a:p>
            <a:pPr algn="l">
              <a:spcAft>
                <a:spcPts val="200"/>
              </a:spcAft>
            </a:pPr>
            <a:r>
              <a:rPr sz="2000" b="1">
                <a:solidFill>
                  <a:srgbClr val="FFFFFF"/>
                </a:solidFill>
              </a:rPr>
              <a:t>Do Transformers pay off on a laptop CPU?</a:t>
            </a:r>
          </a:p>
          <a:p>
            <a:pPr algn="l">
              <a:spcAft>
                <a:spcPts val="200"/>
              </a:spcAft>
            </a:pPr>
            <a:r>
              <a:rPr sz="1600" b="0">
                <a:solidFill>
                  <a:srgbClr val="FFFFFF"/>
                </a:solidFill>
              </a:rPr>
              <a:t>A comparison of 10 sentiment classifiers on SST-2</a:t>
            </a:r>
          </a:p>
        </p:txBody>
      </p:sp>
      <p:sp>
        <p:nvSpPr>
          <p:cNvPr id="5" name="TextBox 4"/>
          <p:cNvSpPr txBox="1"/>
          <p:nvPr/>
        </p:nvSpPr>
        <p:spPr>
          <a:xfrm>
            <a:off x="310896" y="6355080"/>
            <a:ext cx="8503920" cy="365760"/>
          </a:xfrm>
          <a:prstGeom prst="rect">
            <a:avLst/>
          </a:prstGeom>
          <a:noFill/>
        </p:spPr>
        <p:txBody>
          <a:bodyPr wrap="square" anchor="t" lIns="45720" rIns="45720" tIns="27432" bIns="27432">
            <a:spAutoFit/>
          </a:bodyPr>
          <a:lstStyle/>
          <a:p>
            <a:pPr algn="l">
              <a:spcAft>
                <a:spcPts val="400"/>
              </a:spcAft>
            </a:pPr>
            <a:r>
              <a:rPr sz="1300" b="0">
                <a:solidFill>
                  <a:srgbClr val="FFFFFF"/>
                </a:solidFill>
              </a:rPr>
              <a:t>Shashikanth Hosur Ramegowda  ·  Shaeed Khan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itle 4"/>
          <p:cNvSpPr>
            <a:spLocks noGrp="1"/>
          </p:cNvSpPr>
          <p:nvPr>
            <p:ph type="title"/>
          </p:nvPr>
        </p:nvSpPr>
        <p:spPr>
          <a:xfrm>
            <a:off x="429768" y="320040"/>
            <a:ext cx="7086600" cy="1325880"/>
          </a:xfrm>
        </p:spPr>
        <p:txBody>
          <a:bodyPr anchor="ctr"/>
          <a:lstStyle/>
          <a:p>
            <a:r>
              <a:rPr sz="2800" b="1"/>
              <a:t>From reading word by word to reading all at once</a:t>
            </a:r>
          </a:p>
        </p:txBody>
      </p:sp>
      <p:sp>
        <p:nvSpPr>
          <p:cNvPr id="6" name="Rectangle 5"/>
          <p:cNvSpPr/>
          <p:nvPr/>
        </p:nvSpPr>
        <p:spPr>
          <a:xfrm>
            <a:off x="429768" y="1783080"/>
            <a:ext cx="4023360" cy="3977639"/>
          </a:xfrm>
          <a:prstGeom prst="rect">
            <a:avLst/>
          </a:prstGeom>
          <a:solidFill>
            <a:srgbClr val="FE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9768" y="1783080"/>
            <a:ext cx="4023360" cy="640080"/>
          </a:xfrm>
          <a:prstGeom prst="rect">
            <a:avLst/>
          </a:prstGeom>
          <a:solidFill>
            <a:srgbClr val="F68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7" y="1783080"/>
            <a:ext cx="3657600" cy="640080"/>
          </a:xfrm>
          <a:prstGeom prst="rect">
            <a:avLst/>
          </a:prstGeom>
          <a:noFill/>
        </p:spPr>
        <p:txBody>
          <a:bodyPr wrap="square" anchor="ctr" lIns="45720" rIns="45720" tIns="27432" bIns="27432">
            <a:spAutoFit/>
          </a:bodyPr>
          <a:lstStyle/>
          <a:p>
            <a:pPr algn="l">
              <a:spcAft>
                <a:spcPts val="400"/>
              </a:spcAft>
            </a:pPr>
            <a:r>
              <a:rPr sz="1800" b="1">
                <a:solidFill>
                  <a:srgbClr val="FFFFFF"/>
                </a:solidFill>
              </a:rPr>
              <a:t>Recurrent networks (LSTM)</a:t>
            </a:r>
          </a:p>
        </p:txBody>
      </p:sp>
      <p:sp>
        <p:nvSpPr>
          <p:cNvPr id="9" name="TextBox 8"/>
          <p:cNvSpPr txBox="1"/>
          <p:nvPr/>
        </p:nvSpPr>
        <p:spPr>
          <a:xfrm>
            <a:off x="658368" y="2651760"/>
            <a:ext cx="3611880" cy="3017520"/>
          </a:xfrm>
          <a:prstGeom prst="rect">
            <a:avLst/>
          </a:prstGeom>
          <a:noFill/>
        </p:spPr>
        <p:txBody>
          <a:bodyPr wrap="square" anchor="t" lIns="45720" rIns="45720" tIns="27432" bIns="27432">
            <a:spAutoFit/>
          </a:bodyPr>
          <a:lstStyle/>
          <a:p>
            <a:pPr algn="l">
              <a:spcAft>
                <a:spcPts val="1200"/>
              </a:spcAft>
            </a:pPr>
            <a:r>
              <a:rPr sz="1600" b="0">
                <a:solidFill>
                  <a:srgbClr val="000000"/>
                </a:solidFill>
              </a:rPr>
              <a:t>•  Process tokens one after another</a:t>
            </a:r>
          </a:p>
          <a:p>
            <a:pPr algn="l">
              <a:spcAft>
                <a:spcPts val="1200"/>
              </a:spcAft>
            </a:pPr>
            <a:r>
              <a:rPr sz="1600" b="0">
                <a:solidFill>
                  <a:srgbClr val="000000"/>
                </a:solidFill>
              </a:rPr>
              <a:t>•  n sequential steps: slow to train</a:t>
            </a:r>
          </a:p>
          <a:p>
            <a:pPr algn="l">
              <a:spcAft>
                <a:spcPts val="1200"/>
              </a:spcAft>
            </a:pPr>
            <a:r>
              <a:rPr sz="1600" b="0">
                <a:solidFill>
                  <a:srgbClr val="000000"/>
                </a:solidFill>
              </a:rPr>
              <a:t>•  Distant words interact only through a long chain of states</a:t>
            </a:r>
          </a:p>
          <a:p>
            <a:pPr algn="l">
              <a:spcAft>
                <a:spcPts val="1200"/>
              </a:spcAft>
            </a:pPr>
            <a:r>
              <a:rPr sz="1600" b="0">
                <a:solidFill>
                  <a:srgbClr val="000000"/>
                </a:solidFill>
              </a:rPr>
              <a:t>•  Trained from scratch for each task</a:t>
            </a:r>
          </a:p>
        </p:txBody>
      </p:sp>
      <p:sp>
        <p:nvSpPr>
          <p:cNvPr id="10" name="Rectangle 9"/>
          <p:cNvSpPr/>
          <p:nvPr/>
        </p:nvSpPr>
        <p:spPr>
          <a:xfrm>
            <a:off x="4690872" y="1783080"/>
            <a:ext cx="4023360" cy="3977639"/>
          </a:xfrm>
          <a:prstGeom prst="rect">
            <a:avLst/>
          </a:prstGeom>
          <a:solidFill>
            <a:srgbClr val="E6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90872" y="1783080"/>
            <a:ext cx="4023360" cy="640080"/>
          </a:xfrm>
          <a:prstGeom prst="rect">
            <a:avLst/>
          </a:prstGeom>
          <a:solidFill>
            <a:srgbClr val="0B4D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73752" y="1783080"/>
            <a:ext cx="3657600" cy="640080"/>
          </a:xfrm>
          <a:prstGeom prst="rect">
            <a:avLst/>
          </a:prstGeom>
          <a:noFill/>
        </p:spPr>
        <p:txBody>
          <a:bodyPr wrap="square" anchor="ctr" lIns="45720" rIns="45720" tIns="27432" bIns="27432">
            <a:spAutoFit/>
          </a:bodyPr>
          <a:lstStyle/>
          <a:p>
            <a:pPr algn="l">
              <a:spcAft>
                <a:spcPts val="400"/>
              </a:spcAft>
            </a:pPr>
            <a:r>
              <a:rPr sz="1800" b="1">
                <a:solidFill>
                  <a:srgbClr val="FFFFFF"/>
                </a:solidFill>
              </a:rPr>
              <a:t>Transformer (2017)</a:t>
            </a:r>
          </a:p>
        </p:txBody>
      </p:sp>
      <p:sp>
        <p:nvSpPr>
          <p:cNvPr id="13" name="TextBox 12"/>
          <p:cNvSpPr txBox="1"/>
          <p:nvPr/>
        </p:nvSpPr>
        <p:spPr>
          <a:xfrm>
            <a:off x="4919472" y="2651760"/>
            <a:ext cx="3611880" cy="3017520"/>
          </a:xfrm>
          <a:prstGeom prst="rect">
            <a:avLst/>
          </a:prstGeom>
          <a:noFill/>
        </p:spPr>
        <p:txBody>
          <a:bodyPr wrap="square" anchor="t" lIns="45720" rIns="45720" tIns="27432" bIns="27432">
            <a:spAutoFit/>
          </a:bodyPr>
          <a:lstStyle/>
          <a:p>
            <a:pPr algn="l">
              <a:spcAft>
                <a:spcPts val="1200"/>
              </a:spcAft>
            </a:pPr>
            <a:r>
              <a:rPr sz="1600" b="0">
                <a:solidFill>
                  <a:srgbClr val="000000"/>
                </a:solidFill>
              </a:rPr>
              <a:t>•  Every token attends to every other token</a:t>
            </a:r>
          </a:p>
          <a:p>
            <a:pPr algn="l">
              <a:spcAft>
                <a:spcPts val="1200"/>
              </a:spcAft>
            </a:pPr>
            <a:r>
              <a:rPr sz="1600" b="0">
                <a:solidFill>
                  <a:srgbClr val="000000"/>
                </a:solidFill>
              </a:rPr>
              <a:t>•  All positions computed in parallel (GPU or CPU)</a:t>
            </a:r>
          </a:p>
          <a:p>
            <a:pPr algn="l">
              <a:spcAft>
                <a:spcPts val="1200"/>
              </a:spcAft>
            </a:pPr>
            <a:r>
              <a:rPr sz="1600" b="0">
                <a:solidFill>
                  <a:srgbClr val="000000"/>
                </a:solidFill>
              </a:rPr>
              <a:t>•  Pre-train once on huge unlabelled text, then fine-tune</a:t>
            </a:r>
          </a:p>
          <a:p>
            <a:pPr algn="l">
              <a:spcAft>
                <a:spcPts val="1200"/>
              </a:spcAft>
            </a:pPr>
            <a:r>
              <a:rPr sz="1600" b="0">
                <a:solidFill>
                  <a:srgbClr val="000000"/>
                </a:solidFill>
              </a:rPr>
              <a:t>•  Basis of BERT, GPT, T5 and LitLat BERT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itle 4"/>
          <p:cNvSpPr>
            <a:spLocks noGrp="1"/>
          </p:cNvSpPr>
          <p:nvPr>
            <p:ph type="title"/>
          </p:nvPr>
        </p:nvSpPr>
        <p:spPr>
          <a:xfrm>
            <a:off x="429768" y="320040"/>
            <a:ext cx="7086600" cy="1325880"/>
          </a:xfrm>
        </p:spPr>
        <p:txBody>
          <a:bodyPr anchor="ctr"/>
          <a:lstStyle/>
          <a:p>
            <a:r>
              <a:rPr sz="2800" b="1"/>
              <a:t>Self-attention: each word looks at the whole sentence</a:t>
            </a:r>
          </a:p>
        </p:txBody>
      </p:sp>
      <p:pic>
        <p:nvPicPr>
          <p:cNvPr id="6" name="Picture 5" descr="arch_diagram.png"/>
          <p:cNvPicPr>
            <a:picLocks noChangeAspect="1"/>
          </p:cNvPicPr>
          <p:nvPr/>
        </p:nvPicPr>
        <p:blipFill>
          <a:blip r:embed="rId2"/>
          <a:stretch>
            <a:fillRect/>
          </a:stretch>
        </p:blipFill>
        <p:spPr>
          <a:xfrm>
            <a:off x="457200" y="1737360"/>
            <a:ext cx="3639065" cy="4343400"/>
          </a:xfrm>
          <a:prstGeom prst="rect">
            <a:avLst/>
          </a:prstGeom>
        </p:spPr>
      </p:pic>
      <p:sp>
        <p:nvSpPr>
          <p:cNvPr id="7" name="Rectangle 6"/>
          <p:cNvSpPr/>
          <p:nvPr/>
        </p:nvSpPr>
        <p:spPr>
          <a:xfrm>
            <a:off x="4434840" y="1783080"/>
            <a:ext cx="4279392" cy="868680"/>
          </a:xfrm>
          <a:prstGeom prst="rect">
            <a:avLst/>
          </a:prstGeom>
          <a:solidFill>
            <a:srgbClr val="E6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810512"/>
            <a:ext cx="4114800" cy="502920"/>
          </a:xfrm>
          <a:prstGeom prst="rect">
            <a:avLst/>
          </a:prstGeom>
          <a:noFill/>
        </p:spPr>
        <p:txBody>
          <a:bodyPr wrap="square" anchor="ctr" lIns="45720" rIns="45720" tIns="27432" bIns="27432">
            <a:spAutoFit/>
          </a:bodyPr>
          <a:lstStyle/>
          <a:p>
            <a:pPr algn="ctr">
              <a:spcAft>
                <a:spcPts val="400"/>
              </a:spcAft>
            </a:pPr>
            <a:r>
              <a:rPr sz="1500" b="1">
                <a:solidFill>
                  <a:srgbClr val="0B4DC7"/>
                </a:solidFill>
              </a:rPr>
              <a:t>Attention(Q, K, V) = softmax( QKᵀ / √dₖ ) · V</a:t>
            </a:r>
          </a:p>
        </p:txBody>
      </p:sp>
      <p:sp>
        <p:nvSpPr>
          <p:cNvPr id="9" name="TextBox 8"/>
          <p:cNvSpPr txBox="1"/>
          <p:nvPr/>
        </p:nvSpPr>
        <p:spPr>
          <a:xfrm>
            <a:off x="4526280" y="2286000"/>
            <a:ext cx="4114800" cy="320040"/>
          </a:xfrm>
          <a:prstGeom prst="rect">
            <a:avLst/>
          </a:prstGeom>
          <a:noFill/>
        </p:spPr>
        <p:txBody>
          <a:bodyPr wrap="square" anchor="t" lIns="45720" rIns="45720" tIns="27432" bIns="27432">
            <a:spAutoFit/>
          </a:bodyPr>
          <a:lstStyle/>
          <a:p>
            <a:pPr algn="ctr">
              <a:spcAft>
                <a:spcPts val="400"/>
              </a:spcAft>
            </a:pPr>
            <a:r>
              <a:rPr sz="1200" b="0">
                <a:solidFill>
                  <a:srgbClr val="595959"/>
                </a:solidFill>
              </a:rPr>
              <a:t>queries · keys → weights → weighted mix of values</a:t>
            </a:r>
          </a:p>
        </p:txBody>
      </p:sp>
      <p:sp>
        <p:nvSpPr>
          <p:cNvPr id="10" name="Oval 9"/>
          <p:cNvSpPr/>
          <p:nvPr/>
        </p:nvSpPr>
        <p:spPr>
          <a:xfrm>
            <a:off x="4434840" y="2916936"/>
            <a:ext cx="347472" cy="347472"/>
          </a:xfrm>
          <a:prstGeom prst="ellipse">
            <a:avLst/>
          </a:prstGeom>
          <a:solidFill>
            <a:srgbClr val="0B4D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1</a:t>
            </a:r>
          </a:p>
        </p:txBody>
      </p:sp>
      <p:sp>
        <p:nvSpPr>
          <p:cNvPr id="11" name="TextBox 10"/>
          <p:cNvSpPr txBox="1"/>
          <p:nvPr/>
        </p:nvSpPr>
        <p:spPr>
          <a:xfrm>
            <a:off x="4892040" y="2862072"/>
            <a:ext cx="3840480" cy="731520"/>
          </a:xfrm>
          <a:prstGeom prst="rect">
            <a:avLst/>
          </a:prstGeom>
          <a:noFill/>
        </p:spPr>
        <p:txBody>
          <a:bodyPr wrap="square" anchor="t" lIns="45720" rIns="45720" tIns="27432" bIns="27432">
            <a:spAutoFit/>
          </a:bodyPr>
          <a:lstStyle/>
          <a:p>
            <a:pPr algn="l">
              <a:spcAft>
                <a:spcPts val="100"/>
              </a:spcAft>
            </a:pPr>
            <a:r>
              <a:rPr sz="1400" b="1">
                <a:solidFill>
                  <a:srgbClr val="000000"/>
                </a:solidFill>
              </a:rPr>
              <a:t>Sub-word tokens + position embeddings</a:t>
            </a:r>
          </a:p>
          <a:p>
            <a:pPr algn="l">
              <a:spcAft>
                <a:spcPts val="400"/>
              </a:spcAft>
            </a:pPr>
            <a:r>
              <a:rPr sz="1200" b="0">
                <a:solidFill>
                  <a:srgbClr val="595959"/>
                </a:solidFill>
              </a:rPr>
              <a:t>WordPiece: “unwatchable” → un ##watch ##able</a:t>
            </a:r>
          </a:p>
        </p:txBody>
      </p:sp>
      <p:sp>
        <p:nvSpPr>
          <p:cNvPr id="12" name="Oval 11"/>
          <p:cNvSpPr/>
          <p:nvPr/>
        </p:nvSpPr>
        <p:spPr>
          <a:xfrm>
            <a:off x="4434840" y="3685031"/>
            <a:ext cx="347472" cy="347472"/>
          </a:xfrm>
          <a:prstGeom prst="ellipse">
            <a:avLst/>
          </a:prstGeom>
          <a:solidFill>
            <a:srgbClr val="F68B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2</a:t>
            </a:r>
          </a:p>
        </p:txBody>
      </p:sp>
      <p:sp>
        <p:nvSpPr>
          <p:cNvPr id="13" name="TextBox 12"/>
          <p:cNvSpPr txBox="1"/>
          <p:nvPr/>
        </p:nvSpPr>
        <p:spPr>
          <a:xfrm>
            <a:off x="4892040" y="3630168"/>
            <a:ext cx="3840480" cy="731520"/>
          </a:xfrm>
          <a:prstGeom prst="rect">
            <a:avLst/>
          </a:prstGeom>
          <a:noFill/>
        </p:spPr>
        <p:txBody>
          <a:bodyPr wrap="square" anchor="t" lIns="45720" rIns="45720" tIns="27432" bIns="27432">
            <a:spAutoFit/>
          </a:bodyPr>
          <a:lstStyle/>
          <a:p>
            <a:pPr algn="l">
              <a:spcAft>
                <a:spcPts val="100"/>
              </a:spcAft>
            </a:pPr>
            <a:r>
              <a:rPr sz="1400" b="1">
                <a:solidFill>
                  <a:srgbClr val="000000"/>
                </a:solidFill>
              </a:rPr>
              <a:t>Multi-head attention</a:t>
            </a:r>
          </a:p>
          <a:p>
            <a:pPr algn="l">
              <a:spcAft>
                <a:spcPts val="400"/>
              </a:spcAft>
            </a:pPr>
            <a:r>
              <a:rPr sz="1200" b="0">
                <a:solidFill>
                  <a:srgbClr val="595959"/>
                </a:solidFill>
              </a:rPr>
              <a:t>h heads learn different relations (negation scope, syntax)</a:t>
            </a:r>
          </a:p>
        </p:txBody>
      </p:sp>
      <p:sp>
        <p:nvSpPr>
          <p:cNvPr id="14" name="Oval 13"/>
          <p:cNvSpPr/>
          <p:nvPr/>
        </p:nvSpPr>
        <p:spPr>
          <a:xfrm>
            <a:off x="4434840" y="4453128"/>
            <a:ext cx="347472" cy="347472"/>
          </a:xfrm>
          <a:prstGeom prst="ellipse">
            <a:avLst/>
          </a:prstGeom>
          <a:solidFill>
            <a:srgbClr val="0B4D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3</a:t>
            </a:r>
          </a:p>
        </p:txBody>
      </p:sp>
      <p:sp>
        <p:nvSpPr>
          <p:cNvPr id="15" name="TextBox 14"/>
          <p:cNvSpPr txBox="1"/>
          <p:nvPr/>
        </p:nvSpPr>
        <p:spPr>
          <a:xfrm>
            <a:off x="4892040" y="4398264"/>
            <a:ext cx="3840480" cy="731520"/>
          </a:xfrm>
          <a:prstGeom prst="rect">
            <a:avLst/>
          </a:prstGeom>
          <a:noFill/>
        </p:spPr>
        <p:txBody>
          <a:bodyPr wrap="square" anchor="t" lIns="45720" rIns="45720" tIns="27432" bIns="27432">
            <a:spAutoFit/>
          </a:bodyPr>
          <a:lstStyle/>
          <a:p>
            <a:pPr algn="l">
              <a:spcAft>
                <a:spcPts val="100"/>
              </a:spcAft>
            </a:pPr>
            <a:r>
              <a:rPr sz="1400" b="1">
                <a:solidFill>
                  <a:srgbClr val="000000"/>
                </a:solidFill>
              </a:rPr>
              <a:t>Feed-forward + residual + LayerNorm</a:t>
            </a:r>
          </a:p>
          <a:p>
            <a:pPr algn="l">
              <a:spcAft>
                <a:spcPts val="400"/>
              </a:spcAft>
            </a:pPr>
            <a:r>
              <a:rPr sz="1200" b="0">
                <a:solidFill>
                  <a:srgbClr val="595959"/>
                </a:solidFill>
              </a:rPr>
              <a:t>Stacked L times (2, 4 or 6 layers in our models)</a:t>
            </a:r>
          </a:p>
        </p:txBody>
      </p:sp>
      <p:sp>
        <p:nvSpPr>
          <p:cNvPr id="16" name="Oval 15"/>
          <p:cNvSpPr/>
          <p:nvPr/>
        </p:nvSpPr>
        <p:spPr>
          <a:xfrm>
            <a:off x="4434840" y="5221224"/>
            <a:ext cx="347472" cy="347472"/>
          </a:xfrm>
          <a:prstGeom prst="ellipse">
            <a:avLst/>
          </a:prstGeom>
          <a:solidFill>
            <a:srgbClr val="F68B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4</a:t>
            </a:r>
          </a:p>
        </p:txBody>
      </p:sp>
      <p:sp>
        <p:nvSpPr>
          <p:cNvPr id="17" name="TextBox 16"/>
          <p:cNvSpPr txBox="1"/>
          <p:nvPr/>
        </p:nvSpPr>
        <p:spPr>
          <a:xfrm>
            <a:off x="4892040" y="5166360"/>
            <a:ext cx="3840480" cy="731520"/>
          </a:xfrm>
          <a:prstGeom prst="rect">
            <a:avLst/>
          </a:prstGeom>
          <a:noFill/>
        </p:spPr>
        <p:txBody>
          <a:bodyPr wrap="square" anchor="t" lIns="45720" rIns="45720" tIns="27432" bIns="27432">
            <a:spAutoFit/>
          </a:bodyPr>
          <a:lstStyle/>
          <a:p>
            <a:pPr algn="l">
              <a:spcAft>
                <a:spcPts val="100"/>
              </a:spcAft>
            </a:pPr>
            <a:r>
              <a:rPr sz="1400" b="1">
                <a:solidFill>
                  <a:srgbClr val="000000"/>
                </a:solidFill>
              </a:rPr>
              <a:t>[CLS] vector → softmax classifier</a:t>
            </a:r>
          </a:p>
          <a:p>
            <a:pPr algn="l">
              <a:spcAft>
                <a:spcPts val="400"/>
              </a:spcAft>
            </a:pPr>
            <a:r>
              <a:rPr sz="1200" b="0">
                <a:solidFill>
                  <a:srgbClr val="595959"/>
                </a:solidFill>
              </a:rPr>
              <a:t>Whole network fine-tuned with cross-entropy + AdamW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itle 4"/>
          <p:cNvSpPr>
            <a:spLocks noGrp="1"/>
          </p:cNvSpPr>
          <p:nvPr>
            <p:ph type="title"/>
          </p:nvPr>
        </p:nvSpPr>
        <p:spPr>
          <a:xfrm>
            <a:off x="429768" y="320040"/>
            <a:ext cx="7086600" cy="1325880"/>
          </a:xfrm>
        </p:spPr>
        <p:txBody>
          <a:bodyPr anchor="ctr"/>
          <a:lstStyle/>
          <a:p>
            <a:r>
              <a:rPr sz="2800" b="1"/>
              <a:t>Literature: what is known, and what is missing</a:t>
            </a:r>
          </a:p>
        </p:txBody>
      </p:sp>
      <p:sp>
        <p:nvSpPr>
          <p:cNvPr id="6" name="Rectangle 5"/>
          <p:cNvSpPr/>
          <p:nvPr/>
        </p:nvSpPr>
        <p:spPr>
          <a:xfrm>
            <a:off x="429768" y="1691640"/>
            <a:ext cx="2706624" cy="1097280"/>
          </a:xfrm>
          <a:prstGeom prst="rect">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9768" y="1691640"/>
            <a:ext cx="82296" cy="1097280"/>
          </a:xfrm>
          <a:prstGeom prst="rect">
            <a:avLst/>
          </a:prstGeom>
          <a:solidFill>
            <a:srgbClr val="00DD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 y="1737360"/>
            <a:ext cx="2468880" cy="365760"/>
          </a:xfrm>
          <a:prstGeom prst="rect">
            <a:avLst/>
          </a:prstGeom>
          <a:noFill/>
        </p:spPr>
        <p:txBody>
          <a:bodyPr wrap="square" anchor="t" lIns="45720" rIns="45720" tIns="27432" bIns="27432">
            <a:spAutoFit/>
          </a:bodyPr>
          <a:lstStyle/>
          <a:p>
            <a:pPr algn="l">
              <a:spcAft>
                <a:spcPts val="400"/>
              </a:spcAft>
            </a:pPr>
            <a:r>
              <a:rPr sz="1500" b="1">
                <a:solidFill>
                  <a:srgbClr val="009E72"/>
                </a:solidFill>
              </a:rPr>
              <a:t>Encoder-only</a:t>
            </a:r>
          </a:p>
        </p:txBody>
      </p:sp>
      <p:sp>
        <p:nvSpPr>
          <p:cNvPr id="9" name="TextBox 8"/>
          <p:cNvSpPr txBox="1"/>
          <p:nvPr/>
        </p:nvSpPr>
        <p:spPr>
          <a:xfrm>
            <a:off x="630936" y="2103120"/>
            <a:ext cx="2468880" cy="640080"/>
          </a:xfrm>
          <a:prstGeom prst="rect">
            <a:avLst/>
          </a:prstGeom>
          <a:noFill/>
        </p:spPr>
        <p:txBody>
          <a:bodyPr wrap="square" anchor="t" lIns="45720" rIns="45720" tIns="27432" bIns="27432">
            <a:spAutoFit/>
          </a:bodyPr>
          <a:lstStyle/>
          <a:p>
            <a:pPr algn="l">
              <a:spcAft>
                <a:spcPts val="200"/>
              </a:spcAft>
            </a:pPr>
            <a:r>
              <a:rPr sz="1200" b="1">
                <a:solidFill>
                  <a:srgbClr val="000000"/>
                </a:solidFill>
              </a:rPr>
              <a:t>BERT, DistilBERT, RoBERTa</a:t>
            </a:r>
          </a:p>
          <a:p>
            <a:pPr algn="l">
              <a:spcAft>
                <a:spcPts val="400"/>
              </a:spcAft>
            </a:pPr>
            <a:r>
              <a:rPr sz="1200" b="0">
                <a:solidFill>
                  <a:srgbClr val="595959"/>
                </a:solidFill>
              </a:rPr>
              <a:t>understanding, classification</a:t>
            </a:r>
          </a:p>
        </p:txBody>
      </p:sp>
      <p:sp>
        <p:nvSpPr>
          <p:cNvPr id="10" name="Rectangle 9"/>
          <p:cNvSpPr/>
          <p:nvPr/>
        </p:nvSpPr>
        <p:spPr>
          <a:xfrm>
            <a:off x="3264408" y="1691640"/>
            <a:ext cx="2706624" cy="1097280"/>
          </a:xfrm>
          <a:prstGeom prst="rect">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64408" y="1691640"/>
            <a:ext cx="82296" cy="1097280"/>
          </a:xfrm>
          <a:prstGeom prst="rect">
            <a:avLst/>
          </a:prstGeom>
          <a:solidFill>
            <a:srgbClr val="3EB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65576" y="1737360"/>
            <a:ext cx="2468880" cy="365760"/>
          </a:xfrm>
          <a:prstGeom prst="rect">
            <a:avLst/>
          </a:prstGeom>
          <a:noFill/>
        </p:spPr>
        <p:txBody>
          <a:bodyPr wrap="square" anchor="t" lIns="45720" rIns="45720" tIns="27432" bIns="27432">
            <a:spAutoFit/>
          </a:bodyPr>
          <a:lstStyle/>
          <a:p>
            <a:pPr algn="l">
              <a:spcAft>
                <a:spcPts val="400"/>
              </a:spcAft>
            </a:pPr>
            <a:r>
              <a:rPr sz="1500" b="1">
                <a:solidFill>
                  <a:srgbClr val="3EB8D8"/>
                </a:solidFill>
              </a:rPr>
              <a:t>Decoder-only</a:t>
            </a:r>
          </a:p>
        </p:txBody>
      </p:sp>
      <p:sp>
        <p:nvSpPr>
          <p:cNvPr id="13" name="TextBox 12"/>
          <p:cNvSpPr txBox="1"/>
          <p:nvPr/>
        </p:nvSpPr>
        <p:spPr>
          <a:xfrm>
            <a:off x="3465576" y="2103120"/>
            <a:ext cx="2468880" cy="640080"/>
          </a:xfrm>
          <a:prstGeom prst="rect">
            <a:avLst/>
          </a:prstGeom>
          <a:noFill/>
        </p:spPr>
        <p:txBody>
          <a:bodyPr wrap="square" anchor="t" lIns="45720" rIns="45720" tIns="27432" bIns="27432">
            <a:spAutoFit/>
          </a:bodyPr>
          <a:lstStyle/>
          <a:p>
            <a:pPr algn="l">
              <a:spcAft>
                <a:spcPts val="200"/>
              </a:spcAft>
            </a:pPr>
            <a:r>
              <a:rPr sz="1200" b="1">
                <a:solidFill>
                  <a:srgbClr val="000000"/>
                </a:solidFill>
              </a:rPr>
              <a:t>GPT, Llama</a:t>
            </a:r>
          </a:p>
          <a:p>
            <a:pPr algn="l">
              <a:spcAft>
                <a:spcPts val="400"/>
              </a:spcAft>
            </a:pPr>
            <a:r>
              <a:rPr sz="1200" b="0">
                <a:solidFill>
                  <a:srgbClr val="595959"/>
                </a:solidFill>
              </a:rPr>
              <a:t>text generation</a:t>
            </a:r>
          </a:p>
        </p:txBody>
      </p:sp>
      <p:sp>
        <p:nvSpPr>
          <p:cNvPr id="14" name="Rectangle 13"/>
          <p:cNvSpPr/>
          <p:nvPr/>
        </p:nvSpPr>
        <p:spPr>
          <a:xfrm>
            <a:off x="6099048" y="1691640"/>
            <a:ext cx="2706624" cy="1097280"/>
          </a:xfrm>
          <a:prstGeom prst="rect">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99048" y="1691640"/>
            <a:ext cx="82296" cy="1097280"/>
          </a:xfrm>
          <a:prstGeom prst="rect">
            <a:avLst/>
          </a:prstGeom>
          <a:solidFill>
            <a:srgbClr val="0B4D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0216" y="1737360"/>
            <a:ext cx="2468880" cy="365760"/>
          </a:xfrm>
          <a:prstGeom prst="rect">
            <a:avLst/>
          </a:prstGeom>
          <a:noFill/>
        </p:spPr>
        <p:txBody>
          <a:bodyPr wrap="square" anchor="t" lIns="45720" rIns="45720" tIns="27432" bIns="27432">
            <a:spAutoFit/>
          </a:bodyPr>
          <a:lstStyle/>
          <a:p>
            <a:pPr algn="l">
              <a:spcAft>
                <a:spcPts val="400"/>
              </a:spcAft>
            </a:pPr>
            <a:r>
              <a:rPr sz="1500" b="1">
                <a:solidFill>
                  <a:srgbClr val="0B4DC7"/>
                </a:solidFill>
              </a:rPr>
              <a:t>Encoder–decoder</a:t>
            </a:r>
          </a:p>
        </p:txBody>
      </p:sp>
      <p:sp>
        <p:nvSpPr>
          <p:cNvPr id="17" name="TextBox 16"/>
          <p:cNvSpPr txBox="1"/>
          <p:nvPr/>
        </p:nvSpPr>
        <p:spPr>
          <a:xfrm>
            <a:off x="6300216" y="2103120"/>
            <a:ext cx="2468880" cy="640080"/>
          </a:xfrm>
          <a:prstGeom prst="rect">
            <a:avLst/>
          </a:prstGeom>
          <a:noFill/>
        </p:spPr>
        <p:txBody>
          <a:bodyPr wrap="square" anchor="t" lIns="45720" rIns="45720" tIns="27432" bIns="27432">
            <a:spAutoFit/>
          </a:bodyPr>
          <a:lstStyle/>
          <a:p>
            <a:pPr algn="l">
              <a:spcAft>
                <a:spcPts val="200"/>
              </a:spcAft>
            </a:pPr>
            <a:r>
              <a:rPr sz="1200" b="1">
                <a:solidFill>
                  <a:srgbClr val="000000"/>
                </a:solidFill>
              </a:rPr>
              <a:t>T5, BART</a:t>
            </a:r>
          </a:p>
          <a:p>
            <a:pPr algn="l">
              <a:spcAft>
                <a:spcPts val="400"/>
              </a:spcAft>
            </a:pPr>
            <a:r>
              <a:rPr sz="1200" b="0">
                <a:solidFill>
                  <a:srgbClr val="595959"/>
                </a:solidFill>
              </a:rPr>
              <a:t>translation, summaries</a:t>
            </a:r>
          </a:p>
        </p:txBody>
      </p:sp>
      <p:sp>
        <p:nvSpPr>
          <p:cNvPr id="18" name="TextBox 17"/>
          <p:cNvSpPr txBox="1"/>
          <p:nvPr/>
        </p:nvSpPr>
        <p:spPr>
          <a:xfrm>
            <a:off x="429768" y="3017520"/>
            <a:ext cx="4846320" cy="411480"/>
          </a:xfrm>
          <a:prstGeom prst="rect">
            <a:avLst/>
          </a:prstGeom>
          <a:noFill/>
        </p:spPr>
        <p:txBody>
          <a:bodyPr wrap="square" anchor="t" lIns="45720" rIns="45720" tIns="27432" bIns="27432">
            <a:spAutoFit/>
          </a:bodyPr>
          <a:lstStyle/>
          <a:p>
            <a:pPr algn="l">
              <a:spcAft>
                <a:spcPts val="400"/>
              </a:spcAft>
            </a:pPr>
            <a:r>
              <a:rPr sz="1600" b="1">
                <a:solidFill>
                  <a:srgbClr val="0B4DC7"/>
                </a:solidFill>
              </a:rPr>
              <a:t>What the studies show</a:t>
            </a:r>
          </a:p>
        </p:txBody>
      </p:sp>
      <p:sp>
        <p:nvSpPr>
          <p:cNvPr id="19" name="Oval 18"/>
          <p:cNvSpPr/>
          <p:nvPr/>
        </p:nvSpPr>
        <p:spPr>
          <a:xfrm>
            <a:off x="429768" y="3538728"/>
            <a:ext cx="329184" cy="329184"/>
          </a:xfrm>
          <a:prstGeom prst="ellipse">
            <a:avLst/>
          </a:prstGeom>
          <a:solidFill>
            <a:srgbClr val="0B4D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1</a:t>
            </a:r>
          </a:p>
        </p:txBody>
      </p:sp>
      <p:sp>
        <p:nvSpPr>
          <p:cNvPr id="20" name="TextBox 19"/>
          <p:cNvSpPr txBox="1"/>
          <p:nvPr/>
        </p:nvSpPr>
        <p:spPr>
          <a:xfrm>
            <a:off x="868680" y="3502152"/>
            <a:ext cx="4434840" cy="868680"/>
          </a:xfrm>
          <a:prstGeom prst="rect">
            <a:avLst/>
          </a:prstGeom>
          <a:noFill/>
        </p:spPr>
        <p:txBody>
          <a:bodyPr wrap="square" anchor="t" lIns="45720" rIns="45720" tIns="27432" bIns="27432">
            <a:spAutoFit/>
          </a:bodyPr>
          <a:lstStyle/>
          <a:p>
            <a:pPr algn="l">
              <a:spcAft>
                <a:spcPts val="400"/>
              </a:spcAft>
            </a:pPr>
            <a:r>
              <a:rPr sz="1300" b="1">
                <a:solidFill>
                  <a:srgbClr val="000000"/>
                </a:solidFill>
              </a:rPr>
              <a:t>Transformers are the most accurate.</a:t>
            </a:r>
            <a:r>
              <a:rPr sz="1300" b="0">
                <a:solidFill>
                  <a:srgbClr val="000000"/>
                </a:solidFill>
              </a:rPr>
              <a:t> Fine-tuned BERT-type models exceed 90% on SST-2; classical models reach about 79–83%.</a:t>
            </a:r>
          </a:p>
        </p:txBody>
      </p:sp>
      <p:sp>
        <p:nvSpPr>
          <p:cNvPr id="21" name="Oval 20"/>
          <p:cNvSpPr/>
          <p:nvPr/>
        </p:nvSpPr>
        <p:spPr>
          <a:xfrm>
            <a:off x="429768" y="4407407"/>
            <a:ext cx="329184" cy="329184"/>
          </a:xfrm>
          <a:prstGeom prst="ellipse">
            <a:avLst/>
          </a:prstGeom>
          <a:solidFill>
            <a:srgbClr val="0B4D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2</a:t>
            </a:r>
          </a:p>
        </p:txBody>
      </p:sp>
      <p:sp>
        <p:nvSpPr>
          <p:cNvPr id="22" name="TextBox 21"/>
          <p:cNvSpPr txBox="1"/>
          <p:nvPr/>
        </p:nvSpPr>
        <p:spPr>
          <a:xfrm>
            <a:off x="868680" y="4370832"/>
            <a:ext cx="4434840" cy="868680"/>
          </a:xfrm>
          <a:prstGeom prst="rect">
            <a:avLst/>
          </a:prstGeom>
          <a:noFill/>
        </p:spPr>
        <p:txBody>
          <a:bodyPr wrap="square" anchor="t" lIns="45720" rIns="45720" tIns="27432" bIns="27432">
            <a:spAutoFit/>
          </a:bodyPr>
          <a:lstStyle/>
          <a:p>
            <a:pPr algn="l">
              <a:spcAft>
                <a:spcPts val="400"/>
              </a:spcAft>
            </a:pPr>
            <a:r>
              <a:rPr sz="1300" b="1">
                <a:solidFill>
                  <a:srgbClr val="000000"/>
                </a:solidFill>
              </a:rPr>
              <a:t>Without pre-training, small data is a problem.</a:t>
            </a:r>
            <a:r>
              <a:rPr sz="1300" b="0">
                <a:solidFill>
                  <a:srgbClr val="000000"/>
                </a:solidFill>
              </a:rPr>
              <a:t> In Lithuania a simple naive Bayes (0.735) beat LSTM and CNN networks (0.706), Kapočiūtė-Dzikienė et al. (2019).</a:t>
            </a:r>
          </a:p>
        </p:txBody>
      </p:sp>
      <p:sp>
        <p:nvSpPr>
          <p:cNvPr id="23" name="Oval 22"/>
          <p:cNvSpPr/>
          <p:nvPr/>
        </p:nvSpPr>
        <p:spPr>
          <a:xfrm>
            <a:off x="429768" y="5276088"/>
            <a:ext cx="329184" cy="329184"/>
          </a:xfrm>
          <a:prstGeom prst="ellipse">
            <a:avLst/>
          </a:prstGeom>
          <a:solidFill>
            <a:srgbClr val="0B4D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3</a:t>
            </a:r>
          </a:p>
        </p:txBody>
      </p:sp>
      <p:sp>
        <p:nvSpPr>
          <p:cNvPr id="24" name="TextBox 23"/>
          <p:cNvSpPr txBox="1"/>
          <p:nvPr/>
        </p:nvSpPr>
        <p:spPr>
          <a:xfrm>
            <a:off x="868680" y="5239512"/>
            <a:ext cx="4434840" cy="868680"/>
          </a:xfrm>
          <a:prstGeom prst="rect">
            <a:avLst/>
          </a:prstGeom>
          <a:noFill/>
        </p:spPr>
        <p:txBody>
          <a:bodyPr wrap="square" anchor="t" lIns="45720" rIns="45720" tIns="27432" bIns="27432">
            <a:spAutoFit/>
          </a:bodyPr>
          <a:lstStyle/>
          <a:p>
            <a:pPr algn="l">
              <a:spcAft>
                <a:spcPts val="400"/>
              </a:spcAft>
            </a:pPr>
            <a:r>
              <a:rPr sz="1300" b="1">
                <a:solidFill>
                  <a:srgbClr val="000000"/>
                </a:solidFill>
              </a:rPr>
              <a:t>Lithuanian now has pre-trained models.</a:t>
            </a:r>
            <a:r>
              <a:rPr sz="1300" b="0">
                <a:solidFill>
                  <a:srgbClr val="000000"/>
                </a:solidFill>
              </a:rPr>
              <a:t> LitLat BERT (2021), BERT and T5 for reviews (2024), the first open Llama2 models (2024).</a:t>
            </a:r>
          </a:p>
        </p:txBody>
      </p:sp>
      <p:sp>
        <p:nvSpPr>
          <p:cNvPr id="25" name="Rectangle 24"/>
          <p:cNvSpPr/>
          <p:nvPr/>
        </p:nvSpPr>
        <p:spPr>
          <a:xfrm>
            <a:off x="5440680" y="3017520"/>
            <a:ext cx="3273552" cy="2926080"/>
          </a:xfrm>
          <a:prstGeom prst="rect">
            <a:avLst/>
          </a:prstGeom>
          <a:solidFill>
            <a:srgbClr val="FEF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40680" y="3017520"/>
            <a:ext cx="3273552" cy="64008"/>
          </a:xfrm>
          <a:prstGeom prst="rect">
            <a:avLst/>
          </a:prstGeom>
          <a:solidFill>
            <a:srgbClr val="F68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96128" y="3154680"/>
            <a:ext cx="3017520" cy="411480"/>
          </a:xfrm>
          <a:prstGeom prst="rect">
            <a:avLst/>
          </a:prstGeom>
          <a:noFill/>
        </p:spPr>
        <p:txBody>
          <a:bodyPr wrap="square" anchor="t" lIns="45720" rIns="45720" tIns="27432" bIns="27432">
            <a:spAutoFit/>
          </a:bodyPr>
          <a:lstStyle/>
          <a:p>
            <a:pPr algn="l">
              <a:spcAft>
                <a:spcPts val="400"/>
              </a:spcAft>
            </a:pPr>
            <a:r>
              <a:rPr sz="1500" b="1">
                <a:solidFill>
                  <a:srgbClr val="B8441B"/>
                </a:solidFill>
              </a:rPr>
              <a:t>What is missing: our gap</a:t>
            </a:r>
          </a:p>
        </p:txBody>
      </p:sp>
      <p:sp>
        <p:nvSpPr>
          <p:cNvPr id="28" name="TextBox 27"/>
          <p:cNvSpPr txBox="1"/>
          <p:nvPr/>
        </p:nvSpPr>
        <p:spPr>
          <a:xfrm>
            <a:off x="5596128" y="3611880"/>
            <a:ext cx="3017520" cy="2286000"/>
          </a:xfrm>
          <a:prstGeom prst="rect">
            <a:avLst/>
          </a:prstGeom>
          <a:noFill/>
        </p:spPr>
        <p:txBody>
          <a:bodyPr wrap="square" anchor="t" lIns="45720" rIns="45720" tIns="27432" bIns="27432">
            <a:spAutoFit/>
          </a:bodyPr>
          <a:lstStyle/>
          <a:p>
            <a:pPr algn="l">
              <a:spcAft>
                <a:spcPts val="600"/>
              </a:spcAft>
            </a:pPr>
            <a:r>
              <a:rPr sz="1200" b="0">
                <a:solidFill>
                  <a:srgbClr val="000000"/>
                </a:solidFill>
              </a:rPr>
              <a:t>These studies report accuracy. They rarely tell a student with a laptop:</a:t>
            </a:r>
          </a:p>
          <a:p>
            <a:pPr algn="l">
              <a:spcAft>
                <a:spcPts val="400"/>
              </a:spcAft>
            </a:pPr>
            <a:r>
              <a:rPr sz="1200" b="0">
                <a:solidFill>
                  <a:srgbClr val="000000"/>
                </a:solidFill>
              </a:rPr>
              <a:t>•  What does the better model cost? (time, speed, size)</a:t>
            </a:r>
          </a:p>
          <a:p>
            <a:pPr algn="l">
              <a:spcAft>
                <a:spcPts val="400"/>
              </a:spcAft>
            </a:pPr>
            <a:r>
              <a:rPr sz="1200" b="0">
                <a:solidFill>
                  <a:srgbClr val="000000"/>
                </a:solidFill>
              </a:rPr>
              <a:t>•  How many labelled sentences does it need?</a:t>
            </a:r>
          </a:p>
          <a:p>
            <a:pPr algn="l">
              <a:spcAft>
                <a:spcPts val="800"/>
              </a:spcAft>
            </a:pPr>
            <a:r>
              <a:rPr sz="1200" b="0">
                <a:solidFill>
                  <a:srgbClr val="000000"/>
                </a:solidFill>
              </a:rPr>
              <a:t>•  Is a ready-made model good enough?</a:t>
            </a:r>
          </a:p>
          <a:p>
            <a:pPr algn="l">
              <a:spcAft>
                <a:spcPts val="400"/>
              </a:spcAft>
            </a:pPr>
            <a:r>
              <a:rPr sz="1200" b="1">
                <a:solidFill>
                  <a:srgbClr val="B8441B"/>
                </a:solidFill>
              </a:rPr>
              <a:t>We measure all three, on one laptop CPU.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itle 4"/>
          <p:cNvSpPr>
            <a:spLocks noGrp="1"/>
          </p:cNvSpPr>
          <p:nvPr>
            <p:ph type="title"/>
          </p:nvPr>
        </p:nvSpPr>
        <p:spPr>
          <a:xfrm>
            <a:off x="429768" y="320040"/>
            <a:ext cx="7086600" cy="1325880"/>
          </a:xfrm>
        </p:spPr>
        <p:txBody>
          <a:bodyPr anchor="ctr"/>
          <a:lstStyle/>
          <a:p>
            <a:r>
              <a:rPr sz="2800" b="1"/>
              <a:t>Experiment: 10 competitors, one dataset, one laptop CPU</a:t>
            </a:r>
          </a:p>
        </p:txBody>
      </p:sp>
      <p:sp>
        <p:nvSpPr>
          <p:cNvPr id="6" name="Rectangle 5"/>
          <p:cNvSpPr/>
          <p:nvPr/>
        </p:nvSpPr>
        <p:spPr>
          <a:xfrm>
            <a:off x="429768" y="1737360"/>
            <a:ext cx="2788920" cy="1143000"/>
          </a:xfrm>
          <a:prstGeom prst="rect">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9768" y="1737360"/>
            <a:ext cx="82296" cy="1143000"/>
          </a:xfrm>
          <a:prstGeom prst="rect">
            <a:avLst/>
          </a:prstGeom>
          <a:solidFill>
            <a:srgbClr val="0B4D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28800"/>
            <a:ext cx="2514600" cy="502920"/>
          </a:xfrm>
          <a:prstGeom prst="rect">
            <a:avLst/>
          </a:prstGeom>
          <a:noFill/>
        </p:spPr>
        <p:txBody>
          <a:bodyPr wrap="square" anchor="t" lIns="45720" rIns="45720" tIns="27432" bIns="27432">
            <a:spAutoFit/>
          </a:bodyPr>
          <a:lstStyle/>
          <a:p>
            <a:pPr algn="l">
              <a:spcAft>
                <a:spcPts val="400"/>
              </a:spcAft>
            </a:pPr>
            <a:r>
              <a:rPr sz="2200" b="1">
                <a:solidFill>
                  <a:srgbClr val="0B4DC7"/>
                </a:solidFill>
              </a:rPr>
              <a:t>SST-2</a:t>
            </a:r>
          </a:p>
        </p:txBody>
      </p:sp>
      <p:sp>
        <p:nvSpPr>
          <p:cNvPr id="9" name="TextBox 8"/>
          <p:cNvSpPr txBox="1"/>
          <p:nvPr/>
        </p:nvSpPr>
        <p:spPr>
          <a:xfrm>
            <a:off x="640080" y="2340864"/>
            <a:ext cx="2514600" cy="502920"/>
          </a:xfrm>
          <a:prstGeom prst="rect">
            <a:avLst/>
          </a:prstGeom>
          <a:noFill/>
        </p:spPr>
        <p:txBody>
          <a:bodyPr wrap="square" anchor="t" lIns="45720" rIns="45720" tIns="27432" bIns="27432">
            <a:spAutoFit/>
          </a:bodyPr>
          <a:lstStyle/>
          <a:p>
            <a:pPr algn="l">
              <a:spcAft>
                <a:spcPts val="400"/>
              </a:spcAft>
            </a:pPr>
            <a:r>
              <a:rPr sz="1150" b="0">
                <a:solidFill>
                  <a:srgbClr val="595959"/>
                </a:solidFill>
              </a:rPr>
              <a:t>movie-review sentences, positive or negative</a:t>
            </a:r>
          </a:p>
        </p:txBody>
      </p:sp>
      <p:sp>
        <p:nvSpPr>
          <p:cNvPr id="10" name="Rectangle 9"/>
          <p:cNvSpPr/>
          <p:nvPr/>
        </p:nvSpPr>
        <p:spPr>
          <a:xfrm>
            <a:off x="429768" y="3063239"/>
            <a:ext cx="2788920" cy="1143000"/>
          </a:xfrm>
          <a:prstGeom prst="rect">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 y="3063239"/>
            <a:ext cx="82296" cy="1143000"/>
          </a:xfrm>
          <a:prstGeom prst="rect">
            <a:avLst/>
          </a:prstGeom>
          <a:solidFill>
            <a:srgbClr val="0B4D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154679"/>
            <a:ext cx="2514600" cy="502920"/>
          </a:xfrm>
          <a:prstGeom prst="rect">
            <a:avLst/>
          </a:prstGeom>
          <a:noFill/>
        </p:spPr>
        <p:txBody>
          <a:bodyPr wrap="square" anchor="t" lIns="45720" rIns="45720" tIns="27432" bIns="27432">
            <a:spAutoFit/>
          </a:bodyPr>
          <a:lstStyle/>
          <a:p>
            <a:pPr algn="l">
              <a:spcAft>
                <a:spcPts val="400"/>
              </a:spcAft>
            </a:pPr>
            <a:r>
              <a:rPr sz="2200" b="1">
                <a:solidFill>
                  <a:srgbClr val="0B4DC7"/>
                </a:solidFill>
              </a:rPr>
              <a:t>65k / 2k / 872</a:t>
            </a:r>
          </a:p>
        </p:txBody>
      </p:sp>
      <p:sp>
        <p:nvSpPr>
          <p:cNvPr id="13" name="TextBox 12"/>
          <p:cNvSpPr txBox="1"/>
          <p:nvPr/>
        </p:nvSpPr>
        <p:spPr>
          <a:xfrm>
            <a:off x="640080" y="3666744"/>
            <a:ext cx="2514600" cy="502920"/>
          </a:xfrm>
          <a:prstGeom prst="rect">
            <a:avLst/>
          </a:prstGeom>
          <a:noFill/>
        </p:spPr>
        <p:txBody>
          <a:bodyPr wrap="square" anchor="t" lIns="45720" rIns="45720" tIns="27432" bIns="27432">
            <a:spAutoFit/>
          </a:bodyPr>
          <a:lstStyle/>
          <a:p>
            <a:pPr algn="l">
              <a:spcAft>
                <a:spcPts val="400"/>
              </a:spcAft>
            </a:pPr>
            <a:r>
              <a:rPr sz="1150" b="0">
                <a:solidFill>
                  <a:srgbClr val="595959"/>
                </a:solidFill>
              </a:rPr>
              <a:t>train / development / test sentences</a:t>
            </a:r>
          </a:p>
        </p:txBody>
      </p:sp>
      <p:sp>
        <p:nvSpPr>
          <p:cNvPr id="14" name="Rectangle 13"/>
          <p:cNvSpPr/>
          <p:nvPr/>
        </p:nvSpPr>
        <p:spPr>
          <a:xfrm>
            <a:off x="429768" y="4389120"/>
            <a:ext cx="2788920" cy="1143000"/>
          </a:xfrm>
          <a:prstGeom prst="rect">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 y="4389120"/>
            <a:ext cx="82296" cy="1143000"/>
          </a:xfrm>
          <a:prstGeom prst="rect">
            <a:avLst/>
          </a:prstGeom>
          <a:solidFill>
            <a:srgbClr val="0B4D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480559"/>
            <a:ext cx="2514600" cy="502920"/>
          </a:xfrm>
          <a:prstGeom prst="rect">
            <a:avLst/>
          </a:prstGeom>
          <a:noFill/>
        </p:spPr>
        <p:txBody>
          <a:bodyPr wrap="square" anchor="t" lIns="45720" rIns="45720" tIns="27432" bIns="27432">
            <a:spAutoFit/>
          </a:bodyPr>
          <a:lstStyle/>
          <a:p>
            <a:pPr algn="l">
              <a:spcAft>
                <a:spcPts val="400"/>
              </a:spcAft>
            </a:pPr>
            <a:r>
              <a:rPr sz="2200" b="1">
                <a:solidFill>
                  <a:srgbClr val="0B4DC7"/>
                </a:solidFill>
              </a:rPr>
              <a:t>i5-8365U</a:t>
            </a:r>
          </a:p>
        </p:txBody>
      </p:sp>
      <p:sp>
        <p:nvSpPr>
          <p:cNvPr id="17" name="TextBox 16"/>
          <p:cNvSpPr txBox="1"/>
          <p:nvPr/>
        </p:nvSpPr>
        <p:spPr>
          <a:xfrm>
            <a:off x="640080" y="4992624"/>
            <a:ext cx="2514600" cy="502920"/>
          </a:xfrm>
          <a:prstGeom prst="rect">
            <a:avLst/>
          </a:prstGeom>
          <a:noFill/>
        </p:spPr>
        <p:txBody>
          <a:bodyPr wrap="square" anchor="t" lIns="45720" rIns="45720" tIns="27432" bIns="27432">
            <a:spAutoFit/>
          </a:bodyPr>
          <a:lstStyle/>
          <a:p>
            <a:pPr algn="l">
              <a:spcAft>
                <a:spcPts val="400"/>
              </a:spcAft>
            </a:pPr>
            <a:r>
              <a:rPr sz="1150" b="0">
                <a:solidFill>
                  <a:srgbClr val="595959"/>
                </a:solidFill>
              </a:rPr>
              <a:t>4-core laptop CPU, 16 GB RAM, no GPU</a:t>
            </a:r>
          </a:p>
        </p:txBody>
      </p:sp>
      <p:sp>
        <p:nvSpPr>
          <p:cNvPr id="18" name="Oval 17"/>
          <p:cNvSpPr/>
          <p:nvPr/>
        </p:nvSpPr>
        <p:spPr>
          <a:xfrm>
            <a:off x="3520440" y="1810512"/>
            <a:ext cx="310896" cy="310896"/>
          </a:xfrm>
          <a:prstGeom prst="ellipse">
            <a:avLst/>
          </a:prstGeom>
          <a:solidFill>
            <a:srgbClr val="3EB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7639" y="1719072"/>
            <a:ext cx="4754880" cy="822960"/>
          </a:xfrm>
          <a:prstGeom prst="rect">
            <a:avLst/>
          </a:prstGeom>
          <a:noFill/>
        </p:spPr>
        <p:txBody>
          <a:bodyPr wrap="square" anchor="t" lIns="45720" rIns="45720" tIns="27432" bIns="27432">
            <a:spAutoFit/>
          </a:bodyPr>
          <a:lstStyle/>
          <a:p>
            <a:pPr algn="l">
              <a:spcAft>
                <a:spcPts val="100"/>
              </a:spcAft>
            </a:pPr>
            <a:r>
              <a:rPr sz="1500" b="1">
                <a:solidFill>
                  <a:srgbClr val="000000"/>
                </a:solidFill>
              </a:rPr>
              <a:t>Classical</a:t>
            </a:r>
          </a:p>
          <a:p>
            <a:pPr algn="l">
              <a:spcAft>
                <a:spcPts val="400"/>
              </a:spcAft>
            </a:pPr>
            <a:r>
              <a:rPr sz="1250" b="0">
                <a:solidFill>
                  <a:srgbClr val="595959"/>
                </a:solidFill>
              </a:rPr>
              <a:t>TF-IDF + Naive Bayes · Logistic Regression · Linear SVM</a:t>
            </a:r>
          </a:p>
        </p:txBody>
      </p:sp>
      <p:sp>
        <p:nvSpPr>
          <p:cNvPr id="20" name="Oval 19"/>
          <p:cNvSpPr/>
          <p:nvPr/>
        </p:nvSpPr>
        <p:spPr>
          <a:xfrm>
            <a:off x="3520440" y="2706624"/>
            <a:ext cx="310896" cy="310896"/>
          </a:xfrm>
          <a:prstGeom prst="ellipse">
            <a:avLst/>
          </a:prstGeom>
          <a:solidFill>
            <a:srgbClr val="F68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77639" y="2615184"/>
            <a:ext cx="4754880" cy="822960"/>
          </a:xfrm>
          <a:prstGeom prst="rect">
            <a:avLst/>
          </a:prstGeom>
          <a:noFill/>
        </p:spPr>
        <p:txBody>
          <a:bodyPr wrap="square" anchor="t" lIns="45720" rIns="45720" tIns="27432" bIns="27432">
            <a:spAutoFit/>
          </a:bodyPr>
          <a:lstStyle/>
          <a:p>
            <a:pPr algn="l">
              <a:spcAft>
                <a:spcPts val="100"/>
              </a:spcAft>
            </a:pPr>
            <a:r>
              <a:rPr sz="1500" b="1">
                <a:solidFill>
                  <a:srgbClr val="000000"/>
                </a:solidFill>
              </a:rPr>
              <a:t>Recurrent</a:t>
            </a:r>
          </a:p>
          <a:p>
            <a:pPr algn="l">
              <a:spcAft>
                <a:spcPts val="400"/>
              </a:spcAft>
            </a:pPr>
            <a:r>
              <a:rPr sz="1250" b="0">
                <a:solidFill>
                  <a:srgbClr val="595959"/>
                </a:solidFill>
              </a:rPr>
              <a:t>BiLSTM trained from scratch</a:t>
            </a:r>
          </a:p>
        </p:txBody>
      </p:sp>
      <p:sp>
        <p:nvSpPr>
          <p:cNvPr id="22" name="Oval 21"/>
          <p:cNvSpPr/>
          <p:nvPr/>
        </p:nvSpPr>
        <p:spPr>
          <a:xfrm>
            <a:off x="3520440" y="3602736"/>
            <a:ext cx="310896" cy="310896"/>
          </a:xfrm>
          <a:prstGeom prst="ellipse">
            <a:avLst/>
          </a:prstGeom>
          <a:solidFill>
            <a:srgbClr val="0B4D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77639" y="3511296"/>
            <a:ext cx="4754880" cy="822960"/>
          </a:xfrm>
          <a:prstGeom prst="rect">
            <a:avLst/>
          </a:prstGeom>
          <a:noFill/>
        </p:spPr>
        <p:txBody>
          <a:bodyPr wrap="square" anchor="t" lIns="45720" rIns="45720" tIns="27432" bIns="27432">
            <a:spAutoFit/>
          </a:bodyPr>
          <a:lstStyle/>
          <a:p>
            <a:pPr algn="l">
              <a:spcAft>
                <a:spcPts val="100"/>
              </a:spcAft>
            </a:pPr>
            <a:r>
              <a:rPr sz="1500" b="1">
                <a:solidFill>
                  <a:srgbClr val="000000"/>
                </a:solidFill>
              </a:rPr>
              <a:t>Fine-tuned by us (8k labels)</a:t>
            </a:r>
          </a:p>
          <a:p>
            <a:pPr algn="l">
              <a:spcAft>
                <a:spcPts val="400"/>
              </a:spcAft>
            </a:pPr>
            <a:r>
              <a:rPr sz="1250" b="0">
                <a:solidFill>
                  <a:srgbClr val="595959"/>
                </a:solidFill>
              </a:rPr>
              <a:t>BERT-tiny 4M · BERT-small 29M · DistilBERT 67M</a:t>
            </a:r>
          </a:p>
        </p:txBody>
      </p:sp>
      <p:sp>
        <p:nvSpPr>
          <p:cNvPr id="24" name="Oval 23"/>
          <p:cNvSpPr/>
          <p:nvPr/>
        </p:nvSpPr>
        <p:spPr>
          <a:xfrm>
            <a:off x="3520440" y="4498848"/>
            <a:ext cx="310896" cy="310896"/>
          </a:xfrm>
          <a:prstGeom prst="ellipse">
            <a:avLst/>
          </a:prstGeom>
          <a:solidFill>
            <a:srgbClr val="00DD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77639" y="4407408"/>
            <a:ext cx="4754880" cy="822960"/>
          </a:xfrm>
          <a:prstGeom prst="rect">
            <a:avLst/>
          </a:prstGeom>
          <a:noFill/>
        </p:spPr>
        <p:txBody>
          <a:bodyPr wrap="square" anchor="t" lIns="45720" rIns="45720" tIns="27432" bIns="27432">
            <a:spAutoFit/>
          </a:bodyPr>
          <a:lstStyle/>
          <a:p>
            <a:pPr algn="l">
              <a:spcAft>
                <a:spcPts val="100"/>
              </a:spcAft>
            </a:pPr>
            <a:r>
              <a:rPr sz="1500" b="1">
                <a:solidFill>
                  <a:srgbClr val="000000"/>
                </a:solidFill>
              </a:rPr>
              <a:t>Ready-made, no training</a:t>
            </a:r>
          </a:p>
          <a:p>
            <a:pPr algn="l">
              <a:spcAft>
                <a:spcPts val="400"/>
              </a:spcAft>
            </a:pPr>
            <a:r>
              <a:rPr sz="1250" b="0">
                <a:solidFill>
                  <a:srgbClr val="595959"/>
                </a:solidFill>
              </a:rPr>
              <a:t>DistilBERT-SST2 · Twitter-RoBERTa · zero-shot NLI</a:t>
            </a:r>
          </a:p>
        </p:txBody>
      </p:sp>
      <p:sp>
        <p:nvSpPr>
          <p:cNvPr id="26" name="Rectangle 25"/>
          <p:cNvSpPr/>
          <p:nvPr/>
        </p:nvSpPr>
        <p:spPr>
          <a:xfrm>
            <a:off x="429768" y="5440680"/>
            <a:ext cx="8284464" cy="685800"/>
          </a:xfrm>
          <a:prstGeom prst="rect">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468112"/>
            <a:ext cx="8046720" cy="640080"/>
          </a:xfrm>
          <a:prstGeom prst="rect">
            <a:avLst/>
          </a:prstGeom>
          <a:noFill/>
        </p:spPr>
        <p:txBody>
          <a:bodyPr wrap="square" anchor="ctr" lIns="45720" rIns="45720" tIns="27432" bIns="27432">
            <a:spAutoFit/>
          </a:bodyPr>
          <a:lstStyle/>
          <a:p>
            <a:pPr algn="l">
              <a:spcAft>
                <a:spcPts val="400"/>
              </a:spcAft>
            </a:pPr>
            <a:r>
              <a:rPr sz="1250" b="1">
                <a:solidFill>
                  <a:srgbClr val="0B4DC7"/>
                </a:solidFill>
              </a:rPr>
              <a:t>Criteria: </a:t>
            </a:r>
            <a:r>
              <a:rPr sz="1250" b="0">
                <a:solidFill>
                  <a:srgbClr val="000000"/>
                </a:solidFill>
              </a:rPr>
              <a:t>accuracy and macro-F1 · training time · latency per sentence · parameters · negation and contrast subsets · learning curve · bootstrap CI and McNemar test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itle 4"/>
          <p:cNvSpPr>
            <a:spLocks noGrp="1"/>
          </p:cNvSpPr>
          <p:nvPr>
            <p:ph type="title"/>
          </p:nvPr>
        </p:nvSpPr>
        <p:spPr>
          <a:xfrm>
            <a:off x="429768" y="320040"/>
            <a:ext cx="7086600" cy="1325880"/>
          </a:xfrm>
        </p:spPr>
        <p:txBody>
          <a:bodyPr anchor="ctr"/>
          <a:lstStyle/>
          <a:p>
            <a:r>
              <a:rPr sz="2800" b="1"/>
              <a:t>Implementation: a reproducible Python pipeline</a:t>
            </a:r>
          </a:p>
        </p:txBody>
      </p:sp>
      <p:pic>
        <p:nvPicPr>
          <p:cNvPr id="6" name="Picture 5" descr="pipeline.png"/>
          <p:cNvPicPr>
            <a:picLocks noChangeAspect="1"/>
          </p:cNvPicPr>
          <p:nvPr/>
        </p:nvPicPr>
        <p:blipFill>
          <a:blip r:embed="rId2"/>
          <a:stretch>
            <a:fillRect/>
          </a:stretch>
        </p:blipFill>
        <p:spPr>
          <a:xfrm>
            <a:off x="429768" y="1783080"/>
            <a:ext cx="5257800" cy="3182353"/>
          </a:xfrm>
          <a:prstGeom prst="rect">
            <a:avLst/>
          </a:prstGeom>
        </p:spPr>
      </p:pic>
      <p:sp>
        <p:nvSpPr>
          <p:cNvPr id="7" name="Rectangle 6"/>
          <p:cNvSpPr/>
          <p:nvPr/>
        </p:nvSpPr>
        <p:spPr>
          <a:xfrm>
            <a:off x="5897880" y="1783080"/>
            <a:ext cx="2816352" cy="4023360"/>
          </a:xfrm>
          <a:prstGeom prst="rect">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97880" y="1783080"/>
            <a:ext cx="2816352" cy="64008"/>
          </a:xfrm>
          <a:prstGeom prst="rect">
            <a:avLst/>
          </a:prstGeom>
          <a:solidFill>
            <a:srgbClr val="0B4D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0" y="1938528"/>
            <a:ext cx="2606040" cy="3840480"/>
          </a:xfrm>
          <a:prstGeom prst="rect">
            <a:avLst/>
          </a:prstGeom>
          <a:noFill/>
        </p:spPr>
        <p:txBody>
          <a:bodyPr wrap="square" anchor="t" lIns="45720" rIns="45720" tIns="27432" bIns="27432">
            <a:spAutoFit/>
          </a:bodyPr>
          <a:lstStyle/>
          <a:p>
            <a:pPr algn="l">
              <a:spcAft>
                <a:spcPts val="1000"/>
              </a:spcAft>
            </a:pPr>
            <a:r>
              <a:rPr sz="1250" b="1">
                <a:solidFill>
                  <a:srgbClr val="0B4DC7"/>
                </a:solidFill>
              </a:rPr>
              <a:t>PyTorch · Hugging Face Transformers · scikit-learn</a:t>
            </a:r>
          </a:p>
          <a:p>
            <a:pPr algn="l">
              <a:spcAft>
                <a:spcPts val="800"/>
              </a:spcAft>
            </a:pPr>
            <a:r>
              <a:rPr sz="1250" b="0">
                <a:solidFill>
                  <a:srgbClr val="000000"/>
                </a:solidFill>
              </a:rPr>
              <a:t>•  One generic fine-tuning script for any encoder</a:t>
            </a:r>
          </a:p>
          <a:p>
            <a:pPr algn="l">
              <a:spcAft>
                <a:spcPts val="800"/>
              </a:spcAft>
            </a:pPr>
            <a:r>
              <a:rPr sz="1250" b="0">
                <a:solidFill>
                  <a:srgbClr val="000000"/>
                </a:solidFill>
              </a:rPr>
              <a:t>•  AdamW, 10% warm-up, linear decay, best epoch by development accuracy</a:t>
            </a:r>
          </a:p>
          <a:p>
            <a:pPr algn="l">
              <a:spcAft>
                <a:spcPts val="800"/>
              </a:spcAft>
            </a:pPr>
            <a:r>
              <a:rPr sz="1250" b="0">
                <a:solidFill>
                  <a:srgbClr val="000000"/>
                </a:solidFill>
              </a:rPr>
              <a:t>•  Every model saves metrics, timings and predictions as JSON</a:t>
            </a:r>
          </a:p>
          <a:p>
            <a:pPr algn="l">
              <a:spcAft>
                <a:spcPts val="800"/>
              </a:spcAft>
            </a:pPr>
            <a:r>
              <a:rPr sz="1250" b="0">
                <a:solidFill>
                  <a:srgbClr val="000000"/>
                </a:solidFill>
              </a:rPr>
              <a:t>•  run_all.sh reproduces all results (about 2.5 hours on a laptop)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itle 4"/>
          <p:cNvSpPr>
            <a:spLocks noGrp="1"/>
          </p:cNvSpPr>
          <p:nvPr>
            <p:ph type="title"/>
          </p:nvPr>
        </p:nvSpPr>
        <p:spPr>
          <a:xfrm>
            <a:off x="429768" y="320040"/>
            <a:ext cx="7086600" cy="1325880"/>
          </a:xfrm>
        </p:spPr>
        <p:txBody>
          <a:bodyPr anchor="ctr"/>
          <a:lstStyle/>
          <a:p>
            <a:r>
              <a:rPr sz="2800" b="1"/>
              <a:t>Fine-tuned DistilBERT: +5.9 points over classical</a:t>
            </a:r>
          </a:p>
        </p:txBody>
      </p:sp>
      <p:graphicFrame>
        <p:nvGraphicFramePr>
          <p:cNvPr id="6" name="Chart 5"/>
          <p:cNvGraphicFramePr>
            <a:graphicFrameLocks noGrp="1"/>
          </p:cNvGraphicFramePr>
          <p:nvPr/>
        </p:nvGraphicFramePr>
        <p:xfrm>
          <a:off x="365760" y="1691640"/>
          <a:ext cx="5669280" cy="4434840"/>
        </p:xfrm>
        <a:graphic>
          <a:graphicData uri="http://schemas.openxmlformats.org/drawingml/2006/chart">
            <c:chart xmlns:c="http://schemas.openxmlformats.org/drawingml/2006/chart" r:id="rId2"/>
          </a:graphicData>
        </a:graphic>
      </p:graphicFrame>
      <p:sp>
        <p:nvSpPr>
          <p:cNvPr id="7" name="Rectangle 6"/>
          <p:cNvSpPr/>
          <p:nvPr/>
        </p:nvSpPr>
        <p:spPr>
          <a:xfrm>
            <a:off x="6263640" y="1783080"/>
            <a:ext cx="2468880" cy="1234440"/>
          </a:xfrm>
          <a:prstGeom prst="rect">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63640" y="1783080"/>
            <a:ext cx="82296" cy="1234440"/>
          </a:xfrm>
          <a:prstGeom prst="rect">
            <a:avLst/>
          </a:prstGeom>
          <a:solidFill>
            <a:srgbClr val="0B4D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56231"/>
            <a:ext cx="2194560" cy="548640"/>
          </a:xfrm>
          <a:prstGeom prst="rect">
            <a:avLst/>
          </a:prstGeom>
          <a:noFill/>
        </p:spPr>
        <p:txBody>
          <a:bodyPr wrap="square" anchor="t" lIns="45720" rIns="45720" tIns="27432" bIns="27432">
            <a:spAutoFit/>
          </a:bodyPr>
          <a:lstStyle/>
          <a:p>
            <a:pPr algn="l">
              <a:spcAft>
                <a:spcPts val="400"/>
              </a:spcAft>
            </a:pPr>
            <a:r>
              <a:rPr sz="2600" b="1">
                <a:solidFill>
                  <a:srgbClr val="0B4DC7"/>
                </a:solidFill>
              </a:rPr>
              <a:t>88.8%</a:t>
            </a:r>
          </a:p>
        </p:txBody>
      </p:sp>
      <p:sp>
        <p:nvSpPr>
          <p:cNvPr id="10" name="TextBox 9"/>
          <p:cNvSpPr txBox="1"/>
          <p:nvPr/>
        </p:nvSpPr>
        <p:spPr>
          <a:xfrm>
            <a:off x="6446520" y="2441448"/>
            <a:ext cx="2194560" cy="548640"/>
          </a:xfrm>
          <a:prstGeom prst="rect">
            <a:avLst/>
          </a:prstGeom>
          <a:noFill/>
        </p:spPr>
        <p:txBody>
          <a:bodyPr wrap="square" anchor="t" lIns="45720" rIns="45720" tIns="27432" bIns="27432">
            <a:spAutoFit/>
          </a:bodyPr>
          <a:lstStyle/>
          <a:p>
            <a:pPr algn="l">
              <a:spcAft>
                <a:spcPts val="400"/>
              </a:spcAft>
            </a:pPr>
            <a:r>
              <a:rPr sz="1150" b="0">
                <a:solidFill>
                  <a:srgbClr val="595959"/>
                </a:solidFill>
              </a:rPr>
              <a:t>DistilBERT fine-tuned on 8,000 labels</a:t>
            </a:r>
          </a:p>
        </p:txBody>
      </p:sp>
      <p:sp>
        <p:nvSpPr>
          <p:cNvPr id="11" name="Rectangle 10"/>
          <p:cNvSpPr/>
          <p:nvPr/>
        </p:nvSpPr>
        <p:spPr>
          <a:xfrm>
            <a:off x="6263640" y="3200400"/>
            <a:ext cx="2468880" cy="1234440"/>
          </a:xfrm>
          <a:prstGeom prst="rect">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3200400"/>
            <a:ext cx="82296" cy="1234440"/>
          </a:xfrm>
          <a:prstGeom prst="rect">
            <a:avLst/>
          </a:prstGeom>
          <a:solidFill>
            <a:srgbClr val="3EB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273552"/>
            <a:ext cx="2194560" cy="548640"/>
          </a:xfrm>
          <a:prstGeom prst="rect">
            <a:avLst/>
          </a:prstGeom>
          <a:noFill/>
        </p:spPr>
        <p:txBody>
          <a:bodyPr wrap="square" anchor="t" lIns="45720" rIns="45720" tIns="27432" bIns="27432">
            <a:spAutoFit/>
          </a:bodyPr>
          <a:lstStyle/>
          <a:p>
            <a:pPr algn="l">
              <a:spcAft>
                <a:spcPts val="400"/>
              </a:spcAft>
            </a:pPr>
            <a:r>
              <a:rPr sz="2600" b="1">
                <a:solidFill>
                  <a:srgbClr val="1F9BBA"/>
                </a:solidFill>
              </a:rPr>
              <a:t>82.9%</a:t>
            </a:r>
          </a:p>
        </p:txBody>
      </p:sp>
      <p:sp>
        <p:nvSpPr>
          <p:cNvPr id="14" name="TextBox 13"/>
          <p:cNvSpPr txBox="1"/>
          <p:nvPr/>
        </p:nvSpPr>
        <p:spPr>
          <a:xfrm>
            <a:off x="6446520" y="3858768"/>
            <a:ext cx="2194560" cy="548640"/>
          </a:xfrm>
          <a:prstGeom prst="rect">
            <a:avLst/>
          </a:prstGeom>
          <a:noFill/>
        </p:spPr>
        <p:txBody>
          <a:bodyPr wrap="square" anchor="t" lIns="45720" rIns="45720" tIns="27432" bIns="27432">
            <a:spAutoFit/>
          </a:bodyPr>
          <a:lstStyle/>
          <a:p>
            <a:pPr algn="l">
              <a:spcAft>
                <a:spcPts val="400"/>
              </a:spcAft>
            </a:pPr>
            <a:r>
              <a:rPr sz="1150" b="0">
                <a:solidFill>
                  <a:srgbClr val="595959"/>
                </a:solidFill>
              </a:rPr>
              <a:t>best classical: TF-IDF + Linear SVM</a:t>
            </a:r>
          </a:p>
        </p:txBody>
      </p:sp>
      <p:sp>
        <p:nvSpPr>
          <p:cNvPr id="15" name="Rectangle 14"/>
          <p:cNvSpPr/>
          <p:nvPr/>
        </p:nvSpPr>
        <p:spPr>
          <a:xfrm>
            <a:off x="6263640" y="4617720"/>
            <a:ext cx="2468880" cy="1234440"/>
          </a:xfrm>
          <a:prstGeom prst="rect">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4617720"/>
            <a:ext cx="82296" cy="1234440"/>
          </a:xfrm>
          <a:prstGeom prst="rect">
            <a:avLst/>
          </a:prstGeom>
          <a:solidFill>
            <a:srgbClr val="00DD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690872"/>
            <a:ext cx="2194560" cy="548640"/>
          </a:xfrm>
          <a:prstGeom prst="rect">
            <a:avLst/>
          </a:prstGeom>
          <a:noFill/>
        </p:spPr>
        <p:txBody>
          <a:bodyPr wrap="square" anchor="t" lIns="45720" rIns="45720" tIns="27432" bIns="27432">
            <a:spAutoFit/>
          </a:bodyPr>
          <a:lstStyle/>
          <a:p>
            <a:pPr algn="l">
              <a:spcAft>
                <a:spcPts val="400"/>
              </a:spcAft>
            </a:pPr>
            <a:r>
              <a:rPr sz="2600" b="1">
                <a:solidFill>
                  <a:srgbClr val="009E72"/>
                </a:solidFill>
              </a:rPr>
              <a:t>81.8%</a:t>
            </a:r>
          </a:p>
        </p:txBody>
      </p:sp>
      <p:sp>
        <p:nvSpPr>
          <p:cNvPr id="18" name="TextBox 17"/>
          <p:cNvSpPr txBox="1"/>
          <p:nvPr/>
        </p:nvSpPr>
        <p:spPr>
          <a:xfrm>
            <a:off x="6446520" y="5276088"/>
            <a:ext cx="2194560" cy="548640"/>
          </a:xfrm>
          <a:prstGeom prst="rect">
            <a:avLst/>
          </a:prstGeom>
          <a:noFill/>
        </p:spPr>
        <p:txBody>
          <a:bodyPr wrap="square" anchor="t" lIns="45720" rIns="45720" tIns="27432" bIns="27432">
            <a:spAutoFit/>
          </a:bodyPr>
          <a:lstStyle/>
          <a:p>
            <a:pPr algn="l">
              <a:spcAft>
                <a:spcPts val="400"/>
              </a:spcAft>
            </a:pPr>
            <a:r>
              <a:rPr sz="1150" b="0">
                <a:solidFill>
                  <a:srgbClr val="595959"/>
                </a:solidFill>
              </a:rPr>
              <a:t>zero-shot: no labels at all</a:t>
            </a:r>
          </a:p>
        </p:txBody>
      </p:sp>
      <p:sp>
        <p:nvSpPr>
          <p:cNvPr id="19" name="TextBox 18"/>
          <p:cNvSpPr txBox="1"/>
          <p:nvPr/>
        </p:nvSpPr>
        <p:spPr>
          <a:xfrm>
            <a:off x="429768" y="6144768"/>
            <a:ext cx="5669280" cy="274320"/>
          </a:xfrm>
          <a:prstGeom prst="rect">
            <a:avLst/>
          </a:prstGeom>
          <a:noFill/>
        </p:spPr>
        <p:txBody>
          <a:bodyPr wrap="square" anchor="t" lIns="45720" rIns="45720" tIns="27432" bIns="27432">
            <a:spAutoFit/>
          </a:bodyPr>
          <a:lstStyle/>
          <a:p>
            <a:pPr algn="l">
              <a:spcAft>
                <a:spcPts val="400"/>
              </a:spcAft>
            </a:pPr>
            <a:r>
              <a:rPr sz="1000" b="0">
                <a:solidFill>
                  <a:srgbClr val="595959"/>
                </a:solidFill>
              </a:rPr>
              <a:t>Bars: classical (cyan), recurrent (orange), transformer (blue). Test set: 872 sentences.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itle 4"/>
          <p:cNvSpPr>
            <a:spLocks noGrp="1"/>
          </p:cNvSpPr>
          <p:nvPr>
            <p:ph type="title"/>
          </p:nvPr>
        </p:nvSpPr>
        <p:spPr>
          <a:xfrm>
            <a:off x="429768" y="320040"/>
            <a:ext cx="7086600" cy="1325880"/>
          </a:xfrm>
        </p:spPr>
        <p:txBody>
          <a:bodyPr anchor="ctr"/>
          <a:lstStyle/>
          <a:p>
            <a:r>
              <a:rPr sz="2800" b="1"/>
              <a:t>The price: slower training and inference, bigger models</a:t>
            </a:r>
          </a:p>
        </p:txBody>
      </p:sp>
      <p:graphicFrame>
        <p:nvGraphicFramePr>
          <p:cNvPr id="6" name="Table 5"/>
          <p:cNvGraphicFramePr>
            <a:graphicFrameLocks noGrp="1"/>
          </p:cNvGraphicFramePr>
          <p:nvPr/>
        </p:nvGraphicFramePr>
        <p:xfrm>
          <a:off x="429768" y="1737360"/>
          <a:ext cx="5486400" cy="3364992"/>
        </p:xfrm>
        <a:graphic>
          <a:graphicData uri="http://schemas.openxmlformats.org/drawingml/2006/table">
            <a:tbl>
              <a:tblPr firstRow="1" bandRow="1">
                <a:tableStyleId>{5C22544A-7EE6-4342-B048-85BDC9FD1C3A}</a:tableStyleId>
              </a:tblPr>
              <a:tblGrid>
                <a:gridCol w="2286000"/>
                <a:gridCol w="822960"/>
                <a:gridCol w="868680"/>
                <a:gridCol w="868680"/>
                <a:gridCol w="640080"/>
              </a:tblGrid>
              <a:tr h="420624">
                <a:tc>
                  <a:txBody>
                    <a:bodyPr/>
                    <a:lstStyle/>
                    <a:p>
                      <a:pPr algn="l"/>
                      <a:r>
                        <a:rPr sz="1100" b="1">
                          <a:solidFill>
                            <a:srgbClr val="FFFFFF"/>
                          </a:solidFill>
                        </a:rPr>
                        <a:t>Model</a:t>
                      </a:r>
                    </a:p>
                  </a:txBody>
                  <a:tcPr marL="54864" marR="54864" marT="27432" marB="27432" anchor="ctr">
                    <a:solidFill>
                      <a:srgbClr val="0B4DC7"/>
                    </a:solidFill>
                  </a:tcPr>
                </a:tc>
                <a:tc>
                  <a:txBody>
                    <a:bodyPr/>
                    <a:lstStyle/>
                    <a:p>
                      <a:pPr algn="ctr"/>
                      <a:r>
                        <a:rPr sz="1100" b="1">
                          <a:solidFill>
                            <a:srgbClr val="FFFFFF"/>
                          </a:solidFill>
                        </a:rPr>
                        <a:t>Accuracy, %</a:t>
                      </a:r>
                    </a:p>
                  </a:txBody>
                  <a:tcPr marL="54864" marR="54864" marT="27432" marB="27432" anchor="ctr">
                    <a:solidFill>
                      <a:srgbClr val="0B4DC7"/>
                    </a:solidFill>
                  </a:tcPr>
                </a:tc>
                <a:tc>
                  <a:txBody>
                    <a:bodyPr/>
                    <a:lstStyle/>
                    <a:p>
                      <a:pPr algn="ctr"/>
                      <a:r>
                        <a:rPr sz="1100" b="1">
                          <a:solidFill>
                            <a:srgbClr val="FFFFFF"/>
                          </a:solidFill>
                        </a:rPr>
                        <a:t>Train time</a:t>
                      </a:r>
                    </a:p>
                  </a:txBody>
                  <a:tcPr marL="54864" marR="54864" marT="27432" marB="27432" anchor="ctr">
                    <a:solidFill>
                      <a:srgbClr val="0B4DC7"/>
                    </a:solidFill>
                  </a:tcPr>
                </a:tc>
                <a:tc>
                  <a:txBody>
                    <a:bodyPr/>
                    <a:lstStyle/>
                    <a:p>
                      <a:pPr algn="ctr"/>
                      <a:r>
                        <a:rPr sz="1100" b="1">
                          <a:solidFill>
                            <a:srgbClr val="FFFFFF"/>
                          </a:solidFill>
                        </a:rPr>
                        <a:t>Latency, ms</a:t>
                      </a:r>
                    </a:p>
                  </a:txBody>
                  <a:tcPr marL="54864" marR="54864" marT="27432" marB="27432" anchor="ctr">
                    <a:solidFill>
                      <a:srgbClr val="0B4DC7"/>
                    </a:solidFill>
                  </a:tcPr>
                </a:tc>
                <a:tc>
                  <a:txBody>
                    <a:bodyPr/>
                    <a:lstStyle/>
                    <a:p>
                      <a:pPr algn="ctr"/>
                      <a:r>
                        <a:rPr sz="1100" b="1">
                          <a:solidFill>
                            <a:srgbClr val="FFFFFF"/>
                          </a:solidFill>
                        </a:rPr>
                        <a:t>Params</a:t>
                      </a:r>
                    </a:p>
                  </a:txBody>
                  <a:tcPr marL="54864" marR="54864" marT="27432" marB="27432" anchor="ctr">
                    <a:solidFill>
                      <a:srgbClr val="0B4DC7"/>
                    </a:solidFill>
                  </a:tcPr>
                </a:tc>
              </a:tr>
              <a:tr h="420624">
                <a:tc>
                  <a:txBody>
                    <a:bodyPr/>
                    <a:lstStyle/>
                    <a:p>
                      <a:pPr algn="l"/>
                      <a:r>
                        <a:rPr sz="1100" b="0">
                          <a:solidFill>
                            <a:srgbClr val="000000"/>
                          </a:solidFill>
                        </a:rPr>
                        <a:t>TF-IDF + Linear SVM</a:t>
                      </a:r>
                    </a:p>
                  </a:txBody>
                  <a:tcPr marL="54864" marR="54864" marT="27432" marB="27432" anchor="ctr">
                    <a:solidFill>
                      <a:srgbClr val="FFFFFF"/>
                    </a:solidFill>
                  </a:tcPr>
                </a:tc>
                <a:tc>
                  <a:txBody>
                    <a:bodyPr/>
                    <a:lstStyle/>
                    <a:p>
                      <a:pPr algn="ctr"/>
                      <a:r>
                        <a:rPr sz="1100" b="0">
                          <a:solidFill>
                            <a:srgbClr val="000000"/>
                          </a:solidFill>
                        </a:rPr>
                        <a:t>82.9</a:t>
                      </a:r>
                    </a:p>
                  </a:txBody>
                  <a:tcPr marL="54864" marR="54864" marT="27432" marB="27432" anchor="ctr">
                    <a:solidFill>
                      <a:srgbClr val="FFFFFF"/>
                    </a:solidFill>
                  </a:tcPr>
                </a:tc>
                <a:tc>
                  <a:txBody>
                    <a:bodyPr/>
                    <a:lstStyle/>
                    <a:p>
                      <a:pPr algn="ctr"/>
                      <a:r>
                        <a:rPr sz="1100" b="0">
                          <a:solidFill>
                            <a:srgbClr val="000000"/>
                          </a:solidFill>
                        </a:rPr>
                        <a:t>2 s</a:t>
                      </a:r>
                    </a:p>
                  </a:txBody>
                  <a:tcPr marL="54864" marR="54864" marT="27432" marB="27432" anchor="ctr">
                    <a:solidFill>
                      <a:srgbClr val="FFFFFF"/>
                    </a:solidFill>
                  </a:tcPr>
                </a:tc>
                <a:tc>
                  <a:txBody>
                    <a:bodyPr/>
                    <a:lstStyle/>
                    <a:p>
                      <a:pPr algn="ctr"/>
                      <a:r>
                        <a:rPr sz="1100" b="0">
                          <a:solidFill>
                            <a:srgbClr val="000000"/>
                          </a:solidFill>
                        </a:rPr>
                        <a:t>0.06</a:t>
                      </a:r>
                    </a:p>
                  </a:txBody>
                  <a:tcPr marL="54864" marR="54864" marT="27432" marB="27432" anchor="ctr">
                    <a:solidFill>
                      <a:srgbClr val="FFFFFF"/>
                    </a:solidFill>
                  </a:tcPr>
                </a:tc>
                <a:tc>
                  <a:txBody>
                    <a:bodyPr/>
                    <a:lstStyle/>
                    <a:p>
                      <a:pPr algn="ctr"/>
                      <a:r>
                        <a:rPr sz="1100" b="0">
                          <a:solidFill>
                            <a:srgbClr val="000000"/>
                          </a:solidFill>
                        </a:rPr>
                        <a:t>73 k</a:t>
                      </a:r>
                    </a:p>
                  </a:txBody>
                  <a:tcPr marL="54864" marR="54864" marT="27432" marB="27432" anchor="ctr">
                    <a:solidFill>
                      <a:srgbClr val="FFFFFF"/>
                    </a:solidFill>
                  </a:tcPr>
                </a:tc>
              </a:tr>
              <a:tr h="420624">
                <a:tc>
                  <a:txBody>
                    <a:bodyPr/>
                    <a:lstStyle/>
                    <a:p>
                      <a:pPr algn="l"/>
                      <a:r>
                        <a:rPr sz="1100" b="0">
                          <a:solidFill>
                            <a:srgbClr val="000000"/>
                          </a:solidFill>
                        </a:rPr>
                        <a:t>BiLSTM (from scratch)</a:t>
                      </a:r>
                    </a:p>
                  </a:txBody>
                  <a:tcPr marL="54864" marR="54864" marT="27432" marB="27432" anchor="ctr">
                    <a:solidFill>
                      <a:srgbClr val="EEF2FB"/>
                    </a:solidFill>
                  </a:tcPr>
                </a:tc>
                <a:tc>
                  <a:txBody>
                    <a:bodyPr/>
                    <a:lstStyle/>
                    <a:p>
                      <a:pPr algn="ctr"/>
                      <a:r>
                        <a:rPr sz="1100" b="0">
                          <a:solidFill>
                            <a:srgbClr val="000000"/>
                          </a:solidFill>
                        </a:rPr>
                        <a:t>82.8</a:t>
                      </a:r>
                    </a:p>
                  </a:txBody>
                  <a:tcPr marL="54864" marR="54864" marT="27432" marB="27432" anchor="ctr">
                    <a:solidFill>
                      <a:srgbClr val="EEF2FB"/>
                    </a:solidFill>
                  </a:tcPr>
                </a:tc>
                <a:tc>
                  <a:txBody>
                    <a:bodyPr/>
                    <a:lstStyle/>
                    <a:p>
                      <a:pPr algn="ctr"/>
                      <a:r>
                        <a:rPr sz="1100" b="0">
                          <a:solidFill>
                            <a:srgbClr val="000000"/>
                          </a:solidFill>
                        </a:rPr>
                        <a:t>6 min</a:t>
                      </a:r>
                    </a:p>
                  </a:txBody>
                  <a:tcPr marL="54864" marR="54864" marT="27432" marB="27432" anchor="ctr">
                    <a:solidFill>
                      <a:srgbClr val="EEF2FB"/>
                    </a:solidFill>
                  </a:tcPr>
                </a:tc>
                <a:tc>
                  <a:txBody>
                    <a:bodyPr/>
                    <a:lstStyle/>
                    <a:p>
                      <a:pPr algn="ctr"/>
                      <a:r>
                        <a:rPr sz="1100" b="0">
                          <a:solidFill>
                            <a:srgbClr val="000000"/>
                          </a:solidFill>
                        </a:rPr>
                        <a:t>0.45</a:t>
                      </a:r>
                    </a:p>
                  </a:txBody>
                  <a:tcPr marL="54864" marR="54864" marT="27432" marB="27432" anchor="ctr">
                    <a:solidFill>
                      <a:srgbClr val="EEF2FB"/>
                    </a:solidFill>
                  </a:tcPr>
                </a:tc>
                <a:tc>
                  <a:txBody>
                    <a:bodyPr/>
                    <a:lstStyle/>
                    <a:p>
                      <a:pPr algn="ctr"/>
                      <a:r>
                        <a:rPr sz="1100" b="0">
                          <a:solidFill>
                            <a:srgbClr val="000000"/>
                          </a:solidFill>
                        </a:rPr>
                        <a:t>2.0 M</a:t>
                      </a:r>
                    </a:p>
                  </a:txBody>
                  <a:tcPr marL="54864" marR="54864" marT="27432" marB="27432" anchor="ctr">
                    <a:solidFill>
                      <a:srgbClr val="EEF2FB"/>
                    </a:solidFill>
                  </a:tcPr>
                </a:tc>
              </a:tr>
              <a:tr h="420624">
                <a:tc>
                  <a:txBody>
                    <a:bodyPr/>
                    <a:lstStyle/>
                    <a:p>
                      <a:pPr algn="l"/>
                      <a:r>
                        <a:rPr sz="1100" b="0">
                          <a:solidFill>
                            <a:srgbClr val="000000"/>
                          </a:solidFill>
                        </a:rPr>
                        <a:t>BERT-tiny fine-tuned (8k)</a:t>
                      </a:r>
                    </a:p>
                  </a:txBody>
                  <a:tcPr marL="54864" marR="54864" marT="27432" marB="27432" anchor="ctr">
                    <a:solidFill>
                      <a:srgbClr val="FFFFFF"/>
                    </a:solidFill>
                  </a:tcPr>
                </a:tc>
                <a:tc>
                  <a:txBody>
                    <a:bodyPr/>
                    <a:lstStyle/>
                    <a:p>
                      <a:pPr algn="ctr"/>
                      <a:r>
                        <a:rPr sz="1100" b="0">
                          <a:solidFill>
                            <a:srgbClr val="000000"/>
                          </a:solidFill>
                        </a:rPr>
                        <a:t>76.6</a:t>
                      </a:r>
                    </a:p>
                  </a:txBody>
                  <a:tcPr marL="54864" marR="54864" marT="27432" marB="27432" anchor="ctr">
                    <a:solidFill>
                      <a:srgbClr val="FFFFFF"/>
                    </a:solidFill>
                  </a:tcPr>
                </a:tc>
                <a:tc>
                  <a:txBody>
                    <a:bodyPr/>
                    <a:lstStyle/>
                    <a:p>
                      <a:pPr algn="ctr"/>
                      <a:r>
                        <a:rPr sz="1100" b="0">
                          <a:solidFill>
                            <a:srgbClr val="000000"/>
                          </a:solidFill>
                        </a:rPr>
                        <a:t>2 min</a:t>
                      </a:r>
                    </a:p>
                  </a:txBody>
                  <a:tcPr marL="54864" marR="54864" marT="27432" marB="27432" anchor="ctr">
                    <a:solidFill>
                      <a:srgbClr val="FFFFFF"/>
                    </a:solidFill>
                  </a:tcPr>
                </a:tc>
                <a:tc>
                  <a:txBody>
                    <a:bodyPr/>
                    <a:lstStyle/>
                    <a:p>
                      <a:pPr algn="ctr"/>
                      <a:r>
                        <a:rPr sz="1100" b="0">
                          <a:solidFill>
                            <a:srgbClr val="000000"/>
                          </a:solidFill>
                        </a:rPr>
                        <a:t>1.2</a:t>
                      </a:r>
                    </a:p>
                  </a:txBody>
                  <a:tcPr marL="54864" marR="54864" marT="27432" marB="27432" anchor="ctr">
                    <a:solidFill>
                      <a:srgbClr val="FFFFFF"/>
                    </a:solidFill>
                  </a:tcPr>
                </a:tc>
                <a:tc>
                  <a:txBody>
                    <a:bodyPr/>
                    <a:lstStyle/>
                    <a:p>
                      <a:pPr algn="ctr"/>
                      <a:r>
                        <a:rPr sz="1100" b="0">
                          <a:solidFill>
                            <a:srgbClr val="000000"/>
                          </a:solidFill>
                        </a:rPr>
                        <a:t>4.4 M</a:t>
                      </a:r>
                    </a:p>
                  </a:txBody>
                  <a:tcPr marL="54864" marR="54864" marT="27432" marB="27432" anchor="ctr">
                    <a:solidFill>
                      <a:srgbClr val="FFFFFF"/>
                    </a:solidFill>
                  </a:tcPr>
                </a:tc>
              </a:tr>
              <a:tr h="420624">
                <a:tc>
                  <a:txBody>
                    <a:bodyPr/>
                    <a:lstStyle/>
                    <a:p>
                      <a:pPr algn="l"/>
                      <a:r>
                        <a:rPr sz="1100" b="0">
                          <a:solidFill>
                            <a:srgbClr val="000000"/>
                          </a:solidFill>
                        </a:rPr>
                        <a:t>BERT-small fine-tuned (8k)</a:t>
                      </a:r>
                    </a:p>
                  </a:txBody>
                  <a:tcPr marL="54864" marR="54864" marT="27432" marB="27432" anchor="ctr">
                    <a:solidFill>
                      <a:srgbClr val="EEF2FB"/>
                    </a:solidFill>
                  </a:tcPr>
                </a:tc>
                <a:tc>
                  <a:txBody>
                    <a:bodyPr/>
                    <a:lstStyle/>
                    <a:p>
                      <a:pPr algn="ctr"/>
                      <a:r>
                        <a:rPr sz="1100" b="0">
                          <a:solidFill>
                            <a:srgbClr val="000000"/>
                          </a:solidFill>
                        </a:rPr>
                        <a:t>83.7</a:t>
                      </a:r>
                    </a:p>
                  </a:txBody>
                  <a:tcPr marL="54864" marR="54864" marT="27432" marB="27432" anchor="ctr">
                    <a:solidFill>
                      <a:srgbClr val="EEF2FB"/>
                    </a:solidFill>
                  </a:tcPr>
                </a:tc>
                <a:tc>
                  <a:txBody>
                    <a:bodyPr/>
                    <a:lstStyle/>
                    <a:p>
                      <a:pPr algn="ctr"/>
                      <a:r>
                        <a:rPr sz="1100" b="0">
                          <a:solidFill>
                            <a:srgbClr val="000000"/>
                          </a:solidFill>
                        </a:rPr>
                        <a:t>26 min</a:t>
                      </a:r>
                    </a:p>
                  </a:txBody>
                  <a:tcPr marL="54864" marR="54864" marT="27432" marB="27432" anchor="ctr">
                    <a:solidFill>
                      <a:srgbClr val="EEF2FB"/>
                    </a:solidFill>
                  </a:tcPr>
                </a:tc>
                <a:tc>
                  <a:txBody>
                    <a:bodyPr/>
                    <a:lstStyle/>
                    <a:p>
                      <a:pPr algn="ctr"/>
                      <a:r>
                        <a:rPr sz="1100" b="0">
                          <a:solidFill>
                            <a:srgbClr val="000000"/>
                          </a:solidFill>
                        </a:rPr>
                        <a:t>14.1</a:t>
                      </a:r>
                    </a:p>
                  </a:txBody>
                  <a:tcPr marL="54864" marR="54864" marT="27432" marB="27432" anchor="ctr">
                    <a:solidFill>
                      <a:srgbClr val="EEF2FB"/>
                    </a:solidFill>
                  </a:tcPr>
                </a:tc>
                <a:tc>
                  <a:txBody>
                    <a:bodyPr/>
                    <a:lstStyle/>
                    <a:p>
                      <a:pPr algn="ctr"/>
                      <a:r>
                        <a:rPr sz="1100" b="0">
                          <a:solidFill>
                            <a:srgbClr val="000000"/>
                          </a:solidFill>
                        </a:rPr>
                        <a:t>28.8 M</a:t>
                      </a:r>
                    </a:p>
                  </a:txBody>
                  <a:tcPr marL="54864" marR="54864" marT="27432" marB="27432" anchor="ctr">
                    <a:solidFill>
                      <a:srgbClr val="EEF2FB"/>
                    </a:solidFill>
                  </a:tcPr>
                </a:tc>
              </a:tr>
              <a:tr h="420624">
                <a:tc>
                  <a:txBody>
                    <a:bodyPr/>
                    <a:lstStyle/>
                    <a:p>
                      <a:pPr algn="l"/>
                      <a:r>
                        <a:rPr sz="1100" b="0">
                          <a:solidFill>
                            <a:srgbClr val="000000"/>
                          </a:solidFill>
                        </a:rPr>
                        <a:t>DistilBERT fine-tuned (8k)</a:t>
                      </a:r>
                    </a:p>
                  </a:txBody>
                  <a:tcPr marL="54864" marR="54864" marT="27432" marB="27432" anchor="ctr">
                    <a:solidFill>
                      <a:srgbClr val="FFFFFF"/>
                    </a:solidFill>
                  </a:tcPr>
                </a:tc>
                <a:tc>
                  <a:txBody>
                    <a:bodyPr/>
                    <a:lstStyle/>
                    <a:p>
                      <a:pPr algn="ctr"/>
                      <a:r>
                        <a:rPr sz="1100" b="0">
                          <a:solidFill>
                            <a:srgbClr val="000000"/>
                          </a:solidFill>
                        </a:rPr>
                        <a:t>88.8</a:t>
                      </a:r>
                    </a:p>
                  </a:txBody>
                  <a:tcPr marL="54864" marR="54864" marT="27432" marB="27432" anchor="ctr">
                    <a:solidFill>
                      <a:srgbClr val="FFFFFF"/>
                    </a:solidFill>
                  </a:tcPr>
                </a:tc>
                <a:tc>
                  <a:txBody>
                    <a:bodyPr/>
                    <a:lstStyle/>
                    <a:p>
                      <a:pPr algn="ctr"/>
                      <a:r>
                        <a:rPr sz="1100" b="0">
                          <a:solidFill>
                            <a:srgbClr val="000000"/>
                          </a:solidFill>
                        </a:rPr>
                        <a:t>2.6 h</a:t>
                      </a:r>
                    </a:p>
                  </a:txBody>
                  <a:tcPr marL="54864" marR="54864" marT="27432" marB="27432" anchor="ctr">
                    <a:solidFill>
                      <a:srgbClr val="FFFFFF"/>
                    </a:solidFill>
                  </a:tcPr>
                </a:tc>
                <a:tc>
                  <a:txBody>
                    <a:bodyPr/>
                    <a:lstStyle/>
                    <a:p>
                      <a:pPr algn="ctr"/>
                      <a:r>
                        <a:rPr sz="1100" b="0">
                          <a:solidFill>
                            <a:srgbClr val="000000"/>
                          </a:solidFill>
                        </a:rPr>
                        <a:t>39.1</a:t>
                      </a:r>
                    </a:p>
                  </a:txBody>
                  <a:tcPr marL="54864" marR="54864" marT="27432" marB="27432" anchor="ctr">
                    <a:solidFill>
                      <a:srgbClr val="FFFFFF"/>
                    </a:solidFill>
                  </a:tcPr>
                </a:tc>
                <a:tc>
                  <a:txBody>
                    <a:bodyPr/>
                    <a:lstStyle/>
                    <a:p>
                      <a:pPr algn="ctr"/>
                      <a:r>
                        <a:rPr sz="1100" b="0">
                          <a:solidFill>
                            <a:srgbClr val="000000"/>
                          </a:solidFill>
                        </a:rPr>
                        <a:t>67.0 M</a:t>
                      </a:r>
                    </a:p>
                  </a:txBody>
                  <a:tcPr marL="54864" marR="54864" marT="27432" marB="27432" anchor="ctr">
                    <a:solidFill>
                      <a:srgbClr val="FFFFFF"/>
                    </a:solidFill>
                  </a:tcPr>
                </a:tc>
              </a:tr>
              <a:tr h="420624">
                <a:tc>
                  <a:txBody>
                    <a:bodyPr/>
                    <a:lstStyle/>
                    <a:p>
                      <a:pPr algn="l"/>
                      <a:r>
                        <a:rPr sz="1100" b="0">
                          <a:solidFill>
                            <a:srgbClr val="000000"/>
                          </a:solidFill>
                        </a:rPr>
                        <a:t>DistilBERT-SST2 (off-the-shelf)</a:t>
                      </a:r>
                    </a:p>
                  </a:txBody>
                  <a:tcPr marL="54864" marR="54864" marT="27432" marB="27432" anchor="ctr">
                    <a:solidFill>
                      <a:srgbClr val="EEF2FB"/>
                    </a:solidFill>
                  </a:tcPr>
                </a:tc>
                <a:tc>
                  <a:txBody>
                    <a:bodyPr/>
                    <a:lstStyle/>
                    <a:p>
                      <a:pPr algn="ctr"/>
                      <a:r>
                        <a:rPr sz="1100" b="0">
                          <a:solidFill>
                            <a:srgbClr val="000000"/>
                          </a:solidFill>
                        </a:rPr>
                        <a:t>91.1</a:t>
                      </a:r>
                    </a:p>
                  </a:txBody>
                  <a:tcPr marL="54864" marR="54864" marT="27432" marB="27432" anchor="ctr">
                    <a:solidFill>
                      <a:srgbClr val="EEF2FB"/>
                    </a:solidFill>
                  </a:tcPr>
                </a:tc>
                <a:tc>
                  <a:txBody>
                    <a:bodyPr/>
                    <a:lstStyle/>
                    <a:p>
                      <a:pPr algn="ctr"/>
                      <a:r>
                        <a:rPr sz="1100" b="0">
                          <a:solidFill>
                            <a:srgbClr val="000000"/>
                          </a:solidFill>
                        </a:rPr>
                        <a:t>–</a:t>
                      </a:r>
                    </a:p>
                  </a:txBody>
                  <a:tcPr marL="54864" marR="54864" marT="27432" marB="27432" anchor="ctr">
                    <a:solidFill>
                      <a:srgbClr val="EEF2FB"/>
                    </a:solidFill>
                  </a:tcPr>
                </a:tc>
                <a:tc>
                  <a:txBody>
                    <a:bodyPr/>
                    <a:lstStyle/>
                    <a:p>
                      <a:pPr algn="ctr"/>
                      <a:r>
                        <a:rPr sz="1100" b="0">
                          <a:solidFill>
                            <a:srgbClr val="000000"/>
                          </a:solidFill>
                        </a:rPr>
                        <a:t>44.6</a:t>
                      </a:r>
                    </a:p>
                  </a:txBody>
                  <a:tcPr marL="54864" marR="54864" marT="27432" marB="27432" anchor="ctr">
                    <a:solidFill>
                      <a:srgbClr val="EEF2FB"/>
                    </a:solidFill>
                  </a:tcPr>
                </a:tc>
                <a:tc>
                  <a:txBody>
                    <a:bodyPr/>
                    <a:lstStyle/>
                    <a:p>
                      <a:pPr algn="ctr"/>
                      <a:r>
                        <a:rPr sz="1100" b="0">
                          <a:solidFill>
                            <a:srgbClr val="000000"/>
                          </a:solidFill>
                        </a:rPr>
                        <a:t>67.0 M</a:t>
                      </a:r>
                    </a:p>
                  </a:txBody>
                  <a:tcPr marL="54864" marR="54864" marT="27432" marB="27432" anchor="ctr">
                    <a:solidFill>
                      <a:srgbClr val="EEF2FB"/>
                    </a:solidFill>
                  </a:tcPr>
                </a:tc>
              </a:tr>
              <a:tr h="420624">
                <a:tc>
                  <a:txBody>
                    <a:bodyPr/>
                    <a:lstStyle/>
                    <a:p>
                      <a:pPr algn="l"/>
                      <a:r>
                        <a:rPr sz="1100" b="0">
                          <a:solidFill>
                            <a:srgbClr val="000000"/>
                          </a:solidFill>
                        </a:rPr>
                        <a:t>Zero-shot NLI DistilRoBERTa</a:t>
                      </a:r>
                    </a:p>
                  </a:txBody>
                  <a:tcPr marL="54864" marR="54864" marT="27432" marB="27432" anchor="ctr">
                    <a:solidFill>
                      <a:srgbClr val="FFFFFF"/>
                    </a:solidFill>
                  </a:tcPr>
                </a:tc>
                <a:tc>
                  <a:txBody>
                    <a:bodyPr/>
                    <a:lstStyle/>
                    <a:p>
                      <a:pPr algn="ctr"/>
                      <a:r>
                        <a:rPr sz="1100" b="0">
                          <a:solidFill>
                            <a:srgbClr val="000000"/>
                          </a:solidFill>
                        </a:rPr>
                        <a:t>81.8</a:t>
                      </a:r>
                    </a:p>
                  </a:txBody>
                  <a:tcPr marL="54864" marR="54864" marT="27432" marB="27432" anchor="ctr">
                    <a:solidFill>
                      <a:srgbClr val="FFFFFF"/>
                    </a:solidFill>
                  </a:tcPr>
                </a:tc>
                <a:tc>
                  <a:txBody>
                    <a:bodyPr/>
                    <a:lstStyle/>
                    <a:p>
                      <a:pPr algn="ctr"/>
                      <a:r>
                        <a:rPr sz="1100" b="0">
                          <a:solidFill>
                            <a:srgbClr val="000000"/>
                          </a:solidFill>
                        </a:rPr>
                        <a:t>–</a:t>
                      </a:r>
                    </a:p>
                  </a:txBody>
                  <a:tcPr marL="54864" marR="54864" marT="27432" marB="27432" anchor="ctr">
                    <a:solidFill>
                      <a:srgbClr val="FFFFFF"/>
                    </a:solidFill>
                  </a:tcPr>
                </a:tc>
                <a:tc>
                  <a:txBody>
                    <a:bodyPr/>
                    <a:lstStyle/>
                    <a:p>
                      <a:pPr algn="ctr"/>
                      <a:r>
                        <a:rPr sz="1100" b="0">
                          <a:solidFill>
                            <a:srgbClr val="000000"/>
                          </a:solidFill>
                        </a:rPr>
                        <a:t>107.0</a:t>
                      </a:r>
                    </a:p>
                  </a:txBody>
                  <a:tcPr marL="54864" marR="54864" marT="27432" marB="27432" anchor="ctr">
                    <a:solidFill>
                      <a:srgbClr val="FFFFFF"/>
                    </a:solidFill>
                  </a:tcPr>
                </a:tc>
                <a:tc>
                  <a:txBody>
                    <a:bodyPr/>
                    <a:lstStyle/>
                    <a:p>
                      <a:pPr algn="ctr"/>
                      <a:r>
                        <a:rPr sz="1100" b="0">
                          <a:solidFill>
                            <a:srgbClr val="000000"/>
                          </a:solidFill>
                        </a:rPr>
                        <a:t>82.1 M</a:t>
                      </a:r>
                    </a:p>
                  </a:txBody>
                  <a:tcPr marL="54864" marR="54864" marT="27432" marB="27432" anchor="ctr">
                    <a:solidFill>
                      <a:srgbClr val="FFFFFF"/>
                    </a:solidFill>
                  </a:tcPr>
                </a:tc>
              </a:tr>
            </a:tbl>
          </a:graphicData>
        </a:graphic>
      </p:graphicFrame>
      <p:sp>
        <p:nvSpPr>
          <p:cNvPr id="7" name="Rectangle 6"/>
          <p:cNvSpPr/>
          <p:nvPr/>
        </p:nvSpPr>
        <p:spPr>
          <a:xfrm>
            <a:off x="6172200" y="1737360"/>
            <a:ext cx="2542032" cy="1737360"/>
          </a:xfrm>
          <a:prstGeom prst="rect">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72200" y="1737360"/>
            <a:ext cx="2542032" cy="64008"/>
          </a:xfrm>
          <a:prstGeom prst="rect">
            <a:avLst/>
          </a:prstGeom>
          <a:solidFill>
            <a:srgbClr val="F68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27648" y="1874519"/>
            <a:ext cx="2286000" cy="640080"/>
          </a:xfrm>
          <a:prstGeom prst="rect">
            <a:avLst/>
          </a:prstGeom>
          <a:noFill/>
        </p:spPr>
        <p:txBody>
          <a:bodyPr wrap="square" anchor="t" lIns="45720" rIns="45720" tIns="27432" bIns="27432">
            <a:spAutoFit/>
          </a:bodyPr>
          <a:lstStyle/>
          <a:p>
            <a:pPr algn="l">
              <a:spcAft>
                <a:spcPts val="400"/>
              </a:spcAft>
            </a:pPr>
            <a:r>
              <a:rPr sz="3000" b="1">
                <a:solidFill>
                  <a:srgbClr val="F68B28"/>
                </a:solidFill>
              </a:rPr>
              <a:t>×710</a:t>
            </a:r>
          </a:p>
        </p:txBody>
      </p:sp>
      <p:sp>
        <p:nvSpPr>
          <p:cNvPr id="10" name="TextBox 9"/>
          <p:cNvSpPr txBox="1"/>
          <p:nvPr/>
        </p:nvSpPr>
        <p:spPr>
          <a:xfrm>
            <a:off x="6327648" y="2560320"/>
            <a:ext cx="2286000" cy="914400"/>
          </a:xfrm>
          <a:prstGeom prst="rect">
            <a:avLst/>
          </a:prstGeom>
          <a:noFill/>
        </p:spPr>
        <p:txBody>
          <a:bodyPr wrap="square" anchor="t" lIns="45720" rIns="45720" tIns="27432" bIns="27432">
            <a:spAutoFit/>
          </a:bodyPr>
          <a:lstStyle/>
          <a:p>
            <a:pPr algn="l">
              <a:spcAft>
                <a:spcPts val="400"/>
              </a:spcAft>
            </a:pPr>
            <a:r>
              <a:rPr sz="1200" b="0">
                <a:solidFill>
                  <a:srgbClr val="595959"/>
                </a:solidFill>
              </a:rPr>
              <a:t>slower inference of DistilBERT vs TF-IDF, still only about 40 ms per sentence</a:t>
            </a:r>
          </a:p>
        </p:txBody>
      </p:sp>
      <p:sp>
        <p:nvSpPr>
          <p:cNvPr id="11" name="Rectangle 10"/>
          <p:cNvSpPr/>
          <p:nvPr/>
        </p:nvSpPr>
        <p:spPr>
          <a:xfrm>
            <a:off x="6172200" y="3657600"/>
            <a:ext cx="2542032" cy="2286000"/>
          </a:xfrm>
          <a:prstGeom prst="rect">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3657600"/>
            <a:ext cx="2542032" cy="64008"/>
          </a:xfrm>
          <a:prstGeom prst="rect">
            <a:avLst/>
          </a:prstGeom>
          <a:solidFill>
            <a:srgbClr val="0B4D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7648" y="3794760"/>
            <a:ext cx="2286000" cy="457200"/>
          </a:xfrm>
          <a:prstGeom prst="rect">
            <a:avLst/>
          </a:prstGeom>
          <a:noFill/>
        </p:spPr>
        <p:txBody>
          <a:bodyPr wrap="square" anchor="t" lIns="45720" rIns="45720" tIns="27432" bIns="27432">
            <a:spAutoFit/>
          </a:bodyPr>
          <a:lstStyle/>
          <a:p>
            <a:pPr algn="l">
              <a:spcAft>
                <a:spcPts val="400"/>
              </a:spcAft>
            </a:pPr>
            <a:r>
              <a:rPr sz="1500" b="1">
                <a:solidFill>
                  <a:srgbClr val="0B4DC7"/>
                </a:solidFill>
              </a:rPr>
              <a:t>Fine-tuning is affordable</a:t>
            </a:r>
          </a:p>
        </p:txBody>
      </p:sp>
      <p:sp>
        <p:nvSpPr>
          <p:cNvPr id="14" name="TextBox 13"/>
          <p:cNvSpPr txBox="1"/>
          <p:nvPr/>
        </p:nvSpPr>
        <p:spPr>
          <a:xfrm>
            <a:off x="6327648" y="4297680"/>
            <a:ext cx="2286000" cy="1554480"/>
          </a:xfrm>
          <a:prstGeom prst="rect">
            <a:avLst/>
          </a:prstGeom>
          <a:noFill/>
        </p:spPr>
        <p:txBody>
          <a:bodyPr wrap="square" anchor="t" lIns="45720" rIns="45720" tIns="27432" bIns="27432">
            <a:spAutoFit/>
          </a:bodyPr>
          <a:lstStyle/>
          <a:p>
            <a:pPr algn="l">
              <a:spcAft>
                <a:spcPts val="400"/>
              </a:spcAft>
            </a:pPr>
            <a:r>
              <a:rPr sz="1200" b="0">
                <a:solidFill>
                  <a:srgbClr val="595959"/>
                </a:solidFill>
              </a:rPr>
              <a:t>Training on the laptop CPU took from 2 minutes to 2.6 hours. No GPU is needed for a few thousand examples.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itle 4"/>
          <p:cNvSpPr>
            <a:spLocks noGrp="1"/>
          </p:cNvSpPr>
          <p:nvPr>
            <p:ph type="title"/>
          </p:nvPr>
        </p:nvSpPr>
        <p:spPr>
          <a:xfrm>
            <a:off x="429768" y="320040"/>
            <a:ext cx="7086600" cy="1325880"/>
          </a:xfrm>
        </p:spPr>
        <p:txBody>
          <a:bodyPr anchor="ctr"/>
          <a:lstStyle/>
          <a:p>
            <a:r>
              <a:rPr sz="2800" b="1"/>
              <a:t>Pre-training is the key: fewer labels, higher accuracy</a:t>
            </a:r>
          </a:p>
        </p:txBody>
      </p:sp>
      <p:graphicFrame>
        <p:nvGraphicFramePr>
          <p:cNvPr id="6" name="Chart 5"/>
          <p:cNvGraphicFramePr>
            <a:graphicFrameLocks noGrp="1"/>
          </p:cNvGraphicFramePr>
          <p:nvPr/>
        </p:nvGraphicFramePr>
        <p:xfrm>
          <a:off x="365760" y="1691640"/>
          <a:ext cx="5669280" cy="4434840"/>
        </p:xfrm>
        <a:graphic>
          <a:graphicData uri="http://schemas.openxmlformats.org/drawingml/2006/chart">
            <c:chart xmlns:c="http://schemas.openxmlformats.org/drawingml/2006/chart" r:id="rId2"/>
          </a:graphicData>
        </a:graphic>
      </p:graphicFrame>
      <p:sp>
        <p:nvSpPr>
          <p:cNvPr id="7" name="Rectangle 6"/>
          <p:cNvSpPr/>
          <p:nvPr/>
        </p:nvSpPr>
        <p:spPr>
          <a:xfrm>
            <a:off x="6263640" y="1783080"/>
            <a:ext cx="2468880" cy="1920240"/>
          </a:xfrm>
          <a:prstGeom prst="rect">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63640" y="1783080"/>
            <a:ext cx="82296" cy="1920240"/>
          </a:xfrm>
          <a:prstGeom prst="rect">
            <a:avLst/>
          </a:prstGeom>
          <a:solidFill>
            <a:srgbClr val="0B4D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74519"/>
            <a:ext cx="2194560" cy="640080"/>
          </a:xfrm>
          <a:prstGeom prst="rect">
            <a:avLst/>
          </a:prstGeom>
          <a:noFill/>
        </p:spPr>
        <p:txBody>
          <a:bodyPr wrap="square" anchor="t" lIns="45720" rIns="45720" tIns="27432" bIns="27432">
            <a:spAutoFit/>
          </a:bodyPr>
          <a:lstStyle/>
          <a:p>
            <a:pPr algn="l">
              <a:spcAft>
                <a:spcPts val="400"/>
              </a:spcAft>
            </a:pPr>
            <a:r>
              <a:rPr sz="2600" b="1">
                <a:solidFill>
                  <a:srgbClr val="0B4DC7"/>
                </a:solidFill>
              </a:rPr>
              <a:t>4,000</a:t>
            </a:r>
          </a:p>
        </p:txBody>
      </p:sp>
      <p:sp>
        <p:nvSpPr>
          <p:cNvPr id="10" name="TextBox 9"/>
          <p:cNvSpPr txBox="1"/>
          <p:nvPr/>
        </p:nvSpPr>
        <p:spPr>
          <a:xfrm>
            <a:off x="6446520" y="2560320"/>
            <a:ext cx="2194560" cy="1097280"/>
          </a:xfrm>
          <a:prstGeom prst="rect">
            <a:avLst/>
          </a:prstGeom>
          <a:noFill/>
        </p:spPr>
        <p:txBody>
          <a:bodyPr wrap="square" anchor="t" lIns="45720" rIns="45720" tIns="27432" bIns="27432">
            <a:spAutoFit/>
          </a:bodyPr>
          <a:lstStyle/>
          <a:p>
            <a:pPr algn="l">
              <a:spcAft>
                <a:spcPts val="400"/>
              </a:spcAft>
            </a:pPr>
            <a:r>
              <a:rPr sz="1150" b="0">
                <a:solidFill>
                  <a:srgbClr val="595959"/>
                </a:solidFill>
              </a:rPr>
              <a:t>labels: BERT-small already matches the best classical model trained on all 65k (82.7% vs 82.9%)</a:t>
            </a:r>
          </a:p>
        </p:txBody>
      </p:sp>
      <p:sp>
        <p:nvSpPr>
          <p:cNvPr id="11" name="Rectangle 10"/>
          <p:cNvSpPr/>
          <p:nvPr/>
        </p:nvSpPr>
        <p:spPr>
          <a:xfrm>
            <a:off x="6263640" y="3931920"/>
            <a:ext cx="2468880" cy="1920240"/>
          </a:xfrm>
          <a:prstGeom prst="rect">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3931920"/>
            <a:ext cx="82296" cy="1920240"/>
          </a:xfrm>
          <a:prstGeom prst="rect">
            <a:avLst/>
          </a:prstGeom>
          <a:solidFill>
            <a:srgbClr val="F68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023359"/>
            <a:ext cx="2194560" cy="640080"/>
          </a:xfrm>
          <a:prstGeom prst="rect">
            <a:avLst/>
          </a:prstGeom>
          <a:noFill/>
        </p:spPr>
        <p:txBody>
          <a:bodyPr wrap="square" anchor="t" lIns="45720" rIns="45720" tIns="27432" bIns="27432">
            <a:spAutoFit/>
          </a:bodyPr>
          <a:lstStyle/>
          <a:p>
            <a:pPr algn="l">
              <a:spcAft>
                <a:spcPts val="400"/>
              </a:spcAft>
            </a:pPr>
            <a:r>
              <a:rPr sz="2600" b="1">
                <a:solidFill>
                  <a:srgbClr val="F68B28"/>
                </a:solidFill>
              </a:rPr>
              <a:t>+14 p.p.</a:t>
            </a:r>
          </a:p>
        </p:txBody>
      </p:sp>
      <p:sp>
        <p:nvSpPr>
          <p:cNvPr id="14" name="TextBox 13"/>
          <p:cNvSpPr txBox="1"/>
          <p:nvPr/>
        </p:nvSpPr>
        <p:spPr>
          <a:xfrm>
            <a:off x="6446520" y="4709159"/>
            <a:ext cx="2194560" cy="1097280"/>
          </a:xfrm>
          <a:prstGeom prst="rect">
            <a:avLst/>
          </a:prstGeom>
          <a:noFill/>
        </p:spPr>
        <p:txBody>
          <a:bodyPr wrap="square" anchor="t" lIns="45720" rIns="45720" tIns="27432" bIns="27432">
            <a:spAutoFit/>
          </a:bodyPr>
          <a:lstStyle/>
          <a:p>
            <a:pPr algn="l">
              <a:spcAft>
                <a:spcPts val="400"/>
              </a:spcAft>
            </a:pPr>
            <a:r>
              <a:rPr sz="1150" b="0">
                <a:solidFill>
                  <a:srgbClr val="595959"/>
                </a:solidFill>
              </a:rPr>
              <a:t>advantage with only 500 labels; the gap shrinks as data grows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itle 4"/>
          <p:cNvSpPr>
            <a:spLocks noGrp="1"/>
          </p:cNvSpPr>
          <p:nvPr>
            <p:ph type="title"/>
          </p:nvPr>
        </p:nvSpPr>
        <p:spPr>
          <a:xfrm>
            <a:off x="429768" y="320040"/>
            <a:ext cx="7086600" cy="1325880"/>
          </a:xfrm>
        </p:spPr>
        <p:txBody>
          <a:bodyPr anchor="ctr"/>
          <a:lstStyle/>
          <a:p>
            <a:r>
              <a:rPr sz="2800" b="1"/>
              <a:t>Context matters: negation and contrast sentences</a:t>
            </a:r>
          </a:p>
        </p:txBody>
      </p:sp>
      <p:graphicFrame>
        <p:nvGraphicFramePr>
          <p:cNvPr id="6" name="Chart 5"/>
          <p:cNvGraphicFramePr>
            <a:graphicFrameLocks noGrp="1"/>
          </p:cNvGraphicFramePr>
          <p:nvPr/>
        </p:nvGraphicFramePr>
        <p:xfrm>
          <a:off x="365760" y="1691640"/>
          <a:ext cx="4846320" cy="4434840"/>
        </p:xfrm>
        <a:graphic>
          <a:graphicData uri="http://schemas.openxmlformats.org/drawingml/2006/chart">
            <c:chart xmlns:c="http://schemas.openxmlformats.org/drawingml/2006/chart" r:id="rId2"/>
          </a:graphicData>
        </a:graphic>
      </p:graphicFrame>
      <p:pic>
        <p:nvPicPr>
          <p:cNvPr id="7" name="Picture 6" descr="attention.png"/>
          <p:cNvPicPr>
            <a:picLocks noChangeAspect="1"/>
          </p:cNvPicPr>
          <p:nvPr/>
        </p:nvPicPr>
        <p:blipFill>
          <a:blip r:embed="rId3"/>
          <a:stretch>
            <a:fillRect/>
          </a:stretch>
        </p:blipFill>
        <p:spPr>
          <a:xfrm>
            <a:off x="5440680" y="1737360"/>
            <a:ext cx="3291840" cy="2821577"/>
          </a:xfrm>
          <a:prstGeom prst="rect">
            <a:avLst/>
          </a:prstGeom>
        </p:spPr>
      </p:pic>
      <p:sp>
        <p:nvSpPr>
          <p:cNvPr id="8" name="TextBox 7"/>
          <p:cNvSpPr txBox="1"/>
          <p:nvPr/>
        </p:nvSpPr>
        <p:spPr>
          <a:xfrm>
            <a:off x="5440680" y="4846320"/>
            <a:ext cx="3291840" cy="914400"/>
          </a:xfrm>
          <a:prstGeom prst="rect">
            <a:avLst/>
          </a:prstGeom>
          <a:noFill/>
        </p:spPr>
        <p:txBody>
          <a:bodyPr wrap="square" anchor="t" lIns="45720" rIns="45720" tIns="27432" bIns="27432">
            <a:spAutoFit/>
          </a:bodyPr>
          <a:lstStyle/>
          <a:p>
            <a:pPr algn="l">
              <a:spcAft>
                <a:spcPts val="400"/>
              </a:spcAft>
            </a:pPr>
            <a:r>
              <a:rPr sz="1100" b="0">
                <a:solidFill>
                  <a:srgbClr val="595959"/>
                </a:solidFill>
              </a:rPr>
              <a:t>“the plot was not good, but the acting was brilliant”: DistilBERT attention, last layer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itle 4"/>
          <p:cNvSpPr>
            <a:spLocks noGrp="1"/>
          </p:cNvSpPr>
          <p:nvPr>
            <p:ph type="title"/>
          </p:nvPr>
        </p:nvSpPr>
        <p:spPr>
          <a:xfrm>
            <a:off x="429768" y="320040"/>
            <a:ext cx="7086600" cy="1325880"/>
          </a:xfrm>
        </p:spPr>
        <p:txBody>
          <a:bodyPr anchor="ctr"/>
          <a:lstStyle/>
          <a:p>
            <a:r>
              <a:rPr sz="2800" b="1"/>
              <a:t>Conclusions and recommendations</a:t>
            </a:r>
          </a:p>
        </p:txBody>
      </p:sp>
      <p:sp>
        <p:nvSpPr>
          <p:cNvPr id="6" name="Oval 5"/>
          <p:cNvSpPr/>
          <p:nvPr/>
        </p:nvSpPr>
        <p:spPr>
          <a:xfrm>
            <a:off x="429768" y="1773936"/>
            <a:ext cx="384048" cy="384048"/>
          </a:xfrm>
          <a:prstGeom prst="ellipse">
            <a:avLst/>
          </a:prstGeom>
          <a:solidFill>
            <a:srgbClr val="0B4D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7" name="TextBox 6"/>
          <p:cNvSpPr txBox="1"/>
          <p:nvPr/>
        </p:nvSpPr>
        <p:spPr>
          <a:xfrm>
            <a:off x="978408" y="1737360"/>
            <a:ext cx="7726679" cy="731520"/>
          </a:xfrm>
          <a:prstGeom prst="rect">
            <a:avLst/>
          </a:prstGeom>
          <a:noFill/>
        </p:spPr>
        <p:txBody>
          <a:bodyPr wrap="square" anchor="t" lIns="45720" rIns="45720" tIns="27432" bIns="27432">
            <a:spAutoFit/>
          </a:bodyPr>
          <a:lstStyle/>
          <a:p>
            <a:pPr algn="l">
              <a:spcAft>
                <a:spcPts val="400"/>
              </a:spcAft>
            </a:pPr>
            <a:r>
              <a:rPr sz="1450" b="0">
                <a:solidFill>
                  <a:srgbClr val="000000"/>
                </a:solidFill>
              </a:rPr>
              <a:t>Fine-tuned Transformers are the most accurate: 88.8% vs 82.9% (classical) and 82.8% (BiLSTM)</a:t>
            </a:r>
          </a:p>
        </p:txBody>
      </p:sp>
      <p:sp>
        <p:nvSpPr>
          <p:cNvPr id="8" name="Oval 7"/>
          <p:cNvSpPr/>
          <p:nvPr/>
        </p:nvSpPr>
        <p:spPr>
          <a:xfrm>
            <a:off x="429768" y="2560320"/>
            <a:ext cx="384048" cy="384048"/>
          </a:xfrm>
          <a:prstGeom prst="ellipse">
            <a:avLst/>
          </a:prstGeom>
          <a:solidFill>
            <a:srgbClr val="F68B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9" name="TextBox 8"/>
          <p:cNvSpPr txBox="1"/>
          <p:nvPr/>
        </p:nvSpPr>
        <p:spPr>
          <a:xfrm>
            <a:off x="978408" y="2523744"/>
            <a:ext cx="7726679" cy="731520"/>
          </a:xfrm>
          <a:prstGeom prst="rect">
            <a:avLst/>
          </a:prstGeom>
          <a:noFill/>
        </p:spPr>
        <p:txBody>
          <a:bodyPr wrap="square" anchor="t" lIns="45720" rIns="45720" tIns="27432" bIns="27432">
            <a:spAutoFit/>
          </a:bodyPr>
          <a:lstStyle/>
          <a:p>
            <a:pPr algn="l">
              <a:spcAft>
                <a:spcPts val="400"/>
              </a:spcAft>
            </a:pPr>
            <a:r>
              <a:rPr sz="1450" b="0">
                <a:solidFill>
                  <a:srgbClr val="000000"/>
                </a:solidFill>
              </a:rPr>
              <a:t>Pre-training gives data efficiency: BERT-small with 4,000 labels matches classical models trained on 65k; DistilBERT with 8,000 beats them</a:t>
            </a:r>
          </a:p>
        </p:txBody>
      </p:sp>
      <p:sp>
        <p:nvSpPr>
          <p:cNvPr id="10" name="Oval 9"/>
          <p:cNvSpPr/>
          <p:nvPr/>
        </p:nvSpPr>
        <p:spPr>
          <a:xfrm>
            <a:off x="429768" y="3346704"/>
            <a:ext cx="384048" cy="384048"/>
          </a:xfrm>
          <a:prstGeom prst="ellipse">
            <a:avLst/>
          </a:prstGeom>
          <a:solidFill>
            <a:srgbClr val="0B4D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11" name="TextBox 10"/>
          <p:cNvSpPr txBox="1"/>
          <p:nvPr/>
        </p:nvSpPr>
        <p:spPr>
          <a:xfrm>
            <a:off x="978408" y="3310128"/>
            <a:ext cx="7726679" cy="731520"/>
          </a:xfrm>
          <a:prstGeom prst="rect">
            <a:avLst/>
          </a:prstGeom>
          <a:noFill/>
        </p:spPr>
        <p:txBody>
          <a:bodyPr wrap="square" anchor="t" lIns="45720" rIns="45720" tIns="27432" bIns="27432">
            <a:spAutoFit/>
          </a:bodyPr>
          <a:lstStyle/>
          <a:p>
            <a:pPr algn="l">
              <a:spcAft>
                <a:spcPts val="400"/>
              </a:spcAft>
            </a:pPr>
            <a:r>
              <a:rPr sz="1450" b="0">
                <a:solidFill>
                  <a:srgbClr val="000000"/>
                </a:solidFill>
              </a:rPr>
              <a:t>Cost is real but manageable: minutes of CPU fine-tuning, milliseconds per sentence</a:t>
            </a:r>
          </a:p>
        </p:txBody>
      </p:sp>
      <p:sp>
        <p:nvSpPr>
          <p:cNvPr id="12" name="Oval 11"/>
          <p:cNvSpPr/>
          <p:nvPr/>
        </p:nvSpPr>
        <p:spPr>
          <a:xfrm>
            <a:off x="429768" y="4133088"/>
            <a:ext cx="384048" cy="384048"/>
          </a:xfrm>
          <a:prstGeom prst="ellipse">
            <a:avLst/>
          </a:prstGeom>
          <a:solidFill>
            <a:srgbClr val="F68B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13" name="TextBox 12"/>
          <p:cNvSpPr txBox="1"/>
          <p:nvPr/>
        </p:nvSpPr>
        <p:spPr>
          <a:xfrm>
            <a:off x="978408" y="4096512"/>
            <a:ext cx="7726679" cy="731520"/>
          </a:xfrm>
          <a:prstGeom prst="rect">
            <a:avLst/>
          </a:prstGeom>
          <a:noFill/>
        </p:spPr>
        <p:txBody>
          <a:bodyPr wrap="square" anchor="t" lIns="45720" rIns="45720" tIns="27432" bIns="27432">
            <a:spAutoFit/>
          </a:bodyPr>
          <a:lstStyle/>
          <a:p>
            <a:pPr algn="l">
              <a:spcAft>
                <a:spcPts val="400"/>
              </a:spcAft>
            </a:pPr>
            <a:r>
              <a:rPr sz="1450" b="0">
                <a:solidFill>
                  <a:srgbClr val="000000"/>
                </a:solidFill>
              </a:rPr>
              <a:t>Reuse first: an in-domain public model gives 91.1% with zero training; zero-shot (81.8%) and out-of-domain models are useful but weaker</a:t>
            </a:r>
          </a:p>
        </p:txBody>
      </p:sp>
      <p:sp>
        <p:nvSpPr>
          <p:cNvPr id="14" name="Oval 13"/>
          <p:cNvSpPr/>
          <p:nvPr/>
        </p:nvSpPr>
        <p:spPr>
          <a:xfrm>
            <a:off x="429768" y="4919472"/>
            <a:ext cx="384048" cy="384048"/>
          </a:xfrm>
          <a:prstGeom prst="ellipse">
            <a:avLst/>
          </a:prstGeom>
          <a:solidFill>
            <a:srgbClr val="0B4D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5</a:t>
            </a:r>
          </a:p>
        </p:txBody>
      </p:sp>
      <p:sp>
        <p:nvSpPr>
          <p:cNvPr id="15" name="TextBox 14"/>
          <p:cNvSpPr txBox="1"/>
          <p:nvPr/>
        </p:nvSpPr>
        <p:spPr>
          <a:xfrm>
            <a:off x="978408" y="4882896"/>
            <a:ext cx="7726679" cy="731520"/>
          </a:xfrm>
          <a:prstGeom prst="rect">
            <a:avLst/>
          </a:prstGeom>
          <a:noFill/>
        </p:spPr>
        <p:txBody>
          <a:bodyPr wrap="square" anchor="t" lIns="45720" rIns="45720" tIns="27432" bIns="27432">
            <a:spAutoFit/>
          </a:bodyPr>
          <a:lstStyle/>
          <a:p>
            <a:pPr algn="l">
              <a:spcAft>
                <a:spcPts val="400"/>
              </a:spcAft>
            </a:pPr>
            <a:r>
              <a:rPr sz="1450" b="0">
                <a:solidFill>
                  <a:srgbClr val="000000"/>
                </a:solidFill>
              </a:rPr>
              <a:t>For Lithuanian: fine-tune LitLat BERT or XLM-R on a small labelled set, the next step of this work</a:t>
            </a:r>
          </a:p>
        </p:txBody>
      </p:sp>
      <p:sp>
        <p:nvSpPr>
          <p:cNvPr id="16" name="TextBox 15"/>
          <p:cNvSpPr txBox="1"/>
          <p:nvPr/>
        </p:nvSpPr>
        <p:spPr>
          <a:xfrm>
            <a:off x="429768" y="5897880"/>
            <a:ext cx="8229600" cy="457200"/>
          </a:xfrm>
          <a:prstGeom prst="rect">
            <a:avLst/>
          </a:prstGeom>
          <a:noFill/>
        </p:spPr>
        <p:txBody>
          <a:bodyPr wrap="square" anchor="t" lIns="45720" rIns="45720" tIns="27432" bIns="27432">
            <a:spAutoFit/>
          </a:bodyPr>
          <a:lstStyle/>
          <a:p>
            <a:pPr algn="l">
              <a:spcAft>
                <a:spcPts val="400"/>
              </a:spcAft>
            </a:pPr>
            <a:r>
              <a:rPr sz="2000" b="1">
                <a:solidFill>
                  <a:srgbClr val="0B4DC7"/>
                </a:solidFill>
              </a:rPr>
              <a:t>Thank you! Questions?</a:t>
            </a:r>
          </a:p>
        </p:txBody>
      </p:sp>
    </p:spTree>
  </p:cSld>
  <p:clrMapOvr>
    <a:masterClrMapping/>
  </p:clrMapOvr>
</p:sld>
</file>

<file path=ppt/theme/theme1.xml><?xml version="1.0" encoding="utf-8"?>
<a:theme xmlns:a="http://schemas.openxmlformats.org/drawingml/2006/main" name="Vilnius_Tech_mėlynas_LT">
  <a:themeElements>
    <a:clrScheme name="Vilnius Tech Spalvos">
      <a:dk1>
        <a:srgbClr val="000000"/>
      </a:dk1>
      <a:lt1>
        <a:srgbClr val="FFFFFF"/>
      </a:lt1>
      <a:dk2>
        <a:srgbClr val="44546A"/>
      </a:dk2>
      <a:lt2>
        <a:srgbClr val="E7E6E6"/>
      </a:lt2>
      <a:accent1>
        <a:srgbClr val="0B4DC7"/>
      </a:accent1>
      <a:accent2>
        <a:srgbClr val="F68B28"/>
      </a:accent2>
      <a:accent3>
        <a:srgbClr val="BDCCD3"/>
      </a:accent3>
      <a:accent4>
        <a:srgbClr val="FEBF3E"/>
      </a:accent4>
      <a:accent5>
        <a:srgbClr val="3EB8D8"/>
      </a:accent5>
      <a:accent6>
        <a:srgbClr val="00DDA5"/>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tech_EN_standard" id="{F1C2BAF3-7BB1-7D45-BDC2-A78290B02DC0}" vid="{B35BB980-D46B-0949-B55B-E38CD5CB2FA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TotalTime>
  <Words>495</Words>
  <Application>Microsoft Macintosh PowerPoint</Application>
  <PresentationFormat>On-screen Show (4:3)</PresentationFormat>
  <Paragraphs>70</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Vilnius_Tech_mėlynas_LT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Maecenas semper nisi est, tristique ultricies tortor fringilla vel. Pellentesque lobortis volutpat magna non vehicula. Duis sit amet pellentesque lorem, eget fermentum magna.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Transformers and their application in NLP tasks</dc:title>
  <dc:creator>Shashikanth Hosur Ramegowda, Shaeed Khan</dc:creator>
  <cp:lastModifiedBy>Microsoft Office User</cp:lastModifiedBy>
  <cp:revision>2</cp:revision>
  <dcterms:created xsi:type="dcterms:W3CDTF">2020-12-16T15:42:27Z</dcterms:created>
  <dcterms:modified xsi:type="dcterms:W3CDTF">2020-12-16T15:46:02Z</dcterms:modified>
  <dc:subject>Group project, VILNIUS TECH, Engineering of Artificial Intelligence</dc:subject>
</cp:coreProperties>
</file>
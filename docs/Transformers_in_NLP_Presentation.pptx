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21a5b6d-7316-a7b9-7585-e008e58926b3}">
          <p14:sldIdLst>
            <p14:sldId id="256"/>
            <p14:sldId id="257"/>
          </p14:sldIdLst>
        </p14:section>
        <p14:section name="Theory" id="{05fa8225-1ad7-7e9e-dc39-bf2314e97ed5}">
          <p14:sldIdLst>
            <p14:sldId id="258"/>
            <p14:sldId id="259"/>
          </p14:sldIdLst>
        </p14:section>
        <p14:section name="Experiment" id="{228efbeb-4f5e-1229-168d-221074959e99}">
          <p14:sldIdLst>
            <p14:sldId id="260"/>
            <p14:sldId id="261"/>
          </p14:sldIdLst>
        </p14:section>
        <p14:section name="Results" id="{5e448d58-18e9-6572-1c2b-02f24e08f667}">
          <p14:sldIdLst>
            <p14:sldId id="262"/>
            <p14:sldId id="263"/>
            <p14:sldId id="264"/>
            <p14:sldId id="265"/>
          </p14:sldIdLst>
        </p14:section>
        <p14:section name="Conclusions" id="{6d4c0744-05bf-6b80-efc6-14192d976887}">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Classical</c:v>
                </c:pt>
              </c:strCache>
            </c:strRef>
          </c:tx>
          <c:spPr>
            <a:solidFill>
              <a:srgbClr val="2A78D6"/>
            </a:solidFill>
            <a:effectLst/>
          </c:spPr>
          <c:invertIfNegative val="0"/>
          <c:dLbls>
            <c:numFmt formatCode="0.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BERT-tiny fine-tuned (8k)</c:v>
                  </c:pt>
                  <c:pt idx="1">
                    <c:v>Zero-shot NLI DistilRoBERTa</c:v>
                  </c:pt>
                  <c:pt idx="2">
                    <c:v>TF-IDF + Logistic Regr.</c:v>
                  </c:pt>
                  <c:pt idx="3">
                    <c:v>TF-IDF + Naive Bayes</c:v>
                  </c:pt>
                  <c:pt idx="4">
                    <c:v>BiLSTM (from scratch)</c:v>
                  </c:pt>
                  <c:pt idx="5">
                    <c:v>TF-IDF + Linear SVM</c:v>
                  </c:pt>
                  <c:pt idx="6">
                    <c:v>BERT-small fine-tuned (8k)</c:v>
                  </c:pt>
                  <c:pt idx="7">
                    <c:v>Twitter-RoBERTa (off-the-shelf)</c:v>
                  </c:pt>
                  <c:pt idx="8">
                    <c:v>DistilBERT fine-tuned (8k)</c:v>
                  </c:pt>
                  <c:pt idx="9">
                    <c:v>DistilBERT-SST2 (off-the-shelf)</c:v>
                  </c:pt>
                </c:lvl>
              </c:multiLvlStrCache>
            </c:multiLvlStrRef>
          </c:cat>
          <c:val>
            <c:numRef>
              <c:f>Sheet1!$B$2:$B$11</c:f>
              <c:numCache>
                <c:formatCode>General</c:formatCode>
                <c:ptCount val="10"/>
                <c:pt idx="0">
                  <c:v/>
                </c:pt>
                <c:pt idx="1">
                  <c:v/>
                </c:pt>
                <c:pt idx="2">
                  <c:v>81.9</c:v>
                </c:pt>
                <c:pt idx="3">
                  <c:v>82.2</c:v>
                </c:pt>
                <c:pt idx="4">
                  <c:v/>
                </c:pt>
                <c:pt idx="5">
                  <c:v>82.9</c:v>
                </c:pt>
                <c:pt idx="6">
                  <c:v/>
                </c:pt>
                <c:pt idx="7">
                  <c:v/>
                </c:pt>
                <c:pt idx="8">
                  <c:v/>
                </c:pt>
                <c:pt idx="9">
                  <c:v/>
                </c:pt>
              </c:numCache>
            </c:numRef>
          </c:val>
        </c:ser>
        <c:ser>
          <c:idx val="1"/>
          <c:order val="1"/>
          <c:tx>
            <c:strRef>
              <c:f>Sheet1!$C$1</c:f>
              <c:strCache>
                <c:ptCount val="1"/>
                <c:pt idx="0">
                  <c:v>Recurrent</c:v>
                </c:pt>
              </c:strCache>
            </c:strRef>
          </c:tx>
          <c:spPr>
            <a:solidFill>
              <a:srgbClr val="EB6834"/>
            </a:solidFill>
            <a:effectLst/>
          </c:spPr>
          <c:invertIfNegative val="0"/>
          <c:dLbls>
            <c:numFmt formatCode="0.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BERT-tiny fine-tuned (8k)</c:v>
                  </c:pt>
                  <c:pt idx="1">
                    <c:v>Zero-shot NLI DistilRoBERTa</c:v>
                  </c:pt>
                  <c:pt idx="2">
                    <c:v>TF-IDF + Logistic Regr.</c:v>
                  </c:pt>
                  <c:pt idx="3">
                    <c:v>TF-IDF + Naive Bayes</c:v>
                  </c:pt>
                  <c:pt idx="4">
                    <c:v>BiLSTM (from scratch)</c:v>
                  </c:pt>
                  <c:pt idx="5">
                    <c:v>TF-IDF + Linear SVM</c:v>
                  </c:pt>
                  <c:pt idx="6">
                    <c:v>BERT-small fine-tuned (8k)</c:v>
                  </c:pt>
                  <c:pt idx="7">
                    <c:v>Twitter-RoBERTa (off-the-shelf)</c:v>
                  </c:pt>
                  <c:pt idx="8">
                    <c:v>DistilBERT fine-tuned (8k)</c:v>
                  </c:pt>
                  <c:pt idx="9">
                    <c:v>DistilBERT-SST2 (off-the-shelf)</c:v>
                  </c:pt>
                </c:lvl>
              </c:multiLvlStrCache>
            </c:multiLvlStrRef>
          </c:cat>
          <c:val>
            <c:numRef>
              <c:f>Sheet1!$C$2:$C$11</c:f>
              <c:numCache>
                <c:formatCode>General</c:formatCode>
                <c:ptCount val="10"/>
                <c:pt idx="0">
                  <c:v/>
                </c:pt>
                <c:pt idx="1">
                  <c:v/>
                </c:pt>
                <c:pt idx="2">
                  <c:v/>
                </c:pt>
                <c:pt idx="3">
                  <c:v/>
                </c:pt>
                <c:pt idx="4">
                  <c:v>82.8</c:v>
                </c:pt>
                <c:pt idx="5">
                  <c:v/>
                </c:pt>
                <c:pt idx="6">
                  <c:v/>
                </c:pt>
                <c:pt idx="7">
                  <c:v/>
                </c:pt>
                <c:pt idx="8">
                  <c:v/>
                </c:pt>
                <c:pt idx="9">
                  <c:v/>
                </c:pt>
              </c:numCache>
            </c:numRef>
          </c:val>
        </c:ser>
        <c:ser>
          <c:idx val="2"/>
          <c:order val="2"/>
          <c:tx>
            <c:strRef>
              <c:f>Sheet1!$D$1</c:f>
              <c:strCache>
                <c:ptCount val="1"/>
                <c:pt idx="0">
                  <c:v>Transformer</c:v>
                </c:pt>
              </c:strCache>
            </c:strRef>
          </c:tx>
          <c:spPr>
            <a:solidFill>
              <a:srgbClr val="1BAF7A"/>
            </a:solidFill>
            <a:effectLst/>
          </c:spPr>
          <c:invertIfNegative val="0"/>
          <c:dLbls>
            <c:numFmt formatCode="0.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BERT-tiny fine-tuned (8k)</c:v>
                  </c:pt>
                  <c:pt idx="1">
                    <c:v>Zero-shot NLI DistilRoBERTa</c:v>
                  </c:pt>
                  <c:pt idx="2">
                    <c:v>TF-IDF + Logistic Regr.</c:v>
                  </c:pt>
                  <c:pt idx="3">
                    <c:v>TF-IDF + Naive Bayes</c:v>
                  </c:pt>
                  <c:pt idx="4">
                    <c:v>BiLSTM (from scratch)</c:v>
                  </c:pt>
                  <c:pt idx="5">
                    <c:v>TF-IDF + Linear SVM</c:v>
                  </c:pt>
                  <c:pt idx="6">
                    <c:v>BERT-small fine-tuned (8k)</c:v>
                  </c:pt>
                  <c:pt idx="7">
                    <c:v>Twitter-RoBERTa (off-the-shelf)</c:v>
                  </c:pt>
                  <c:pt idx="8">
                    <c:v>DistilBERT fine-tuned (8k)</c:v>
                  </c:pt>
                  <c:pt idx="9">
                    <c:v>DistilBERT-SST2 (off-the-shelf)</c:v>
                  </c:pt>
                </c:lvl>
              </c:multiLvlStrCache>
            </c:multiLvlStrRef>
          </c:cat>
          <c:val>
            <c:numRef>
              <c:f>Sheet1!$D$2:$D$11</c:f>
              <c:numCache>
                <c:formatCode>General</c:formatCode>
                <c:ptCount val="10"/>
                <c:pt idx="0">
                  <c:v>76.6</c:v>
                </c:pt>
                <c:pt idx="1">
                  <c:v>81.8</c:v>
                </c:pt>
                <c:pt idx="2">
                  <c:v/>
                </c:pt>
                <c:pt idx="3">
                  <c:v/>
                </c:pt>
                <c:pt idx="4">
                  <c:v/>
                </c:pt>
                <c:pt idx="5">
                  <c:v/>
                </c:pt>
                <c:pt idx="6">
                  <c:v>83.7</c:v>
                </c:pt>
                <c:pt idx="7">
                  <c:v>85.8</c:v>
                </c:pt>
                <c:pt idx="8">
                  <c:v>88.8</c:v>
                </c:pt>
                <c:pt idx="9">
                  <c:v>91.1</c:v>
                </c:pt>
              </c:numCache>
            </c:numRef>
          </c:val>
        </c:ser>
        <c:dLbls>
          <c:numFmt formatCode="0.0" sourceLinked="0"/>
          <c:txPr>
            <a:bodyPr/>
            <a:lstStyle/>
            <a:p>
              <a:pPr>
                <a:defRPr b="0"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6E"/>
                </a:solidFill>
                <a:latin typeface="+mn-lt"/>
              </a:defRPr>
            </a:pPr>
            <a:endParaRPr lang="en-US"/>
          </a:p>
        </c:txPr>
        <c:crossAx val="2094734552"/>
        <c:crosses val="autoZero"/>
        <c:auto val="1"/>
        <c:lblAlgn val="ctr"/>
        <c:noMultiLvlLbl val="1"/>
      </c:catAx>
      <c:valAx>
        <c:axId val="2094734552"/>
        <c:scaling>
          <c:orientation val="minMax"/>
          <c:max val="100"/>
          <c:min val="50"/>
        </c:scaling>
        <c:delete val="0"/>
        <c:axPos val="b"/>
        <c:majorGridlines>
          <c:spPr>
            <a:ln w="6350" cap="flat">
              <a:solidFill>
                <a:srgbClr val="E4E3EF"/>
              </a:solidFill>
              <a:prstDash val="solid"/>
              <a:round/>
            </a:ln>
          </c:spPr>
        </c:majorGridlines>
        <c:title>
          <c:tx>
            <c:rich>
              <a:bodyPr/>
              <a:lstStyle/>
              <a:p>
                <a:pPr>
                  <a:defRPr sz="1100" b="0" i="0" u="none" strike="noStrike">
                    <a:solidFill>
                      <a:srgbClr val="52516E"/>
                    </a:solidFill>
                    <a:latin typeface="Arial"/>
                  </a:defRPr>
                </a:pPr>
                <a:r>
                  <a:rPr sz="1100" b="0" i="0" u="none" strike="noStrike">
                    <a:solidFill>
                      <a:srgbClr val="52516E"/>
                    </a:solidFill>
                    <a:latin typeface="Arial"/>
                  </a:rPr>
                  <a:t>Test accuracy, %</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A8AA8"/>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BERT-small fine-tuned</c:v>
                </c:pt>
              </c:strCache>
            </c:strRef>
          </c:tx>
          <c:spPr>
            <a:solidFill>
              <a:srgbClr val="1BAF7A"/>
            </a:solidFill>
            <a:ln w="38100" cap="flat">
              <a:solidFill>
                <a:srgbClr val="1BAF7A"/>
              </a:solidFill>
              <a:prstDash val="solid"/>
              <a:round/>
            </a:ln>
            <a:effectLst/>
          </c:spPr>
          <c:invertIfNegative val="0"/>
          <c:dLbls>
            <c:numFmt formatCode="0.0" sourceLinked="0"/>
            <c:txPr>
              <a:bodyPr/>
              <a:lstStyle/>
              <a:p>
                <a:pPr>
                  <a:defRPr b="0" i="0" strike="noStrike" sz="1000" u="none">
                    <a:solidFill>
                      <a:srgbClr val="52516E"/>
                    </a:solidFill>
                    <a:latin typeface="+mn-lt"/>
                  </a:defRPr>
                </a:pPr>
              </a:p>
            </c:txPr>
            <c:dLblPos val="t"/>
            <c:showLegendKey val="0"/>
            <c:showVal val="1"/>
            <c:showCatName val="0"/>
            <c:showSerName val="0"/>
            <c:showPercent val="0"/>
            <c:showBubbleSize val="0"/>
            <c:showLeaderLines val="0"/>
          </c:dLbls>
          <c:marker>
            <c:symbol val="circle"/>
            <c:size val="9"/>
            <c:spPr>
              <a:solidFill>
                <a:srgbClr val="1BAF7A"/>
              </a:solidFill>
              <a:ln w="9525" cap="flat">
                <a:solidFill>
                  <a:srgbClr val="1BAF7A"/>
                </a:solidFill>
                <a:prstDash val="solid"/>
                <a:round/>
              </a:ln>
              <a:effectLst/>
            </c:spPr>
          </c:marker>
          <c:cat>
            <c:multiLvlStrRef>
              <c:f>Sheet1!$A$2:$A$6</c:f>
              <c:multiLvlStrCache>
                <c:ptCount val="5"/>
                <c:lvl>
                  <c:pt idx="0">
                    <c:v>500</c:v>
                  </c:pt>
                  <c:pt idx="1">
                    <c:v>1000</c:v>
                  </c:pt>
                  <c:pt idx="2">
                    <c:v>2000</c:v>
                  </c:pt>
                  <c:pt idx="3">
                    <c:v>4000</c:v>
                  </c:pt>
                  <c:pt idx="4">
                    <c:v>8000</c:v>
                  </c:pt>
                </c:lvl>
              </c:multiLvlStrCache>
            </c:multiLvlStrRef>
          </c:cat>
          <c:val>
            <c:numRef>
              <c:f>Sheet1!$B$2:$B$6</c:f>
              <c:numCache>
                <c:formatCode>General</c:formatCode>
                <c:ptCount val="5"/>
                <c:pt idx="0">
                  <c:v>75.9</c:v>
                </c:pt>
                <c:pt idx="1">
                  <c:v>77.6</c:v>
                </c:pt>
                <c:pt idx="2">
                  <c:v>80.7</c:v>
                </c:pt>
                <c:pt idx="3">
                  <c:v>82.7</c:v>
                </c:pt>
                <c:pt idx="4">
                  <c:v>83.7</c:v>
                </c:pt>
              </c:numCache>
            </c:numRef>
          </c:val>
          <c:smooth val="0"/>
        </c:ser>
        <c:ser>
          <c:idx val="1"/>
          <c:order val="1"/>
          <c:tx>
            <c:strRef>
              <c:f>Sheet1!$C$1</c:f>
              <c:strCache>
                <c:ptCount val="1"/>
                <c:pt idx="0">
                  <c:v>TF-IDF + Logistic Regr.</c:v>
                </c:pt>
              </c:strCache>
            </c:strRef>
          </c:tx>
          <c:spPr>
            <a:solidFill>
              <a:srgbClr val="2A78D6"/>
            </a:solidFill>
            <a:ln w="38100" cap="flat">
              <a:solidFill>
                <a:srgbClr val="2A78D6"/>
              </a:solidFill>
              <a:prstDash val="solid"/>
              <a:round/>
            </a:ln>
            <a:effectLst/>
          </c:spPr>
          <c:invertIfNegative val="0"/>
          <c:dLbls>
            <c:numFmt formatCode="0.0" sourceLinked="0"/>
            <c:txPr>
              <a:bodyPr/>
              <a:lstStyle/>
              <a:p>
                <a:pPr>
                  <a:defRPr b="0" i="0" strike="noStrike" sz="1000" u="none">
                    <a:solidFill>
                      <a:srgbClr val="52516E"/>
                    </a:solidFill>
                    <a:latin typeface="+mn-lt"/>
                  </a:defRPr>
                </a:pPr>
              </a:p>
            </c:txPr>
            <c:dLblPos val="t"/>
            <c:showLegendKey val="0"/>
            <c:showVal val="1"/>
            <c:showCatName val="0"/>
            <c:showSerName val="0"/>
            <c:showPercent val="0"/>
            <c:showBubbleSize val="0"/>
            <c:showLeaderLines val="0"/>
          </c:dLbls>
          <c:marker>
            <c:symbol val="circle"/>
            <c:size val="9"/>
            <c:spPr>
              <a:solidFill>
                <a:srgbClr val="2A78D6"/>
              </a:solidFill>
              <a:ln w="9525" cap="flat">
                <a:solidFill>
                  <a:srgbClr val="2A78D6"/>
                </a:solidFill>
                <a:prstDash val="solid"/>
                <a:round/>
              </a:ln>
              <a:effectLst/>
            </c:spPr>
          </c:marker>
          <c:cat>
            <c:multiLvlStrRef>
              <c:f>Sheet1!$A$2:$A$6</c:f>
              <c:multiLvlStrCache>
                <c:ptCount val="5"/>
                <c:lvl>
                  <c:pt idx="0">
                    <c:v>500</c:v>
                  </c:pt>
                  <c:pt idx="1">
                    <c:v>1000</c:v>
                  </c:pt>
                  <c:pt idx="2">
                    <c:v>2000</c:v>
                  </c:pt>
                  <c:pt idx="3">
                    <c:v>4000</c:v>
                  </c:pt>
                  <c:pt idx="4">
                    <c:v>8000</c:v>
                  </c:pt>
                </c:lvl>
              </c:multiLvlStrCache>
            </c:multiLvlStrRef>
          </c:cat>
          <c:val>
            <c:numRef>
              <c:f>Sheet1!$C$2:$C$6</c:f>
              <c:numCache>
                <c:formatCode>General</c:formatCode>
                <c:ptCount val="5"/>
                <c:pt idx="0">
                  <c:v>61.8</c:v>
                </c:pt>
                <c:pt idx="1">
                  <c:v>68.1</c:v>
                </c:pt>
                <c:pt idx="2">
                  <c:v>71</c:v>
                </c:pt>
                <c:pt idx="3">
                  <c:v>75.8</c:v>
                </c:pt>
                <c:pt idx="4">
                  <c:v>77.5</c:v>
                </c:pt>
              </c:numCache>
            </c:numRef>
          </c:val>
          <c:smooth val="0"/>
        </c:ser>
        <c:dLbls>
          <c:numFmt formatCode="0.0" sourceLinked="0"/>
          <c:txPr>
            <a:bodyPr/>
            <a:lstStyle/>
            <a:p>
              <a:pPr>
                <a:defRPr b="0" i="0" strike="noStrike" sz="1000" u="none">
                  <a:solidFill>
                    <a:srgbClr val="52516E"/>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2516E"/>
                    </a:solidFill>
                    <a:latin typeface="Arial"/>
                  </a:defRPr>
                </a:pPr>
                <a:r>
                  <a:rPr sz="1200" b="0" i="0" u="none" strike="noStrike">
                    <a:solidFill>
                      <a:srgbClr val="52516E"/>
                    </a:solidFill>
                    <a:latin typeface="Arial"/>
                  </a:rPr>
                  <a:t>Labelled training sentences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6E"/>
                </a:solidFill>
                <a:latin typeface="+mn-lt"/>
              </a:defRPr>
            </a:pPr>
            <a:endParaRPr lang="en-US"/>
          </a:p>
        </c:txPr>
        <c:crossAx val="2094734552"/>
        <c:crosses val="autoZero"/>
        <c:auto val="1"/>
        <c:lblAlgn val="ctr"/>
        <c:noMultiLvlLbl val="1"/>
      </c:catAx>
      <c:valAx>
        <c:axId val="2094734552"/>
        <c:scaling>
          <c:orientation val="minMax"/>
          <c:max val="95"/>
          <c:min val="60"/>
        </c:scaling>
        <c:delete val="0"/>
        <c:axPos val="l"/>
        <c:majorGridlines>
          <c:spPr>
            <a:ln w="6350" cap="flat">
              <a:solidFill>
                <a:srgbClr val="E4E3EF"/>
              </a:solidFill>
              <a:prstDash val="solid"/>
              <a:round/>
            </a:ln>
          </c:spPr>
        </c:majorGridlines>
        <c:title>
          <c:tx>
            <c:rich>
              <a:bodyPr/>
              <a:lstStyle/>
              <a:p>
                <a:pPr>
                  <a:defRPr sz="1200" b="0" i="0" u="none" strike="noStrike">
                    <a:solidFill>
                      <a:srgbClr val="52516E"/>
                    </a:solidFill>
                    <a:latin typeface="Arial"/>
                  </a:defRPr>
                </a:pPr>
                <a:r>
                  <a:rPr sz="1200" b="0" i="0" u="none" strike="noStrike">
                    <a:solidFill>
                      <a:srgbClr val="52516E"/>
                    </a:solidFill>
                    <a:latin typeface="Arial"/>
                  </a:rPr>
                  <a:t>Test accuracy,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A8AA8"/>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c:v>
                </c:pt>
              </c:strCache>
            </c:strRef>
          </c:tx>
          <c:spPr>
            <a:solidFill>
              <a:srgbClr val="B8B8D0"/>
            </a:solidFill>
            <a:effectLst/>
          </c:spPr>
          <c:invertIfNegative val="0"/>
          <c:dLbls>
            <c:numFmt formatCode="0" sourceLinked="0"/>
            <c:txPr>
              <a:bodyPr/>
              <a:lstStyle/>
              <a:p>
                <a:pPr>
                  <a:defRPr b="0" i="0" strike="noStrike" sz="900" u="none">
                    <a:solidFill>
                      <a:srgbClr val="52516E"/>
                    </a:solidFill>
                    <a:latin typeface="+mn-lt"/>
                  </a:defRPr>
                </a:pPr>
              </a:p>
            </c:txPr>
            <c:showLegendKey val="0"/>
            <c:showVal val="1"/>
            <c:showCatName val="0"/>
            <c:showSerName val="0"/>
            <c:showPercent val="0"/>
            <c:showBubbleSize val="0"/>
            <c:showLeaderLines val="0"/>
          </c:dLbls>
          <c:cat>
            <c:multiLvlStrRef>
              <c:f>Sheet1!$A$2:$A$5</c:f>
              <c:multiLvlStrCache>
                <c:ptCount val="4"/>
                <c:lvl>
                  <c:pt idx="0">
                    <c:v>TF-IDF + Linear SVM</c:v>
                  </c:pt>
                  <c:pt idx="1">
                    <c:v>BiLSTM</c:v>
                  </c:pt>
                  <c:pt idx="2">
                    <c:v>DistilBERT fine-tuned</c:v>
                  </c:pt>
                  <c:pt idx="3">
                    <c:v>DistilBERT-SST2</c:v>
                  </c:pt>
                </c:lvl>
              </c:multiLvlStrCache>
            </c:multiLvlStrRef>
          </c:cat>
          <c:val>
            <c:numRef>
              <c:f>Sheet1!$B$2:$B$5</c:f>
              <c:numCache>
                <c:formatCode>General</c:formatCode>
                <c:ptCount val="4"/>
                <c:pt idx="0">
                  <c:v>82.9</c:v>
                </c:pt>
                <c:pt idx="1">
                  <c:v>82.8</c:v>
                </c:pt>
                <c:pt idx="2">
                  <c:v>88.8</c:v>
                </c:pt>
                <c:pt idx="3">
                  <c:v>91.1</c:v>
                </c:pt>
              </c:numCache>
            </c:numRef>
          </c:val>
        </c:ser>
        <c:ser>
          <c:idx val="1"/>
          <c:order val="1"/>
          <c:tx>
            <c:strRef>
              <c:f>Sheet1!$C$1</c:f>
              <c:strCache>
                <c:ptCount val="1"/>
                <c:pt idx="0">
                  <c:v>Negation</c:v>
                </c:pt>
              </c:strCache>
            </c:strRef>
          </c:tx>
          <c:spPr>
            <a:solidFill>
              <a:srgbClr val="2A78D6"/>
            </a:solidFill>
            <a:effectLst/>
          </c:spPr>
          <c:invertIfNegative val="0"/>
          <c:dLbls>
            <c:numFmt formatCode="0" sourceLinked="0"/>
            <c:txPr>
              <a:bodyPr/>
              <a:lstStyle/>
              <a:p>
                <a:pPr>
                  <a:defRPr b="0" i="0" strike="noStrike" sz="900" u="none">
                    <a:solidFill>
                      <a:srgbClr val="52516E"/>
                    </a:solidFill>
                    <a:latin typeface="+mn-lt"/>
                  </a:defRPr>
                </a:pPr>
              </a:p>
            </c:txPr>
            <c:showLegendKey val="0"/>
            <c:showVal val="1"/>
            <c:showCatName val="0"/>
            <c:showSerName val="0"/>
            <c:showPercent val="0"/>
            <c:showBubbleSize val="0"/>
            <c:showLeaderLines val="0"/>
          </c:dLbls>
          <c:cat>
            <c:multiLvlStrRef>
              <c:f>Sheet1!$A$2:$A$5</c:f>
              <c:multiLvlStrCache>
                <c:ptCount val="4"/>
                <c:lvl>
                  <c:pt idx="0">
                    <c:v>TF-IDF + Linear SVM</c:v>
                  </c:pt>
                  <c:pt idx="1">
                    <c:v>BiLSTM</c:v>
                  </c:pt>
                  <c:pt idx="2">
                    <c:v>DistilBERT fine-tuned</c:v>
                  </c:pt>
                  <c:pt idx="3">
                    <c:v>DistilBERT-SST2</c:v>
                  </c:pt>
                </c:lvl>
              </c:multiLvlStrCache>
            </c:multiLvlStrRef>
          </c:cat>
          <c:val>
            <c:numRef>
              <c:f>Sheet1!$C$2:$C$5</c:f>
              <c:numCache>
                <c:formatCode>General</c:formatCode>
                <c:ptCount val="4"/>
                <c:pt idx="0">
                  <c:v>74.5</c:v>
                </c:pt>
                <c:pt idx="1">
                  <c:v>78.8</c:v>
                </c:pt>
                <c:pt idx="2">
                  <c:v>85.3</c:v>
                </c:pt>
                <c:pt idx="3">
                  <c:v>87</c:v>
                </c:pt>
              </c:numCache>
            </c:numRef>
          </c:val>
        </c:ser>
        <c:ser>
          <c:idx val="2"/>
          <c:order val="2"/>
          <c:tx>
            <c:strRef>
              <c:f>Sheet1!$D$1</c:f>
              <c:strCache>
                <c:ptCount val="1"/>
                <c:pt idx="0">
                  <c:v>Contrast</c:v>
                </c:pt>
              </c:strCache>
            </c:strRef>
          </c:tx>
          <c:spPr>
            <a:solidFill>
              <a:srgbClr val="EB6834"/>
            </a:solidFill>
            <a:effectLst/>
          </c:spPr>
          <c:invertIfNegative val="0"/>
          <c:dLbls>
            <c:numFmt formatCode="0" sourceLinked="0"/>
            <c:txPr>
              <a:bodyPr/>
              <a:lstStyle/>
              <a:p>
                <a:pPr>
                  <a:defRPr b="0" i="0" strike="noStrike" sz="900" u="none">
                    <a:solidFill>
                      <a:srgbClr val="52516E"/>
                    </a:solidFill>
                    <a:latin typeface="+mn-lt"/>
                  </a:defRPr>
                </a:pPr>
              </a:p>
            </c:txPr>
            <c:showLegendKey val="0"/>
            <c:showVal val="1"/>
            <c:showCatName val="0"/>
            <c:showSerName val="0"/>
            <c:showPercent val="0"/>
            <c:showBubbleSize val="0"/>
            <c:showLeaderLines val="0"/>
          </c:dLbls>
          <c:cat>
            <c:multiLvlStrRef>
              <c:f>Sheet1!$A$2:$A$5</c:f>
              <c:multiLvlStrCache>
                <c:ptCount val="4"/>
                <c:lvl>
                  <c:pt idx="0">
                    <c:v>TF-IDF + Linear SVM</c:v>
                  </c:pt>
                  <c:pt idx="1">
                    <c:v>BiLSTM</c:v>
                  </c:pt>
                  <c:pt idx="2">
                    <c:v>DistilBERT fine-tuned</c:v>
                  </c:pt>
                  <c:pt idx="3">
                    <c:v>DistilBERT-SST2</c:v>
                  </c:pt>
                </c:lvl>
              </c:multiLvlStrCache>
            </c:multiLvlStrRef>
          </c:cat>
          <c:val>
            <c:numRef>
              <c:f>Sheet1!$D$2:$D$5</c:f>
              <c:numCache>
                <c:formatCode>General</c:formatCode>
                <c:ptCount val="4"/>
                <c:pt idx="0">
                  <c:v>77.7</c:v>
                </c:pt>
                <c:pt idx="1">
                  <c:v>77.7</c:v>
                </c:pt>
                <c:pt idx="2">
                  <c:v>85.4</c:v>
                </c:pt>
                <c:pt idx="3">
                  <c:v>86.2</c:v>
                </c:pt>
              </c:numCache>
            </c:numRef>
          </c:val>
        </c:ser>
        <c:dLbls>
          <c:numFmt formatCode="0" sourceLinked="0"/>
          <c:txPr>
            <a:bodyPr/>
            <a:lstStyle/>
            <a:p>
              <a:pPr>
                <a:defRPr b="0" i="0" strike="noStrike" sz="900" u="none">
                  <a:solidFill>
                    <a:srgbClr val="52516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2516E"/>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6350" cap="flat">
              <a:solidFill>
                <a:srgbClr val="E4E3EF"/>
              </a:solidFill>
              <a:prstDash val="solid"/>
              <a:round/>
            </a:ln>
          </c:spPr>
        </c:majorGridlines>
        <c:title>
          <c:tx>
            <c:rich>
              <a:bodyPr/>
              <a:lstStyle/>
              <a:p>
                <a:pPr>
                  <a:defRPr sz="1100" b="0" i="0" u="none" strike="noStrike">
                    <a:solidFill>
                      <a:srgbClr val="52516E"/>
                    </a:solidFill>
                    <a:latin typeface="Arial"/>
                  </a:defRPr>
                </a:pPr>
                <a:r>
                  <a:rPr sz="1100" b="0" i="0" u="none" strike="noStrike">
                    <a:solidFill>
                      <a:srgbClr val="52516E"/>
                    </a:solidFill>
                    <a:latin typeface="Arial"/>
                  </a:rPr>
                  <a:t>Accuracy,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A8AA8"/>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Shashikanth (≈30 s). Introduce the team and the topic: Transformers are the architecture behind BERT, GPT and almost every modern NLP system. Our question: what do they really give, and at what cost, when you only have a normal laptop and limited labelled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Rimsha (≈45 s). Before 2017 NLP models read sentences word by word. The Transformer by Vaswani et al. removed recurrence and kept only attention. That gave parallel training and made huge pre-training possible: BERT, GPT and others. Aim of the project: explain the architecture and measure its benefit experimentally.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Rimsha (≈60 s). Explain Q, K, V: each word asks a question (query), every word offers a key, the softmax of their dot products gives attention weights, and the output is a weighted mix of values. Several heads run in parallel. Layers are stacked with residual connections and layer normalisation. For classification we take the [CLS] vector and add a softmax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Shaeed (≈60 s). We searched Google Scholar and Web of Science with the query transformer OR BERT AND sentiment / text classification, plus Lithuanian. Three model families. In Lithuania: early work showed that deep nets without pre-training lose to naive Bayes; newer work uses LitLat BERT, BERT/T5 and Lithuanian Llama2. Gap: cost and small-data behaviour on ordinary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Shaeed (≈45 s). Dataset: Stanford Sentiment Treebank, binary. The official validation set is our test set, 2,000 training sentences are the dev set. Ten models in four groups. Everything runs on the same laptop CPU so times are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Shashikanth (≈40 s). The program is a pipeline of nine scripts. The key one is the fine-tuning script: give it any model name from the Hugging Face hub and a number of training examples. All results are stored with predictions, so the report script computes tables, figures and statistical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Shashikanth (≈60 s). Ranking of all ten models. Classical TF-IDF models reach 81.9–82.9%, the BiLSTM 82.8%, our fine-tuned Transformers up to 88.8% with only 8,000 labelled sentences. The ready-made DistilBERT-SST2 reaches 91.1%. Zero-shot, with no labels at all, still gets 81.8%.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Shashikanth (≈45 s). The gain is not free: a TF-IDF model trains in seconds and classifies in microseconds; Transformers need minutes to tens of minutes of CPU training and milliseconds per sentence. For most applications that is still perfectly acceptable.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Rimsha (≈50 s). Same random subsets for both models. With very few labels TF-IDF cannot learn the vocabulary, while BERT-small already knows English from pre-training. This confirms the Lithuanian finding that pre-training, not the neural network as such, is what makes the difference on small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Rimsha (≈45 s). Bag-of-words models lose most on sentences with negation and contrast, because 'not good' contains the word 'good'. Transformers keep their accuracy much better. The heat-map shows how attention links the words in such a sentence – but, as Jain and Wallace warn, attention is an illustration, not a proof of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Shaeed (≈60 s). Summarise the answers to the research questions and give the practical recommendation: first try a public in-domain model, otherwise fine-tune a compact Transformer on a few thousand labels; use TF-IDF only when latency or hardware are extremely limited. Future work: Lithuanian data with LitLat BERT.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163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B8B8D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200" b="1" dirty="0">
                <a:solidFill>
                  <a:srgbClr val="16163F"/>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3" name="Text 0"/>
          <p:cNvSpPr/>
          <p:nvPr/>
        </p:nvSpPr>
        <p:spPr>
          <a:xfrm>
            <a:off x="548640" y="6355080"/>
            <a:ext cx="5486400" cy="320040"/>
          </a:xfrm>
          <a:prstGeom prst="rect">
            <a:avLst/>
          </a:prstGeom>
          <a:noFill/>
          <a:ln/>
        </p:spPr>
        <p:txBody>
          <a:bodyPr wrap="square" lIns="0" tIns="0" rIns="0" bIns="0" rtlCol="0" anchor="ctr"/>
          <a:lstStyle/>
          <a:p>
            <a:pPr indent="0" marL="0">
              <a:buNone/>
            </a:pPr>
            <a:r>
              <a:rPr lang="en-US" sz="1000" dirty="0">
                <a:solidFill>
                  <a:srgbClr val="8A8AA8"/>
                </a:solidFill>
              </a:rPr>
              <a:t>Transformers in NLP · VILNIUS TECH</a:t>
            </a:r>
            <a:endParaRPr lang="en-US" sz="10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B8B8D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731520"/>
            <a:ext cx="7315200" cy="365760"/>
          </a:xfrm>
          <a:prstGeom prst="rect">
            <a:avLst/>
          </a:prstGeom>
          <a:noFill/>
          <a:ln/>
        </p:spPr>
        <p:txBody>
          <a:bodyPr wrap="square" lIns="0" tIns="0" rIns="0" bIns="0" rtlCol="0" anchor="ctr"/>
          <a:lstStyle/>
          <a:p>
            <a:pPr indent="0" marL="0">
              <a:buNone/>
            </a:pPr>
            <a:r>
              <a:rPr lang="en-US" sz="1400" dirty="0">
                <a:solidFill>
                  <a:srgbClr val="B8B8D0"/>
                </a:solidFill>
              </a:rPr>
              <a:t>VILNIUS TECH · Group project</a:t>
            </a:r>
            <a:endParaRPr lang="en-US" sz="1400" dirty="0"/>
          </a:p>
        </p:txBody>
      </p:sp>
      <p:sp>
        <p:nvSpPr>
          <p:cNvPr id="3" name="Text 1"/>
          <p:cNvSpPr txBox="1"/>
          <p:nvPr/>
        </p:nvSpPr>
        <p:spPr>
          <a:xfrm>
            <a:off x="731520" y="1463040"/>
            <a:ext cx="7498080" cy="182880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Transformers and their application in NLP tasks</a:t>
            </a:r>
            <a:endParaRPr lang="en-US" sz="4200" dirty="0"/>
          </a:p>
        </p:txBody>
      </p:sp>
      <p:sp>
        <p:nvSpPr>
          <p:cNvPr id="4" name="Text 2"/>
          <p:cNvSpPr txBox="1"/>
          <p:nvPr/>
        </p:nvSpPr>
        <p:spPr>
          <a:xfrm>
            <a:off x="731520" y="3429000"/>
            <a:ext cx="7132320" cy="822960"/>
          </a:xfrm>
          <a:prstGeom prst="rect">
            <a:avLst/>
          </a:prstGeom>
          <a:noFill/>
          <a:ln/>
        </p:spPr>
        <p:txBody>
          <a:bodyPr wrap="square" lIns="0" tIns="0" rIns="0" bIns="0" rtlCol="0" anchor="ctr"/>
          <a:lstStyle/>
          <a:p>
            <a:pPr indent="0" marL="0">
              <a:buNone/>
            </a:pPr>
            <a:r>
              <a:rPr lang="en-US" sz="1800" i="1" dirty="0">
                <a:solidFill>
                  <a:srgbClr val="D6D6EE"/>
                </a:solidFill>
              </a:rPr>
              <a:t>Do Transformers pay off on a laptop CPU? A comparison of 10 sentiment classifiers on SST-2</a:t>
            </a:r>
            <a:endParaRPr lang="en-US" sz="1800" dirty="0"/>
          </a:p>
        </p:txBody>
      </p:sp>
      <p:sp>
        <p:nvSpPr>
          <p:cNvPr id="5" name="Text 3"/>
          <p:cNvSpPr txBox="1"/>
          <p:nvPr/>
        </p:nvSpPr>
        <p:spPr>
          <a:xfrm>
            <a:off x="731520" y="4754880"/>
            <a:ext cx="5486400" cy="1097280"/>
          </a:xfrm>
          <a:prstGeom prst="rect">
            <a:avLst/>
          </a:prstGeom>
          <a:noFill/>
          <a:ln/>
        </p:spPr>
        <p:txBody>
          <a:bodyPr wrap="square" lIns="0" tIns="0" rIns="0" bIns="0" rtlCol="0" anchor="ctr"/>
          <a:lstStyle/>
          <a:p>
            <a:pPr indent="0" marL="0">
              <a:spcAft>
                <a:spcPts val="400"/>
              </a:spcAft>
              <a:buNone/>
            </a:pPr>
            <a:r>
              <a:rPr lang="en-US" sz="1600" dirty="0">
                <a:solidFill>
                  <a:srgbClr val="FFFFFF"/>
                </a:solidFill>
              </a:rPr>
              <a:t>Shashikanth Hosur Ramegowda</a:t>
            </a:r>
            <a:endParaRPr lang="en-US" sz="1600" dirty="0"/>
          </a:p>
          <a:p>
            <a:pPr indent="0" marL="0">
              <a:spcAft>
                <a:spcPts val="400"/>
              </a:spcAft>
              <a:buNone/>
            </a:pPr>
            <a:r>
              <a:rPr lang="en-US" sz="1600" dirty="0">
                <a:solidFill>
                  <a:srgbClr val="FFFFFF"/>
                </a:solidFill>
              </a:rPr>
              <a:t>Shaeed Khan</a:t>
            </a:r>
            <a:endParaRPr lang="en-US" sz="1600" dirty="0"/>
          </a:p>
          <a:p>
            <a:pPr indent="0" marL="0">
              <a:spcAft>
                <a:spcPts val="400"/>
              </a:spcAft>
              <a:buNone/>
            </a:pPr>
            <a:r>
              <a:rPr lang="en-US" sz="1600" dirty="0">
                <a:solidFill>
                  <a:srgbClr val="FFFFFF"/>
                </a:solidFill>
              </a:rPr>
              <a:t>Rimsha Tariq</a:t>
            </a:r>
            <a:endParaRPr lang="en-US" sz="1600" dirty="0"/>
          </a:p>
        </p:txBody>
      </p:sp>
      <p:sp>
        <p:nvSpPr>
          <p:cNvPr id="6" name="Text 4"/>
          <p:cNvSpPr txBox="1"/>
          <p:nvPr/>
        </p:nvSpPr>
        <p:spPr>
          <a:xfrm>
            <a:off x="7589520" y="1828800"/>
            <a:ext cx="822960" cy="713232"/>
          </a:xfrm>
          <a:prstGeom prst="rect">
            <a:avLst/>
          </a:prstGeom>
          <a:noFill/>
          <a:ln/>
        </p:spPr>
        <p:txBody>
          <a:bodyPr wrap="square" lIns="0" tIns="0" rIns="0" bIns="0" rtlCol="0" anchor="ctr"/>
          <a:lstStyle/>
          <a:p>
            <a:pPr algn="r" indent="0" marL="0">
              <a:buNone/>
            </a:pPr>
            <a:r>
              <a:rPr lang="en-US" sz="1300" dirty="0">
                <a:solidFill>
                  <a:srgbClr val="D6D6EE"/>
                </a:solidFill>
              </a:rPr>
              <a:t>not</a:t>
            </a:r>
            <a:endParaRPr lang="en-US" sz="1300" dirty="0"/>
          </a:p>
        </p:txBody>
      </p:sp>
      <p:sp>
        <p:nvSpPr>
          <p:cNvPr id="7" name="Text 5"/>
          <p:cNvSpPr txBox="1"/>
          <p:nvPr/>
        </p:nvSpPr>
        <p:spPr>
          <a:xfrm>
            <a:off x="8503920" y="1417320"/>
            <a:ext cx="713232" cy="365760"/>
          </a:xfrm>
          <a:prstGeom prst="rect">
            <a:avLst/>
          </a:prstGeom>
          <a:noFill/>
          <a:ln/>
        </p:spPr>
        <p:txBody>
          <a:bodyPr wrap="square" lIns="0" tIns="0" rIns="0" bIns="0" rtlCol="0" anchor="ctr"/>
          <a:lstStyle/>
          <a:p>
            <a:pPr algn="ctr" indent="0" marL="0">
              <a:buNone/>
            </a:pPr>
            <a:r>
              <a:rPr lang="en-US" sz="1300" dirty="0">
                <a:solidFill>
                  <a:srgbClr val="D6D6EE"/>
                </a:solidFill>
              </a:rPr>
              <a:t>not</a:t>
            </a:r>
            <a:endParaRPr lang="en-US" sz="1300" dirty="0"/>
          </a:p>
        </p:txBody>
      </p:sp>
      <p:sp>
        <p:nvSpPr>
          <p:cNvPr id="8" name="Shape 6"/>
          <p:cNvSpPr/>
          <p:nvPr/>
        </p:nvSpPr>
        <p:spPr>
          <a:xfrm>
            <a:off x="8540496" y="1865376"/>
            <a:ext cx="640080" cy="640080"/>
          </a:xfrm>
          <a:prstGeom prst="roundRect">
            <a:avLst>
              <a:gd name="adj" fmla="val 11429"/>
            </a:avLst>
          </a:prstGeom>
          <a:solidFill>
            <a:srgbClr val="1BAF7A">
              <a:alpha val="88000"/>
            </a:srgbClr>
          </a:solidFill>
          <a:ln w="12700">
            <a:solidFill>
              <a:srgbClr val="1BAF7A">
                <a:alpha val="40000"/>
              </a:srgbClr>
            </a:solidFill>
            <a:prstDash val="solid"/>
          </a:ln>
        </p:spPr>
      </p:sp>
      <p:sp>
        <p:nvSpPr>
          <p:cNvPr id="9" name="Shape 7"/>
          <p:cNvSpPr/>
          <p:nvPr/>
        </p:nvSpPr>
        <p:spPr>
          <a:xfrm>
            <a:off x="9253728" y="1865376"/>
            <a:ext cx="640080" cy="640080"/>
          </a:xfrm>
          <a:prstGeom prst="roundRect">
            <a:avLst>
              <a:gd name="adj" fmla="val 11429"/>
            </a:avLst>
          </a:prstGeom>
          <a:solidFill>
            <a:srgbClr val="1BAF7A">
              <a:alpha val="56000"/>
            </a:srgbClr>
          </a:solidFill>
          <a:ln w="12700">
            <a:solidFill>
              <a:srgbClr val="1BAF7A">
                <a:alpha val="40000"/>
              </a:srgbClr>
            </a:solidFill>
            <a:prstDash val="solid"/>
          </a:ln>
        </p:spPr>
      </p:sp>
      <p:sp>
        <p:nvSpPr>
          <p:cNvPr id="10" name="Shape 8"/>
          <p:cNvSpPr/>
          <p:nvPr/>
        </p:nvSpPr>
        <p:spPr>
          <a:xfrm>
            <a:off x="9966960" y="1865376"/>
            <a:ext cx="640080" cy="640080"/>
          </a:xfrm>
          <a:prstGeom prst="roundRect">
            <a:avLst>
              <a:gd name="adj" fmla="val 11429"/>
            </a:avLst>
          </a:prstGeom>
          <a:solidFill>
            <a:srgbClr val="1BAF7A">
              <a:alpha val="8000"/>
            </a:srgbClr>
          </a:solidFill>
          <a:ln w="12700">
            <a:solidFill>
              <a:srgbClr val="1BAF7A">
                <a:alpha val="40000"/>
              </a:srgbClr>
            </a:solidFill>
            <a:prstDash val="solid"/>
          </a:ln>
        </p:spPr>
      </p:sp>
      <p:sp>
        <p:nvSpPr>
          <p:cNvPr id="11" name="Shape 9"/>
          <p:cNvSpPr/>
          <p:nvPr/>
        </p:nvSpPr>
        <p:spPr>
          <a:xfrm>
            <a:off x="10680192" y="1865376"/>
            <a:ext cx="640080" cy="640080"/>
          </a:xfrm>
          <a:prstGeom prst="roundRect">
            <a:avLst>
              <a:gd name="adj" fmla="val 11429"/>
            </a:avLst>
          </a:prstGeom>
          <a:solidFill>
            <a:srgbClr val="1BAF7A">
              <a:alpha val="8000"/>
            </a:srgbClr>
          </a:solidFill>
          <a:ln w="12700">
            <a:solidFill>
              <a:srgbClr val="1BAF7A">
                <a:alpha val="40000"/>
              </a:srgbClr>
            </a:solidFill>
            <a:prstDash val="solid"/>
          </a:ln>
        </p:spPr>
      </p:sp>
      <p:sp>
        <p:nvSpPr>
          <p:cNvPr id="12" name="Text 10"/>
          <p:cNvSpPr txBox="1"/>
          <p:nvPr/>
        </p:nvSpPr>
        <p:spPr>
          <a:xfrm>
            <a:off x="7589520" y="2542032"/>
            <a:ext cx="822960" cy="713232"/>
          </a:xfrm>
          <a:prstGeom prst="rect">
            <a:avLst/>
          </a:prstGeom>
          <a:noFill/>
          <a:ln/>
        </p:spPr>
        <p:txBody>
          <a:bodyPr wrap="square" lIns="0" tIns="0" rIns="0" bIns="0" rtlCol="0" anchor="ctr"/>
          <a:lstStyle/>
          <a:p>
            <a:pPr algn="r" indent="0" marL="0">
              <a:buNone/>
            </a:pPr>
            <a:r>
              <a:rPr lang="en-US" sz="1300" dirty="0">
                <a:solidFill>
                  <a:srgbClr val="D6D6EE"/>
                </a:solidFill>
              </a:rPr>
              <a:t>good</a:t>
            </a:r>
            <a:endParaRPr lang="en-US" sz="1300" dirty="0"/>
          </a:p>
        </p:txBody>
      </p:sp>
      <p:sp>
        <p:nvSpPr>
          <p:cNvPr id="13" name="Text 11"/>
          <p:cNvSpPr txBox="1"/>
          <p:nvPr/>
        </p:nvSpPr>
        <p:spPr>
          <a:xfrm>
            <a:off x="9217152" y="1417320"/>
            <a:ext cx="713232" cy="365760"/>
          </a:xfrm>
          <a:prstGeom prst="rect">
            <a:avLst/>
          </a:prstGeom>
          <a:noFill/>
          <a:ln/>
        </p:spPr>
        <p:txBody>
          <a:bodyPr wrap="square" lIns="0" tIns="0" rIns="0" bIns="0" rtlCol="0" anchor="ctr"/>
          <a:lstStyle/>
          <a:p>
            <a:pPr algn="ctr" indent="0" marL="0">
              <a:buNone/>
            </a:pPr>
            <a:r>
              <a:rPr lang="en-US" sz="1300" dirty="0">
                <a:solidFill>
                  <a:srgbClr val="D6D6EE"/>
                </a:solidFill>
              </a:rPr>
              <a:t>good</a:t>
            </a:r>
            <a:endParaRPr lang="en-US" sz="1300" dirty="0"/>
          </a:p>
        </p:txBody>
      </p:sp>
      <p:sp>
        <p:nvSpPr>
          <p:cNvPr id="14" name="Shape 12"/>
          <p:cNvSpPr/>
          <p:nvPr/>
        </p:nvSpPr>
        <p:spPr>
          <a:xfrm>
            <a:off x="8540496" y="2578608"/>
            <a:ext cx="640080" cy="640080"/>
          </a:xfrm>
          <a:prstGeom prst="roundRect">
            <a:avLst>
              <a:gd name="adj" fmla="val 11429"/>
            </a:avLst>
          </a:prstGeom>
          <a:solidFill>
            <a:srgbClr val="1BAF7A">
              <a:alpha val="95000"/>
            </a:srgbClr>
          </a:solidFill>
          <a:ln w="12700">
            <a:solidFill>
              <a:srgbClr val="1BAF7A">
                <a:alpha val="40000"/>
              </a:srgbClr>
            </a:solidFill>
            <a:prstDash val="solid"/>
          </a:ln>
        </p:spPr>
      </p:sp>
      <p:sp>
        <p:nvSpPr>
          <p:cNvPr id="15" name="Shape 13"/>
          <p:cNvSpPr/>
          <p:nvPr/>
        </p:nvSpPr>
        <p:spPr>
          <a:xfrm>
            <a:off x="9253728" y="2578608"/>
            <a:ext cx="640080" cy="640080"/>
          </a:xfrm>
          <a:prstGeom prst="roundRect">
            <a:avLst>
              <a:gd name="adj" fmla="val 11429"/>
            </a:avLst>
          </a:prstGeom>
          <a:solidFill>
            <a:srgbClr val="1BAF7A">
              <a:alpha val="48000"/>
            </a:srgbClr>
          </a:solidFill>
          <a:ln w="12700">
            <a:solidFill>
              <a:srgbClr val="1BAF7A">
                <a:alpha val="40000"/>
              </a:srgbClr>
            </a:solidFill>
            <a:prstDash val="solid"/>
          </a:ln>
        </p:spPr>
      </p:sp>
      <p:sp>
        <p:nvSpPr>
          <p:cNvPr id="16" name="Shape 14"/>
          <p:cNvSpPr/>
          <p:nvPr/>
        </p:nvSpPr>
        <p:spPr>
          <a:xfrm>
            <a:off x="9966960" y="2578608"/>
            <a:ext cx="640080" cy="640080"/>
          </a:xfrm>
          <a:prstGeom prst="roundRect">
            <a:avLst>
              <a:gd name="adj" fmla="val 11429"/>
            </a:avLst>
          </a:prstGeom>
          <a:solidFill>
            <a:srgbClr val="1BAF7A">
              <a:alpha val="8000"/>
            </a:srgbClr>
          </a:solidFill>
          <a:ln w="12700">
            <a:solidFill>
              <a:srgbClr val="1BAF7A">
                <a:alpha val="40000"/>
              </a:srgbClr>
            </a:solidFill>
            <a:prstDash val="solid"/>
          </a:ln>
        </p:spPr>
      </p:sp>
      <p:sp>
        <p:nvSpPr>
          <p:cNvPr id="17" name="Shape 15"/>
          <p:cNvSpPr/>
          <p:nvPr/>
        </p:nvSpPr>
        <p:spPr>
          <a:xfrm>
            <a:off x="10680192" y="2578608"/>
            <a:ext cx="640080" cy="640080"/>
          </a:xfrm>
          <a:prstGeom prst="roundRect">
            <a:avLst>
              <a:gd name="adj" fmla="val 11429"/>
            </a:avLst>
          </a:prstGeom>
          <a:solidFill>
            <a:srgbClr val="1BAF7A">
              <a:alpha val="8000"/>
            </a:srgbClr>
          </a:solidFill>
          <a:ln w="12700">
            <a:solidFill>
              <a:srgbClr val="1BAF7A">
                <a:alpha val="40000"/>
              </a:srgbClr>
            </a:solidFill>
            <a:prstDash val="solid"/>
          </a:ln>
        </p:spPr>
      </p:sp>
      <p:sp>
        <p:nvSpPr>
          <p:cNvPr id="18" name="Text 16"/>
          <p:cNvSpPr txBox="1"/>
          <p:nvPr/>
        </p:nvSpPr>
        <p:spPr>
          <a:xfrm>
            <a:off x="7589520" y="3255264"/>
            <a:ext cx="822960" cy="713232"/>
          </a:xfrm>
          <a:prstGeom prst="rect">
            <a:avLst/>
          </a:prstGeom>
          <a:noFill/>
          <a:ln/>
        </p:spPr>
        <p:txBody>
          <a:bodyPr wrap="square" lIns="0" tIns="0" rIns="0" bIns="0" rtlCol="0" anchor="ctr"/>
          <a:lstStyle/>
          <a:p>
            <a:pPr algn="r" indent="0" marL="0">
              <a:buNone/>
            </a:pPr>
            <a:r>
              <a:rPr lang="en-US" sz="1300" dirty="0">
                <a:solidFill>
                  <a:srgbClr val="D6D6EE"/>
                </a:solidFill>
              </a:rPr>
              <a:t>but</a:t>
            </a:r>
            <a:endParaRPr lang="en-US" sz="1300" dirty="0"/>
          </a:p>
        </p:txBody>
      </p:sp>
      <p:sp>
        <p:nvSpPr>
          <p:cNvPr id="19" name="Text 17"/>
          <p:cNvSpPr txBox="1"/>
          <p:nvPr/>
        </p:nvSpPr>
        <p:spPr>
          <a:xfrm>
            <a:off x="9930384" y="1417320"/>
            <a:ext cx="713232" cy="365760"/>
          </a:xfrm>
          <a:prstGeom prst="rect">
            <a:avLst/>
          </a:prstGeom>
          <a:noFill/>
          <a:ln/>
        </p:spPr>
        <p:txBody>
          <a:bodyPr wrap="square" lIns="0" tIns="0" rIns="0" bIns="0" rtlCol="0" anchor="ctr"/>
          <a:lstStyle/>
          <a:p>
            <a:pPr algn="ctr" indent="0" marL="0">
              <a:buNone/>
            </a:pPr>
            <a:r>
              <a:rPr lang="en-US" sz="1300" dirty="0">
                <a:solidFill>
                  <a:srgbClr val="D6D6EE"/>
                </a:solidFill>
              </a:rPr>
              <a:t>but</a:t>
            </a:r>
            <a:endParaRPr lang="en-US" sz="1300" dirty="0"/>
          </a:p>
        </p:txBody>
      </p:sp>
      <p:sp>
        <p:nvSpPr>
          <p:cNvPr id="20" name="Shape 18"/>
          <p:cNvSpPr/>
          <p:nvPr/>
        </p:nvSpPr>
        <p:spPr>
          <a:xfrm>
            <a:off x="8540496" y="3291840"/>
            <a:ext cx="640080" cy="640080"/>
          </a:xfrm>
          <a:prstGeom prst="roundRect">
            <a:avLst>
              <a:gd name="adj" fmla="val 11429"/>
            </a:avLst>
          </a:prstGeom>
          <a:solidFill>
            <a:srgbClr val="1BAF7A">
              <a:alpha val="16000"/>
            </a:srgbClr>
          </a:solidFill>
          <a:ln w="12700">
            <a:solidFill>
              <a:srgbClr val="1BAF7A">
                <a:alpha val="40000"/>
              </a:srgbClr>
            </a:solidFill>
            <a:prstDash val="solid"/>
          </a:ln>
        </p:spPr>
      </p:sp>
      <p:sp>
        <p:nvSpPr>
          <p:cNvPr id="21" name="Shape 19"/>
          <p:cNvSpPr/>
          <p:nvPr/>
        </p:nvSpPr>
        <p:spPr>
          <a:xfrm>
            <a:off x="9253728" y="3291840"/>
            <a:ext cx="640080" cy="640080"/>
          </a:xfrm>
          <a:prstGeom prst="roundRect">
            <a:avLst>
              <a:gd name="adj" fmla="val 11429"/>
            </a:avLst>
          </a:prstGeom>
          <a:solidFill>
            <a:srgbClr val="1BAF7A">
              <a:alpha val="32000"/>
            </a:srgbClr>
          </a:solidFill>
          <a:ln w="12700">
            <a:solidFill>
              <a:srgbClr val="1BAF7A">
                <a:alpha val="40000"/>
              </a:srgbClr>
            </a:solidFill>
            <a:prstDash val="solid"/>
          </a:ln>
        </p:spPr>
      </p:sp>
      <p:sp>
        <p:nvSpPr>
          <p:cNvPr id="22" name="Shape 20"/>
          <p:cNvSpPr/>
          <p:nvPr/>
        </p:nvSpPr>
        <p:spPr>
          <a:xfrm>
            <a:off x="9966960" y="3291840"/>
            <a:ext cx="640080" cy="640080"/>
          </a:xfrm>
          <a:prstGeom prst="roundRect">
            <a:avLst>
              <a:gd name="adj" fmla="val 11429"/>
            </a:avLst>
          </a:prstGeom>
          <a:solidFill>
            <a:srgbClr val="1BAF7A">
              <a:alpha val="48000"/>
            </a:srgbClr>
          </a:solidFill>
          <a:ln w="12700">
            <a:solidFill>
              <a:srgbClr val="1BAF7A">
                <a:alpha val="40000"/>
              </a:srgbClr>
            </a:solidFill>
            <a:prstDash val="solid"/>
          </a:ln>
        </p:spPr>
      </p:sp>
      <p:sp>
        <p:nvSpPr>
          <p:cNvPr id="23" name="Shape 21"/>
          <p:cNvSpPr/>
          <p:nvPr/>
        </p:nvSpPr>
        <p:spPr>
          <a:xfrm>
            <a:off x="10680192" y="3291840"/>
            <a:ext cx="640080" cy="640080"/>
          </a:xfrm>
          <a:prstGeom prst="roundRect">
            <a:avLst>
              <a:gd name="adj" fmla="val 11429"/>
            </a:avLst>
          </a:prstGeom>
          <a:solidFill>
            <a:srgbClr val="1BAF7A">
              <a:alpha val="64000"/>
            </a:srgbClr>
          </a:solidFill>
          <a:ln w="12700">
            <a:solidFill>
              <a:srgbClr val="1BAF7A">
                <a:alpha val="40000"/>
              </a:srgbClr>
            </a:solidFill>
            <a:prstDash val="solid"/>
          </a:ln>
        </p:spPr>
      </p:sp>
      <p:sp>
        <p:nvSpPr>
          <p:cNvPr id="24" name="Text 22"/>
          <p:cNvSpPr txBox="1"/>
          <p:nvPr/>
        </p:nvSpPr>
        <p:spPr>
          <a:xfrm>
            <a:off x="7589520" y="3968496"/>
            <a:ext cx="822960" cy="713232"/>
          </a:xfrm>
          <a:prstGeom prst="rect">
            <a:avLst/>
          </a:prstGeom>
          <a:noFill/>
          <a:ln/>
        </p:spPr>
        <p:txBody>
          <a:bodyPr wrap="square" lIns="0" tIns="0" rIns="0" bIns="0" rtlCol="0" anchor="ctr"/>
          <a:lstStyle/>
          <a:p>
            <a:pPr algn="r" indent="0" marL="0">
              <a:buNone/>
            </a:pPr>
            <a:r>
              <a:rPr lang="en-US" sz="1300" dirty="0">
                <a:solidFill>
                  <a:srgbClr val="D6D6EE"/>
                </a:solidFill>
              </a:rPr>
              <a:t>great</a:t>
            </a:r>
            <a:endParaRPr lang="en-US" sz="1300" dirty="0"/>
          </a:p>
        </p:txBody>
      </p:sp>
      <p:sp>
        <p:nvSpPr>
          <p:cNvPr id="25" name="Text 23"/>
          <p:cNvSpPr txBox="1"/>
          <p:nvPr/>
        </p:nvSpPr>
        <p:spPr>
          <a:xfrm>
            <a:off x="10643616" y="1417320"/>
            <a:ext cx="713232" cy="365760"/>
          </a:xfrm>
          <a:prstGeom prst="rect">
            <a:avLst/>
          </a:prstGeom>
          <a:noFill/>
          <a:ln/>
        </p:spPr>
        <p:txBody>
          <a:bodyPr wrap="square" lIns="0" tIns="0" rIns="0" bIns="0" rtlCol="0" anchor="ctr"/>
          <a:lstStyle/>
          <a:p>
            <a:pPr algn="ctr" indent="0" marL="0">
              <a:buNone/>
            </a:pPr>
            <a:r>
              <a:rPr lang="en-US" sz="1300" dirty="0">
                <a:solidFill>
                  <a:srgbClr val="D6D6EE"/>
                </a:solidFill>
              </a:rPr>
              <a:t>great</a:t>
            </a:r>
            <a:endParaRPr lang="en-US" sz="1300" dirty="0"/>
          </a:p>
        </p:txBody>
      </p:sp>
      <p:sp>
        <p:nvSpPr>
          <p:cNvPr id="26" name="Shape 24"/>
          <p:cNvSpPr/>
          <p:nvPr/>
        </p:nvSpPr>
        <p:spPr>
          <a:xfrm>
            <a:off x="8540496" y="4005072"/>
            <a:ext cx="640080" cy="640080"/>
          </a:xfrm>
          <a:prstGeom prst="roundRect">
            <a:avLst>
              <a:gd name="adj" fmla="val 11429"/>
            </a:avLst>
          </a:prstGeom>
          <a:solidFill>
            <a:srgbClr val="1BAF7A">
              <a:alpha val="8000"/>
            </a:srgbClr>
          </a:solidFill>
          <a:ln w="12700">
            <a:solidFill>
              <a:srgbClr val="1BAF7A">
                <a:alpha val="40000"/>
              </a:srgbClr>
            </a:solidFill>
            <a:prstDash val="solid"/>
          </a:ln>
        </p:spPr>
      </p:sp>
      <p:sp>
        <p:nvSpPr>
          <p:cNvPr id="27" name="Shape 25"/>
          <p:cNvSpPr/>
          <p:nvPr/>
        </p:nvSpPr>
        <p:spPr>
          <a:xfrm>
            <a:off x="9253728" y="4005072"/>
            <a:ext cx="640080" cy="640080"/>
          </a:xfrm>
          <a:prstGeom prst="roundRect">
            <a:avLst>
              <a:gd name="adj" fmla="val 11429"/>
            </a:avLst>
          </a:prstGeom>
          <a:solidFill>
            <a:srgbClr val="1BAF7A">
              <a:alpha val="8000"/>
            </a:srgbClr>
          </a:solidFill>
          <a:ln w="12700">
            <a:solidFill>
              <a:srgbClr val="1BAF7A">
                <a:alpha val="40000"/>
              </a:srgbClr>
            </a:solidFill>
            <a:prstDash val="solid"/>
          </a:ln>
        </p:spPr>
      </p:sp>
      <p:sp>
        <p:nvSpPr>
          <p:cNvPr id="28" name="Shape 26"/>
          <p:cNvSpPr/>
          <p:nvPr/>
        </p:nvSpPr>
        <p:spPr>
          <a:xfrm>
            <a:off x="9966960" y="4005072"/>
            <a:ext cx="640080" cy="640080"/>
          </a:xfrm>
          <a:prstGeom prst="roundRect">
            <a:avLst>
              <a:gd name="adj" fmla="val 11429"/>
            </a:avLst>
          </a:prstGeom>
          <a:solidFill>
            <a:srgbClr val="1BAF7A">
              <a:alpha val="48000"/>
            </a:srgbClr>
          </a:solidFill>
          <a:ln w="12700">
            <a:solidFill>
              <a:srgbClr val="1BAF7A">
                <a:alpha val="40000"/>
              </a:srgbClr>
            </a:solidFill>
            <a:prstDash val="solid"/>
          </a:ln>
        </p:spPr>
      </p:sp>
      <p:sp>
        <p:nvSpPr>
          <p:cNvPr id="29" name="Shape 27"/>
          <p:cNvSpPr/>
          <p:nvPr/>
        </p:nvSpPr>
        <p:spPr>
          <a:xfrm>
            <a:off x="10680192" y="4005072"/>
            <a:ext cx="640080" cy="640080"/>
          </a:xfrm>
          <a:prstGeom prst="roundRect">
            <a:avLst>
              <a:gd name="adj" fmla="val 11429"/>
            </a:avLst>
          </a:prstGeom>
          <a:solidFill>
            <a:srgbClr val="1BAF7A">
              <a:alpha val="95000"/>
            </a:srgbClr>
          </a:solidFill>
          <a:ln w="12700">
            <a:solidFill>
              <a:srgbClr val="1BAF7A">
                <a:alpha val="40000"/>
              </a:srgbClr>
            </a:solidFill>
            <a:prstDash val="solid"/>
          </a:ln>
        </p:spPr>
      </p:sp>
      <p:sp>
        <p:nvSpPr>
          <p:cNvPr id="30" name="Text 28"/>
          <p:cNvSpPr txBox="1"/>
          <p:nvPr/>
        </p:nvSpPr>
        <p:spPr>
          <a:xfrm>
            <a:off x="8503920" y="4773168"/>
            <a:ext cx="2926080" cy="320040"/>
          </a:xfrm>
          <a:prstGeom prst="rect">
            <a:avLst/>
          </a:prstGeom>
          <a:noFill/>
          <a:ln/>
        </p:spPr>
        <p:txBody>
          <a:bodyPr wrap="square" lIns="0" tIns="0" rIns="0" bIns="0" rtlCol="0" anchor="ctr"/>
          <a:lstStyle/>
          <a:p>
            <a:pPr algn="ctr" indent="0" marL="0">
              <a:buNone/>
            </a:pPr>
            <a:r>
              <a:rPr lang="en-US" sz="1200" i="1" dirty="0">
                <a:solidFill>
                  <a:srgbClr val="B8B8D0"/>
                </a:solidFill>
              </a:rPr>
              <a:t>self-attention weights</a:t>
            </a:r>
            <a:endParaRPr lang="en-US" sz="12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B8B8D0"/>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From reading word by word to reading all at once</a:t>
            </a:r>
            <a:endParaRPr lang="en-US" sz="3200" dirty="0"/>
          </a:p>
        </p:txBody>
      </p:sp>
      <p:sp>
        <p:nvSpPr>
          <p:cNvPr id="3" name="card"/>
          <p:cNvSpPr/>
          <p:nvPr/>
        </p:nvSpPr>
        <p:spPr>
          <a:xfrm>
            <a:off x="548640" y="1371600"/>
            <a:ext cx="5349240" cy="4480560"/>
          </a:xfrm>
          <a:prstGeom prst="roundRect">
            <a:avLst>
              <a:gd name="adj" fmla="val 2449"/>
            </a:avLst>
          </a:prstGeom>
          <a:solidFill>
            <a:srgbClr val="EEF0FA"/>
          </a:solidFill>
          <a:ln w="12700">
            <a:solidFill>
              <a:srgbClr val="EEF0FA"/>
            </a:solidFill>
            <a:prstDash val="solid"/>
          </a:ln>
        </p:spPr>
      </p:sp>
      <p:sp>
        <p:nvSpPr>
          <p:cNvPr id="4" name="card"/>
          <p:cNvSpPr/>
          <p:nvPr/>
        </p:nvSpPr>
        <p:spPr>
          <a:xfrm>
            <a:off x="6263640" y="1371600"/>
            <a:ext cx="5349240" cy="4480560"/>
          </a:xfrm>
          <a:prstGeom prst="roundRect">
            <a:avLst>
              <a:gd name="adj" fmla="val 2449"/>
            </a:avLst>
          </a:prstGeom>
          <a:solidFill>
            <a:srgbClr val="E6F6EF"/>
          </a:solidFill>
          <a:ln w="12700">
            <a:solidFill>
              <a:srgbClr val="E6F6EF"/>
            </a:solidFill>
            <a:prstDash val="solid"/>
          </a:ln>
        </p:spPr>
      </p:sp>
      <p:sp>
        <p:nvSpPr>
          <p:cNvPr id="5" name="Shape 3"/>
          <p:cNvSpPr/>
          <p:nvPr/>
        </p:nvSpPr>
        <p:spPr>
          <a:xfrm>
            <a:off x="868680" y="1691640"/>
            <a:ext cx="731520" cy="731520"/>
          </a:xfrm>
          <a:prstGeom prst="ellipse">
            <a:avLst/>
          </a:prstGeom>
          <a:solidFill>
            <a:srgbClr val="EB6834"/>
          </a:solidFill>
          <a:ln w="12700">
            <a:solidFill>
              <a:srgbClr val="EB6834"/>
            </a:solidFill>
            <a:prstDash val="solid"/>
          </a:ln>
        </p:spPr>
      </p:sp>
      <p:pic>
        <p:nvPicPr>
          <p:cNvPr id="6" name="Image 0" descr="preencoded.png">    </p:cNvPr>
          <p:cNvPicPr>
            <a:picLocks noChangeAspect="1"/>
          </p:cNvPicPr>
          <p:nvPr/>
        </p:nvPicPr>
        <p:blipFill>
          <a:blip r:embed="rId1"/>
          <a:stretch>
            <a:fillRect/>
          </a:stretch>
        </p:blipFill>
        <p:spPr>
          <a:xfrm>
            <a:off x="1044245" y="1867205"/>
            <a:ext cx="380390" cy="380390"/>
          </a:xfrm>
          <a:prstGeom prst="rect">
            <a:avLst/>
          </a:prstGeom>
        </p:spPr>
      </p:pic>
      <p:sp>
        <p:nvSpPr>
          <p:cNvPr id="7" name="Shape 4"/>
          <p:cNvSpPr/>
          <p:nvPr/>
        </p:nvSpPr>
        <p:spPr>
          <a:xfrm>
            <a:off x="6583680" y="1691640"/>
            <a:ext cx="731520" cy="731520"/>
          </a:xfrm>
          <a:prstGeom prst="ellipse">
            <a:avLst/>
          </a:prstGeom>
          <a:solidFill>
            <a:srgbClr val="1BAF7A"/>
          </a:solidFill>
          <a:ln w="12700">
            <a:solidFill>
              <a:srgbClr val="1BAF7A"/>
            </a:solidFill>
            <a:prstDash val="solid"/>
          </a:ln>
        </p:spPr>
      </p:sp>
      <p:pic>
        <p:nvPicPr>
          <p:cNvPr id="8" name="Image 1" descr="preencoded.png">    </p:cNvPr>
          <p:cNvPicPr>
            <a:picLocks noChangeAspect="1"/>
          </p:cNvPicPr>
          <p:nvPr/>
        </p:nvPicPr>
        <p:blipFill>
          <a:blip r:embed="rId2"/>
          <a:stretch>
            <a:fillRect/>
          </a:stretch>
        </p:blipFill>
        <p:spPr>
          <a:xfrm>
            <a:off x="6759245" y="1867205"/>
            <a:ext cx="380390" cy="380390"/>
          </a:xfrm>
          <a:prstGeom prst="rect">
            <a:avLst/>
          </a:prstGeom>
        </p:spPr>
      </p:pic>
      <p:sp>
        <p:nvSpPr>
          <p:cNvPr id="9" name="Text 5"/>
          <p:cNvSpPr txBox="1"/>
          <p:nvPr/>
        </p:nvSpPr>
        <p:spPr>
          <a:xfrm>
            <a:off x="1783080" y="1783080"/>
            <a:ext cx="3931920" cy="548640"/>
          </a:xfrm>
          <a:prstGeom prst="rect">
            <a:avLst/>
          </a:prstGeom>
          <a:noFill/>
          <a:ln/>
        </p:spPr>
        <p:txBody>
          <a:bodyPr wrap="square" lIns="0" tIns="0" rIns="0" bIns="0" rtlCol="0" anchor="ctr"/>
          <a:lstStyle/>
          <a:p>
            <a:pPr indent="0" marL="0">
              <a:buNone/>
            </a:pPr>
            <a:r>
              <a:rPr lang="en-US" sz="2200" b="1" dirty="0">
                <a:solidFill>
                  <a:srgbClr val="16163F"/>
                </a:solidFill>
                <a:latin typeface="Cambria" pitchFamily="34" charset="0"/>
                <a:ea typeface="Cambria" pitchFamily="34" charset="-122"/>
                <a:cs typeface="Cambria" pitchFamily="34" charset="-120"/>
              </a:rPr>
              <a:t>Recurrent networks (LSTM)</a:t>
            </a:r>
            <a:endParaRPr lang="en-US" sz="2200" dirty="0"/>
          </a:p>
        </p:txBody>
      </p:sp>
      <p:sp>
        <p:nvSpPr>
          <p:cNvPr id="10" name="Text 6"/>
          <p:cNvSpPr txBox="1"/>
          <p:nvPr/>
        </p:nvSpPr>
        <p:spPr>
          <a:xfrm>
            <a:off x="7498080" y="1783080"/>
            <a:ext cx="3931920" cy="548640"/>
          </a:xfrm>
          <a:prstGeom prst="rect">
            <a:avLst/>
          </a:prstGeom>
          <a:noFill/>
          <a:ln/>
        </p:spPr>
        <p:txBody>
          <a:bodyPr wrap="square" lIns="0" tIns="0" rIns="0" bIns="0" rtlCol="0" anchor="ctr"/>
          <a:lstStyle/>
          <a:p>
            <a:pPr indent="0" marL="0">
              <a:buNone/>
            </a:pPr>
            <a:r>
              <a:rPr lang="en-US" sz="2200" b="1" dirty="0">
                <a:solidFill>
                  <a:srgbClr val="16163F"/>
                </a:solidFill>
                <a:latin typeface="Cambria" pitchFamily="34" charset="0"/>
                <a:ea typeface="Cambria" pitchFamily="34" charset="-122"/>
                <a:cs typeface="Cambria" pitchFamily="34" charset="-120"/>
              </a:rPr>
              <a:t>Transformer (2017)</a:t>
            </a:r>
            <a:endParaRPr lang="en-US" sz="2200" dirty="0"/>
          </a:p>
        </p:txBody>
      </p:sp>
      <p:sp>
        <p:nvSpPr>
          <p:cNvPr id="11" name="Text 7"/>
          <p:cNvSpPr txBox="1"/>
          <p:nvPr/>
        </p:nvSpPr>
        <p:spPr>
          <a:xfrm>
            <a:off x="914400" y="2697480"/>
            <a:ext cx="4754880" cy="29260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Process tokens one after another</a:t>
            </a:r>
            <a:endParaRPr lang="en-US" sz="1600" dirty="0"/>
          </a:p>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n sequential steps – slow to train</a:t>
            </a:r>
            <a:endParaRPr lang="en-US" sz="1600" dirty="0"/>
          </a:p>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Distant words interact only through a long chain of states</a:t>
            </a:r>
            <a:endParaRPr lang="en-US" sz="1600" dirty="0"/>
          </a:p>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Trained from scratch for each task</a:t>
            </a:r>
            <a:endParaRPr lang="en-US" sz="1600" dirty="0"/>
          </a:p>
        </p:txBody>
      </p:sp>
      <p:sp>
        <p:nvSpPr>
          <p:cNvPr id="12" name="Text 8"/>
          <p:cNvSpPr txBox="1"/>
          <p:nvPr/>
        </p:nvSpPr>
        <p:spPr>
          <a:xfrm>
            <a:off x="6629400" y="2697480"/>
            <a:ext cx="4754880" cy="29260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Every token attends to every other token</a:t>
            </a:r>
            <a:endParaRPr lang="en-US" sz="1600" dirty="0"/>
          </a:p>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All positions computed in parallel on GPU/CPU</a:t>
            </a:r>
            <a:endParaRPr lang="en-US" sz="1600" dirty="0"/>
          </a:p>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Pre-train once on huge unlabelled text, then fine-tune</a:t>
            </a:r>
            <a:endParaRPr lang="en-US" sz="1600" dirty="0"/>
          </a:p>
          <a:p>
            <a:pPr marL="342900" indent="-342900">
              <a:spcAft>
                <a:spcPts val="1000"/>
              </a:spcAft>
              <a:buSzPct val="100000"/>
              <a:buChar char="•"/>
            </a:pPr>
            <a:r>
              <a:rPr lang="en-US" sz="1600" dirty="0">
                <a:solidFill>
                  <a:srgbClr val="16163F"/>
                </a:solidFill>
                <a:latin typeface="Calibri" pitchFamily="34" charset="0"/>
                <a:ea typeface="Calibri" pitchFamily="34" charset="-122"/>
                <a:cs typeface="Calibri" pitchFamily="34" charset="-120"/>
              </a:rPr>
              <a:t>Basis of BERT, GPT, T5, ChatGPT, LitLat BERT…</a:t>
            </a:r>
            <a:endParaRPr lang="en-US" sz="16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Self-attention: each word looks at the whole sentence</a:t>
            </a:r>
            <a:endParaRPr lang="en-US" sz="3200" dirty="0"/>
          </a:p>
        </p:txBody>
      </p:sp>
      <p:pic>
        <p:nvPicPr>
          <p:cNvPr id="3" name="Image 0" descr="C:\Shashikanth_Data\VGTU\HomeWorks\NeuralNetwork\NLPTOPIC\Transformers-NLP\code\figures\diagram_encoder.png">    </p:cNvPr>
          <p:cNvPicPr>
            <a:picLocks noChangeAspect="1"/>
          </p:cNvPicPr>
          <p:nvPr/>
        </p:nvPicPr>
        <p:blipFill>
          <a:blip r:embed="rId1"/>
          <a:stretch>
            <a:fillRect/>
          </a:stretch>
        </p:blipFill>
        <p:spPr>
          <a:xfrm>
            <a:off x="564086" y="1234440"/>
            <a:ext cx="4175348" cy="4983480"/>
          </a:xfrm>
          <a:prstGeom prst="rect">
            <a:avLst/>
          </a:prstGeom>
        </p:spPr>
      </p:pic>
      <p:sp>
        <p:nvSpPr>
          <p:cNvPr id="4" name="card"/>
          <p:cNvSpPr/>
          <p:nvPr/>
        </p:nvSpPr>
        <p:spPr>
          <a:xfrm>
            <a:off x="5120640" y="1371600"/>
            <a:ext cx="6492240" cy="1234440"/>
          </a:xfrm>
          <a:prstGeom prst="roundRect">
            <a:avLst>
              <a:gd name="adj" fmla="val 8889"/>
            </a:avLst>
          </a:prstGeom>
          <a:solidFill>
            <a:srgbClr val="EEF0FA"/>
          </a:solidFill>
          <a:ln w="12700">
            <a:solidFill>
              <a:srgbClr val="EEF0FA"/>
            </a:solidFill>
            <a:prstDash val="solid"/>
          </a:ln>
        </p:spPr>
      </p:sp>
      <p:sp>
        <p:nvSpPr>
          <p:cNvPr id="5" name="Text 2"/>
          <p:cNvSpPr txBox="1"/>
          <p:nvPr/>
        </p:nvSpPr>
        <p:spPr>
          <a:xfrm>
            <a:off x="5349240" y="1463040"/>
            <a:ext cx="6126480" cy="640080"/>
          </a:xfrm>
          <a:prstGeom prst="rect">
            <a:avLst/>
          </a:prstGeom>
          <a:noFill/>
          <a:ln/>
        </p:spPr>
        <p:txBody>
          <a:bodyPr wrap="square" lIns="0" tIns="0" rIns="0" bIns="0" rtlCol="0" anchor="ctr"/>
          <a:lstStyle/>
          <a:p>
            <a:pPr algn="ctr" indent="0" marL="0">
              <a:buNone/>
            </a:pPr>
            <a:r>
              <a:rPr lang="en-US" sz="2400" b="1" dirty="0">
                <a:solidFill>
                  <a:srgbClr val="16163F"/>
                </a:solidFill>
                <a:latin typeface="Cambria" pitchFamily="34" charset="0"/>
                <a:ea typeface="Cambria" pitchFamily="34" charset="-122"/>
                <a:cs typeface="Cambria" pitchFamily="34" charset="-120"/>
              </a:rPr>
              <a:t>Attention(Q, K, V) = softmax( QKᵀ / √dₖ ) · V</a:t>
            </a:r>
            <a:endParaRPr lang="en-US" sz="2400" dirty="0"/>
          </a:p>
        </p:txBody>
      </p:sp>
      <p:sp>
        <p:nvSpPr>
          <p:cNvPr id="6" name="Text 3"/>
          <p:cNvSpPr txBox="1"/>
          <p:nvPr/>
        </p:nvSpPr>
        <p:spPr>
          <a:xfrm>
            <a:off x="5349240" y="2057400"/>
            <a:ext cx="6126480" cy="411480"/>
          </a:xfrm>
          <a:prstGeom prst="rect">
            <a:avLst/>
          </a:prstGeom>
          <a:noFill/>
          <a:ln/>
        </p:spPr>
        <p:txBody>
          <a:bodyPr wrap="square" lIns="0" tIns="0" rIns="0" bIns="0" rtlCol="0" anchor="ctr"/>
          <a:lstStyle/>
          <a:p>
            <a:pPr algn="ctr" indent="0" marL="0">
              <a:buNone/>
            </a:pPr>
            <a:r>
              <a:rPr lang="en-US" sz="1400" i="1" dirty="0">
                <a:solidFill>
                  <a:srgbClr val="52516E"/>
                </a:solidFill>
              </a:rPr>
              <a:t>queries · keys → weights → weighted mix of values</a:t>
            </a:r>
            <a:endParaRPr lang="en-US" sz="1400" dirty="0"/>
          </a:p>
        </p:txBody>
      </p:sp>
      <p:sp>
        <p:nvSpPr>
          <p:cNvPr id="7" name="Shape 4"/>
          <p:cNvSpPr/>
          <p:nvPr/>
        </p:nvSpPr>
        <p:spPr>
          <a:xfrm>
            <a:off x="5166360" y="2880360"/>
            <a:ext cx="566928" cy="566928"/>
          </a:xfrm>
          <a:prstGeom prst="ellipse">
            <a:avLst/>
          </a:prstGeom>
          <a:solidFill>
            <a:srgbClr val="1BAF7A"/>
          </a:solidFill>
          <a:ln w="12700">
            <a:solidFill>
              <a:srgbClr val="1BAF7A"/>
            </a:solidFill>
            <a:prstDash val="solid"/>
          </a:ln>
        </p:spPr>
      </p:sp>
      <p:pic>
        <p:nvPicPr>
          <p:cNvPr id="8" name="Image 1" descr="preencoded.png">    </p:cNvPr>
          <p:cNvPicPr>
            <a:picLocks noChangeAspect="1"/>
          </p:cNvPicPr>
          <p:nvPr/>
        </p:nvPicPr>
        <p:blipFill>
          <a:blip r:embed="rId2"/>
          <a:stretch>
            <a:fillRect/>
          </a:stretch>
        </p:blipFill>
        <p:spPr>
          <a:xfrm>
            <a:off x="5302423" y="3016423"/>
            <a:ext cx="294803" cy="294803"/>
          </a:xfrm>
          <a:prstGeom prst="rect">
            <a:avLst/>
          </a:prstGeom>
        </p:spPr>
      </p:pic>
      <p:sp>
        <p:nvSpPr>
          <p:cNvPr id="9" name="Text 5"/>
          <p:cNvSpPr txBox="1"/>
          <p:nvPr/>
        </p:nvSpPr>
        <p:spPr>
          <a:xfrm>
            <a:off x="5943600" y="2843784"/>
            <a:ext cx="5669280" cy="329184"/>
          </a:xfrm>
          <a:prstGeom prst="rect">
            <a:avLst/>
          </a:prstGeom>
          <a:noFill/>
          <a:ln/>
        </p:spPr>
        <p:txBody>
          <a:bodyPr wrap="square" lIns="0" tIns="0" rIns="0" bIns="0" rtlCol="0" anchor="ctr"/>
          <a:lstStyle/>
          <a:p>
            <a:pPr indent="0" marL="0">
              <a:buNone/>
            </a:pPr>
            <a:r>
              <a:rPr lang="en-US" sz="1600" b="1" dirty="0">
                <a:solidFill>
                  <a:srgbClr val="16163F"/>
                </a:solidFill>
              </a:rPr>
              <a:t>Sub-word tokens + position embeddings</a:t>
            </a:r>
            <a:endParaRPr lang="en-US" sz="1600" dirty="0"/>
          </a:p>
        </p:txBody>
      </p:sp>
      <p:sp>
        <p:nvSpPr>
          <p:cNvPr id="10" name="Text 6"/>
          <p:cNvSpPr txBox="1"/>
          <p:nvPr/>
        </p:nvSpPr>
        <p:spPr>
          <a:xfrm>
            <a:off x="5943600" y="3172968"/>
            <a:ext cx="5669280" cy="292608"/>
          </a:xfrm>
          <a:prstGeom prst="rect">
            <a:avLst/>
          </a:prstGeom>
          <a:noFill/>
          <a:ln/>
        </p:spPr>
        <p:txBody>
          <a:bodyPr wrap="square" lIns="0" tIns="0" rIns="0" bIns="0" rtlCol="0" anchor="ctr"/>
          <a:lstStyle/>
          <a:p>
            <a:pPr indent="0" marL="0">
              <a:buNone/>
            </a:pPr>
            <a:r>
              <a:rPr lang="en-US" sz="1300" dirty="0">
                <a:solidFill>
                  <a:srgbClr val="52516E"/>
                </a:solidFill>
              </a:rPr>
              <a:t>WordPiece: “unwatchable” → un ##watch ##able</a:t>
            </a:r>
            <a:endParaRPr lang="en-US" sz="1300" dirty="0"/>
          </a:p>
        </p:txBody>
      </p:sp>
      <p:sp>
        <p:nvSpPr>
          <p:cNvPr id="11" name="Shape 7"/>
          <p:cNvSpPr/>
          <p:nvPr/>
        </p:nvSpPr>
        <p:spPr>
          <a:xfrm>
            <a:off x="5166360" y="3721608"/>
            <a:ext cx="566928" cy="566928"/>
          </a:xfrm>
          <a:prstGeom prst="ellipse">
            <a:avLst/>
          </a:prstGeom>
          <a:solidFill>
            <a:srgbClr val="2A78D6"/>
          </a:solidFill>
          <a:ln w="12700">
            <a:solidFill>
              <a:srgbClr val="2A78D6"/>
            </a:solidFill>
            <a:prstDash val="solid"/>
          </a:ln>
        </p:spPr>
      </p:sp>
      <p:pic>
        <p:nvPicPr>
          <p:cNvPr id="12" name="Image 2" descr="preencoded.png">    </p:cNvPr>
          <p:cNvPicPr>
            <a:picLocks noChangeAspect="1"/>
          </p:cNvPicPr>
          <p:nvPr/>
        </p:nvPicPr>
        <p:blipFill>
          <a:blip r:embed="rId3"/>
          <a:stretch>
            <a:fillRect/>
          </a:stretch>
        </p:blipFill>
        <p:spPr>
          <a:xfrm>
            <a:off x="5302423" y="3857671"/>
            <a:ext cx="294803" cy="294803"/>
          </a:xfrm>
          <a:prstGeom prst="rect">
            <a:avLst/>
          </a:prstGeom>
        </p:spPr>
      </p:pic>
      <p:sp>
        <p:nvSpPr>
          <p:cNvPr id="13" name="Text 8"/>
          <p:cNvSpPr txBox="1"/>
          <p:nvPr/>
        </p:nvSpPr>
        <p:spPr>
          <a:xfrm>
            <a:off x="5943600" y="3685032"/>
            <a:ext cx="5669280" cy="329184"/>
          </a:xfrm>
          <a:prstGeom prst="rect">
            <a:avLst/>
          </a:prstGeom>
          <a:noFill/>
          <a:ln/>
        </p:spPr>
        <p:txBody>
          <a:bodyPr wrap="square" lIns="0" tIns="0" rIns="0" bIns="0" rtlCol="0" anchor="ctr"/>
          <a:lstStyle/>
          <a:p>
            <a:pPr indent="0" marL="0">
              <a:buNone/>
            </a:pPr>
            <a:r>
              <a:rPr lang="en-US" sz="1600" b="1" dirty="0">
                <a:solidFill>
                  <a:srgbClr val="16163F"/>
                </a:solidFill>
              </a:rPr>
              <a:t>Multi-head attention</a:t>
            </a:r>
            <a:endParaRPr lang="en-US" sz="1600" dirty="0"/>
          </a:p>
        </p:txBody>
      </p:sp>
      <p:sp>
        <p:nvSpPr>
          <p:cNvPr id="14" name="Text 9"/>
          <p:cNvSpPr txBox="1"/>
          <p:nvPr/>
        </p:nvSpPr>
        <p:spPr>
          <a:xfrm>
            <a:off x="5943600" y="4014216"/>
            <a:ext cx="5669280" cy="292608"/>
          </a:xfrm>
          <a:prstGeom prst="rect">
            <a:avLst/>
          </a:prstGeom>
          <a:noFill/>
          <a:ln/>
        </p:spPr>
        <p:txBody>
          <a:bodyPr wrap="square" lIns="0" tIns="0" rIns="0" bIns="0" rtlCol="0" anchor="ctr"/>
          <a:lstStyle/>
          <a:p>
            <a:pPr indent="0" marL="0">
              <a:buNone/>
            </a:pPr>
            <a:r>
              <a:rPr lang="en-US" sz="1300" dirty="0">
                <a:solidFill>
                  <a:srgbClr val="52516E"/>
                </a:solidFill>
              </a:rPr>
              <a:t>h heads learn different relations (negation scope, syntax)</a:t>
            </a:r>
            <a:endParaRPr lang="en-US" sz="1300" dirty="0"/>
          </a:p>
        </p:txBody>
      </p:sp>
      <p:sp>
        <p:nvSpPr>
          <p:cNvPr id="15" name="Shape 10"/>
          <p:cNvSpPr/>
          <p:nvPr/>
        </p:nvSpPr>
        <p:spPr>
          <a:xfrm>
            <a:off x="5166360" y="4562856"/>
            <a:ext cx="566928" cy="566928"/>
          </a:xfrm>
          <a:prstGeom prst="ellipse">
            <a:avLst/>
          </a:prstGeom>
          <a:solidFill>
            <a:srgbClr val="1BAF7A"/>
          </a:solidFill>
          <a:ln w="12700">
            <a:solidFill>
              <a:srgbClr val="1BAF7A"/>
            </a:solidFill>
            <a:prstDash val="solid"/>
          </a:ln>
        </p:spPr>
      </p:sp>
      <p:pic>
        <p:nvPicPr>
          <p:cNvPr id="16" name="Image 3" descr="preencoded.png">    </p:cNvPr>
          <p:cNvPicPr>
            <a:picLocks noChangeAspect="1"/>
          </p:cNvPicPr>
          <p:nvPr/>
        </p:nvPicPr>
        <p:blipFill>
          <a:blip r:embed="rId4"/>
          <a:stretch>
            <a:fillRect/>
          </a:stretch>
        </p:blipFill>
        <p:spPr>
          <a:xfrm>
            <a:off x="5302423" y="4698919"/>
            <a:ext cx="294803" cy="294803"/>
          </a:xfrm>
          <a:prstGeom prst="rect">
            <a:avLst/>
          </a:prstGeom>
        </p:spPr>
      </p:pic>
      <p:sp>
        <p:nvSpPr>
          <p:cNvPr id="17" name="Text 11"/>
          <p:cNvSpPr txBox="1"/>
          <p:nvPr/>
        </p:nvSpPr>
        <p:spPr>
          <a:xfrm>
            <a:off x="5943600" y="4526280"/>
            <a:ext cx="5669280" cy="329184"/>
          </a:xfrm>
          <a:prstGeom prst="rect">
            <a:avLst/>
          </a:prstGeom>
          <a:noFill/>
          <a:ln/>
        </p:spPr>
        <p:txBody>
          <a:bodyPr wrap="square" lIns="0" tIns="0" rIns="0" bIns="0" rtlCol="0" anchor="ctr"/>
          <a:lstStyle/>
          <a:p>
            <a:pPr indent="0" marL="0">
              <a:buNone/>
            </a:pPr>
            <a:r>
              <a:rPr lang="en-US" sz="1600" b="1" dirty="0">
                <a:solidFill>
                  <a:srgbClr val="16163F"/>
                </a:solidFill>
              </a:rPr>
              <a:t>Feed-forward + residual + LayerNorm</a:t>
            </a:r>
            <a:endParaRPr lang="en-US" sz="1600" dirty="0"/>
          </a:p>
        </p:txBody>
      </p:sp>
      <p:sp>
        <p:nvSpPr>
          <p:cNvPr id="18" name="Text 12"/>
          <p:cNvSpPr txBox="1"/>
          <p:nvPr/>
        </p:nvSpPr>
        <p:spPr>
          <a:xfrm>
            <a:off x="5943600" y="4855464"/>
            <a:ext cx="5669280" cy="292608"/>
          </a:xfrm>
          <a:prstGeom prst="rect">
            <a:avLst/>
          </a:prstGeom>
          <a:noFill/>
          <a:ln/>
        </p:spPr>
        <p:txBody>
          <a:bodyPr wrap="square" lIns="0" tIns="0" rIns="0" bIns="0" rtlCol="0" anchor="ctr"/>
          <a:lstStyle/>
          <a:p>
            <a:pPr indent="0" marL="0">
              <a:buNone/>
            </a:pPr>
            <a:r>
              <a:rPr lang="en-US" sz="1300" dirty="0">
                <a:solidFill>
                  <a:srgbClr val="52516E"/>
                </a:solidFill>
              </a:rPr>
              <a:t>Stacked L times (2 / 4 / 6 layers in our models)</a:t>
            </a:r>
            <a:endParaRPr lang="en-US" sz="1300" dirty="0"/>
          </a:p>
        </p:txBody>
      </p:sp>
      <p:sp>
        <p:nvSpPr>
          <p:cNvPr id="19" name="Shape 13"/>
          <p:cNvSpPr/>
          <p:nvPr/>
        </p:nvSpPr>
        <p:spPr>
          <a:xfrm>
            <a:off x="5166360" y="5404104"/>
            <a:ext cx="566928" cy="566928"/>
          </a:xfrm>
          <a:prstGeom prst="ellipse">
            <a:avLst/>
          </a:prstGeom>
          <a:solidFill>
            <a:srgbClr val="2A78D6"/>
          </a:solidFill>
          <a:ln w="12700">
            <a:solidFill>
              <a:srgbClr val="2A78D6"/>
            </a:solidFill>
            <a:prstDash val="solid"/>
          </a:ln>
        </p:spPr>
      </p:sp>
      <p:pic>
        <p:nvPicPr>
          <p:cNvPr id="20" name="Image 4" descr="preencoded.png">    </p:cNvPr>
          <p:cNvPicPr>
            <a:picLocks noChangeAspect="1"/>
          </p:cNvPicPr>
          <p:nvPr/>
        </p:nvPicPr>
        <p:blipFill>
          <a:blip r:embed="rId5"/>
          <a:stretch>
            <a:fillRect/>
          </a:stretch>
        </p:blipFill>
        <p:spPr>
          <a:xfrm>
            <a:off x="5302423" y="5540167"/>
            <a:ext cx="294803" cy="294803"/>
          </a:xfrm>
          <a:prstGeom prst="rect">
            <a:avLst/>
          </a:prstGeom>
        </p:spPr>
      </p:pic>
      <p:sp>
        <p:nvSpPr>
          <p:cNvPr id="21" name="Text 14"/>
          <p:cNvSpPr txBox="1"/>
          <p:nvPr/>
        </p:nvSpPr>
        <p:spPr>
          <a:xfrm>
            <a:off x="5943600" y="5367528"/>
            <a:ext cx="5669280" cy="329184"/>
          </a:xfrm>
          <a:prstGeom prst="rect">
            <a:avLst/>
          </a:prstGeom>
          <a:noFill/>
          <a:ln/>
        </p:spPr>
        <p:txBody>
          <a:bodyPr wrap="square" lIns="0" tIns="0" rIns="0" bIns="0" rtlCol="0" anchor="ctr"/>
          <a:lstStyle/>
          <a:p>
            <a:pPr indent="0" marL="0">
              <a:buNone/>
            </a:pPr>
            <a:r>
              <a:rPr lang="en-US" sz="1600" b="1" dirty="0">
                <a:solidFill>
                  <a:srgbClr val="16163F"/>
                </a:solidFill>
              </a:rPr>
              <a:t>[CLS] vector → softmax classifier</a:t>
            </a:r>
            <a:endParaRPr lang="en-US" sz="1600" dirty="0"/>
          </a:p>
        </p:txBody>
      </p:sp>
      <p:sp>
        <p:nvSpPr>
          <p:cNvPr id="22" name="Text 15"/>
          <p:cNvSpPr txBox="1"/>
          <p:nvPr/>
        </p:nvSpPr>
        <p:spPr>
          <a:xfrm>
            <a:off x="5943600" y="5696712"/>
            <a:ext cx="5669280" cy="292608"/>
          </a:xfrm>
          <a:prstGeom prst="rect">
            <a:avLst/>
          </a:prstGeom>
          <a:noFill/>
          <a:ln/>
        </p:spPr>
        <p:txBody>
          <a:bodyPr wrap="square" lIns="0" tIns="0" rIns="0" bIns="0" rtlCol="0" anchor="ctr"/>
          <a:lstStyle/>
          <a:p>
            <a:pPr indent="0" marL="0">
              <a:buNone/>
            </a:pPr>
            <a:r>
              <a:rPr lang="en-US" sz="1300" dirty="0">
                <a:solidFill>
                  <a:srgbClr val="52516E"/>
                </a:solidFill>
              </a:rPr>
              <a:t>Whole network fine-tuned with cross-entropy + AdamW</a:t>
            </a:r>
            <a:endParaRPr lang="en-US" sz="13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Literature: Transformers lead, but gaps remain</a:t>
            </a:r>
            <a:endParaRPr lang="en-US" sz="3200" dirty="0"/>
          </a:p>
        </p:txBody>
      </p:sp>
      <p:sp>
        <p:nvSpPr>
          <p:cNvPr id="3" name="card"/>
          <p:cNvSpPr/>
          <p:nvPr/>
        </p:nvSpPr>
        <p:spPr>
          <a:xfrm>
            <a:off x="548640" y="1371600"/>
            <a:ext cx="3474720" cy="1828800"/>
          </a:xfrm>
          <a:prstGeom prst="roundRect">
            <a:avLst>
              <a:gd name="adj" fmla="val 6000"/>
            </a:avLst>
          </a:prstGeom>
          <a:solidFill>
            <a:srgbClr val="EEF0FA"/>
          </a:solidFill>
          <a:ln w="12700">
            <a:solidFill>
              <a:srgbClr val="EEF0FA"/>
            </a:solidFill>
            <a:prstDash val="solid"/>
          </a:ln>
        </p:spPr>
      </p:sp>
      <p:sp>
        <p:nvSpPr>
          <p:cNvPr id="4" name="Text 2"/>
          <p:cNvSpPr txBox="1"/>
          <p:nvPr/>
        </p:nvSpPr>
        <p:spPr>
          <a:xfrm>
            <a:off x="822960" y="1508760"/>
            <a:ext cx="3017520" cy="457200"/>
          </a:xfrm>
          <a:prstGeom prst="rect">
            <a:avLst/>
          </a:prstGeom>
          <a:noFill/>
          <a:ln/>
        </p:spPr>
        <p:txBody>
          <a:bodyPr wrap="square" lIns="0" tIns="0" rIns="0" bIns="0" rtlCol="0" anchor="ctr"/>
          <a:lstStyle/>
          <a:p>
            <a:pPr indent="0" marL="0">
              <a:buNone/>
            </a:pPr>
            <a:r>
              <a:rPr lang="en-US" sz="2000" b="1" dirty="0">
                <a:solidFill>
                  <a:srgbClr val="1BAF7A"/>
                </a:solidFill>
                <a:latin typeface="Cambria" pitchFamily="34" charset="0"/>
                <a:ea typeface="Cambria" pitchFamily="34" charset="-122"/>
                <a:cs typeface="Cambria" pitchFamily="34" charset="-120"/>
              </a:rPr>
              <a:t>Encoder-only</a:t>
            </a:r>
            <a:endParaRPr lang="en-US" sz="2000" dirty="0"/>
          </a:p>
        </p:txBody>
      </p:sp>
      <p:sp>
        <p:nvSpPr>
          <p:cNvPr id="5" name="Text 3"/>
          <p:cNvSpPr txBox="1"/>
          <p:nvPr/>
        </p:nvSpPr>
        <p:spPr>
          <a:xfrm>
            <a:off x="822960" y="2011680"/>
            <a:ext cx="3017520" cy="457200"/>
          </a:xfrm>
          <a:prstGeom prst="rect">
            <a:avLst/>
          </a:prstGeom>
          <a:noFill/>
          <a:ln/>
        </p:spPr>
        <p:txBody>
          <a:bodyPr wrap="square" lIns="0" tIns="0" rIns="0" bIns="0" rtlCol="0" anchor="ctr"/>
          <a:lstStyle/>
          <a:p>
            <a:pPr indent="0" marL="0">
              <a:buNone/>
            </a:pPr>
            <a:r>
              <a:rPr lang="en-US" sz="1500" b="1" dirty="0">
                <a:solidFill>
                  <a:srgbClr val="16163F"/>
                </a:solidFill>
              </a:rPr>
              <a:t>BERT, RoBERTa, DistilBERT, DeBERTa</a:t>
            </a:r>
            <a:endParaRPr lang="en-US" sz="1500" dirty="0"/>
          </a:p>
        </p:txBody>
      </p:sp>
      <p:sp>
        <p:nvSpPr>
          <p:cNvPr id="6" name="Text 4"/>
          <p:cNvSpPr txBox="1"/>
          <p:nvPr/>
        </p:nvSpPr>
        <p:spPr>
          <a:xfrm>
            <a:off x="822960" y="2514600"/>
            <a:ext cx="3017520" cy="457200"/>
          </a:xfrm>
          <a:prstGeom prst="rect">
            <a:avLst/>
          </a:prstGeom>
          <a:noFill/>
          <a:ln/>
        </p:spPr>
        <p:txBody>
          <a:bodyPr wrap="square" lIns="0" tIns="0" rIns="0" bIns="0" rtlCol="0" anchor="ctr"/>
          <a:lstStyle/>
          <a:p>
            <a:pPr indent="0" marL="0">
              <a:buNone/>
            </a:pPr>
            <a:r>
              <a:rPr lang="en-US" sz="1400" dirty="0">
                <a:solidFill>
                  <a:srgbClr val="52516E"/>
                </a:solidFill>
              </a:rPr>
              <a:t>Understanding &amp; classification</a:t>
            </a:r>
            <a:endParaRPr lang="en-US" sz="1400" dirty="0"/>
          </a:p>
        </p:txBody>
      </p:sp>
      <p:sp>
        <p:nvSpPr>
          <p:cNvPr id="7" name="card"/>
          <p:cNvSpPr/>
          <p:nvPr/>
        </p:nvSpPr>
        <p:spPr>
          <a:xfrm>
            <a:off x="4297680" y="1371600"/>
            <a:ext cx="3474720" cy="1828800"/>
          </a:xfrm>
          <a:prstGeom prst="roundRect">
            <a:avLst>
              <a:gd name="adj" fmla="val 6000"/>
            </a:avLst>
          </a:prstGeom>
          <a:solidFill>
            <a:srgbClr val="EEF0FA"/>
          </a:solidFill>
          <a:ln w="12700">
            <a:solidFill>
              <a:srgbClr val="EEF0FA"/>
            </a:solidFill>
            <a:prstDash val="solid"/>
          </a:ln>
        </p:spPr>
      </p:sp>
      <p:sp>
        <p:nvSpPr>
          <p:cNvPr id="8" name="Text 6"/>
          <p:cNvSpPr txBox="1"/>
          <p:nvPr/>
        </p:nvSpPr>
        <p:spPr>
          <a:xfrm>
            <a:off x="4572000" y="1508760"/>
            <a:ext cx="3017520" cy="457200"/>
          </a:xfrm>
          <a:prstGeom prst="rect">
            <a:avLst/>
          </a:prstGeom>
          <a:noFill/>
          <a:ln/>
        </p:spPr>
        <p:txBody>
          <a:bodyPr wrap="square" lIns="0" tIns="0" rIns="0" bIns="0" rtlCol="0" anchor="ctr"/>
          <a:lstStyle/>
          <a:p>
            <a:pPr indent="0" marL="0">
              <a:buNone/>
            </a:pPr>
            <a:r>
              <a:rPr lang="en-US" sz="2000" b="1" dirty="0">
                <a:solidFill>
                  <a:srgbClr val="2A78D6"/>
                </a:solidFill>
                <a:latin typeface="Cambria" pitchFamily="34" charset="0"/>
                <a:ea typeface="Cambria" pitchFamily="34" charset="-122"/>
                <a:cs typeface="Cambria" pitchFamily="34" charset="-120"/>
              </a:rPr>
              <a:t>Decoder-only</a:t>
            </a:r>
            <a:endParaRPr lang="en-US" sz="2000" dirty="0"/>
          </a:p>
        </p:txBody>
      </p:sp>
      <p:sp>
        <p:nvSpPr>
          <p:cNvPr id="9" name="Text 7"/>
          <p:cNvSpPr txBox="1"/>
          <p:nvPr/>
        </p:nvSpPr>
        <p:spPr>
          <a:xfrm>
            <a:off x="4572000" y="2011680"/>
            <a:ext cx="3017520" cy="457200"/>
          </a:xfrm>
          <a:prstGeom prst="rect">
            <a:avLst/>
          </a:prstGeom>
          <a:noFill/>
          <a:ln/>
        </p:spPr>
        <p:txBody>
          <a:bodyPr wrap="square" lIns="0" tIns="0" rIns="0" bIns="0" rtlCol="0" anchor="ctr"/>
          <a:lstStyle/>
          <a:p>
            <a:pPr indent="0" marL="0">
              <a:buNone/>
            </a:pPr>
            <a:r>
              <a:rPr lang="en-US" sz="1500" b="1" dirty="0">
                <a:solidFill>
                  <a:srgbClr val="16163F"/>
                </a:solidFill>
              </a:rPr>
              <a:t>GPT-2/3/4, Llama</a:t>
            </a:r>
            <a:endParaRPr lang="en-US" sz="1500" dirty="0"/>
          </a:p>
        </p:txBody>
      </p:sp>
      <p:sp>
        <p:nvSpPr>
          <p:cNvPr id="10" name="Text 8"/>
          <p:cNvSpPr txBox="1"/>
          <p:nvPr/>
        </p:nvSpPr>
        <p:spPr>
          <a:xfrm>
            <a:off x="4572000" y="2514600"/>
            <a:ext cx="3017520" cy="457200"/>
          </a:xfrm>
          <a:prstGeom prst="rect">
            <a:avLst/>
          </a:prstGeom>
          <a:noFill/>
          <a:ln/>
        </p:spPr>
        <p:txBody>
          <a:bodyPr wrap="square" lIns="0" tIns="0" rIns="0" bIns="0" rtlCol="0" anchor="ctr"/>
          <a:lstStyle/>
          <a:p>
            <a:pPr indent="0" marL="0">
              <a:buNone/>
            </a:pPr>
            <a:r>
              <a:rPr lang="en-US" sz="1400" dirty="0">
                <a:solidFill>
                  <a:srgbClr val="52516E"/>
                </a:solidFill>
              </a:rPr>
              <a:t>Generation, in-context learning</a:t>
            </a:r>
            <a:endParaRPr lang="en-US" sz="1400" dirty="0"/>
          </a:p>
        </p:txBody>
      </p:sp>
      <p:sp>
        <p:nvSpPr>
          <p:cNvPr id="11" name="card"/>
          <p:cNvSpPr/>
          <p:nvPr/>
        </p:nvSpPr>
        <p:spPr>
          <a:xfrm>
            <a:off x="8046720" y="1371600"/>
            <a:ext cx="3474720" cy="1828800"/>
          </a:xfrm>
          <a:prstGeom prst="roundRect">
            <a:avLst>
              <a:gd name="adj" fmla="val 6000"/>
            </a:avLst>
          </a:prstGeom>
          <a:solidFill>
            <a:srgbClr val="EEF0FA"/>
          </a:solidFill>
          <a:ln w="12700">
            <a:solidFill>
              <a:srgbClr val="EEF0FA"/>
            </a:solidFill>
            <a:prstDash val="solid"/>
          </a:ln>
        </p:spPr>
      </p:sp>
      <p:sp>
        <p:nvSpPr>
          <p:cNvPr id="12" name="Text 10"/>
          <p:cNvSpPr txBox="1"/>
          <p:nvPr/>
        </p:nvSpPr>
        <p:spPr>
          <a:xfrm>
            <a:off x="8321040" y="1508760"/>
            <a:ext cx="3017520" cy="457200"/>
          </a:xfrm>
          <a:prstGeom prst="rect">
            <a:avLst/>
          </a:prstGeom>
          <a:noFill/>
          <a:ln/>
        </p:spPr>
        <p:txBody>
          <a:bodyPr wrap="square" lIns="0" tIns="0" rIns="0" bIns="0" rtlCol="0" anchor="ctr"/>
          <a:lstStyle/>
          <a:p>
            <a:pPr indent="0" marL="0">
              <a:buNone/>
            </a:pPr>
            <a:r>
              <a:rPr lang="en-US" sz="2000" b="1" dirty="0">
                <a:solidFill>
                  <a:srgbClr val="6250D6"/>
                </a:solidFill>
                <a:latin typeface="Cambria" pitchFamily="34" charset="0"/>
                <a:ea typeface="Cambria" pitchFamily="34" charset="-122"/>
                <a:cs typeface="Cambria" pitchFamily="34" charset="-120"/>
              </a:rPr>
              <a:t>Encoder–decoder</a:t>
            </a:r>
            <a:endParaRPr lang="en-US" sz="2000" dirty="0"/>
          </a:p>
        </p:txBody>
      </p:sp>
      <p:sp>
        <p:nvSpPr>
          <p:cNvPr id="13" name="Text 11"/>
          <p:cNvSpPr txBox="1"/>
          <p:nvPr/>
        </p:nvSpPr>
        <p:spPr>
          <a:xfrm>
            <a:off x="8321040" y="2011680"/>
            <a:ext cx="3017520" cy="457200"/>
          </a:xfrm>
          <a:prstGeom prst="rect">
            <a:avLst/>
          </a:prstGeom>
          <a:noFill/>
          <a:ln/>
        </p:spPr>
        <p:txBody>
          <a:bodyPr wrap="square" lIns="0" tIns="0" rIns="0" bIns="0" rtlCol="0" anchor="ctr"/>
          <a:lstStyle/>
          <a:p>
            <a:pPr indent="0" marL="0">
              <a:buNone/>
            </a:pPr>
            <a:r>
              <a:rPr lang="en-US" sz="1500" b="1" dirty="0">
                <a:solidFill>
                  <a:srgbClr val="16163F"/>
                </a:solidFill>
              </a:rPr>
              <a:t>T5, BART</a:t>
            </a:r>
            <a:endParaRPr lang="en-US" sz="1500" dirty="0"/>
          </a:p>
        </p:txBody>
      </p:sp>
      <p:sp>
        <p:nvSpPr>
          <p:cNvPr id="14" name="Text 12"/>
          <p:cNvSpPr txBox="1"/>
          <p:nvPr/>
        </p:nvSpPr>
        <p:spPr>
          <a:xfrm>
            <a:off x="8321040" y="2514600"/>
            <a:ext cx="3017520" cy="457200"/>
          </a:xfrm>
          <a:prstGeom prst="rect">
            <a:avLst/>
          </a:prstGeom>
          <a:noFill/>
          <a:ln/>
        </p:spPr>
        <p:txBody>
          <a:bodyPr wrap="square" lIns="0" tIns="0" rIns="0" bIns="0" rtlCol="0" anchor="ctr"/>
          <a:lstStyle/>
          <a:p>
            <a:pPr indent="0" marL="0">
              <a:buNone/>
            </a:pPr>
            <a:r>
              <a:rPr lang="en-US" sz="1400" dirty="0">
                <a:solidFill>
                  <a:srgbClr val="52516E"/>
                </a:solidFill>
              </a:rPr>
              <a:t>Translation, summarisation</a:t>
            </a:r>
            <a:endParaRPr lang="en-US" sz="1400" dirty="0"/>
          </a:p>
        </p:txBody>
      </p:sp>
      <p:sp>
        <p:nvSpPr>
          <p:cNvPr id="15" name="Shape 13"/>
          <p:cNvSpPr/>
          <p:nvPr/>
        </p:nvSpPr>
        <p:spPr>
          <a:xfrm>
            <a:off x="548640" y="3611880"/>
            <a:ext cx="640080" cy="640080"/>
          </a:xfrm>
          <a:prstGeom prst="ellipse">
            <a:avLst/>
          </a:prstGeom>
          <a:solidFill>
            <a:srgbClr val="EB6834"/>
          </a:solidFill>
          <a:ln w="12700">
            <a:solidFill>
              <a:srgbClr val="EB6834"/>
            </a:solidFill>
            <a:prstDash val="solid"/>
          </a:ln>
        </p:spPr>
      </p:sp>
      <p:pic>
        <p:nvPicPr>
          <p:cNvPr id="16" name="Image 0" descr="preencoded.png">    </p:cNvPr>
          <p:cNvPicPr>
            <a:picLocks noChangeAspect="1"/>
          </p:cNvPicPr>
          <p:nvPr/>
        </p:nvPicPr>
        <p:blipFill>
          <a:blip r:embed="rId1"/>
          <a:stretch>
            <a:fillRect/>
          </a:stretch>
        </p:blipFill>
        <p:spPr>
          <a:xfrm>
            <a:off x="702259" y="3765499"/>
            <a:ext cx="332842" cy="332842"/>
          </a:xfrm>
          <a:prstGeom prst="rect">
            <a:avLst/>
          </a:prstGeom>
        </p:spPr>
      </p:pic>
      <p:sp>
        <p:nvSpPr>
          <p:cNvPr id="17" name="Text 14"/>
          <p:cNvSpPr txBox="1"/>
          <p:nvPr/>
        </p:nvSpPr>
        <p:spPr>
          <a:xfrm>
            <a:off x="1371600" y="3611880"/>
            <a:ext cx="3657600" cy="640080"/>
          </a:xfrm>
          <a:prstGeom prst="rect">
            <a:avLst/>
          </a:prstGeom>
          <a:noFill/>
          <a:ln/>
        </p:spPr>
        <p:txBody>
          <a:bodyPr wrap="square" lIns="0" tIns="0" rIns="0" bIns="0" rtlCol="0" anchor="ctr"/>
          <a:lstStyle/>
          <a:p>
            <a:pPr indent="0" marL="0">
              <a:buNone/>
            </a:pPr>
            <a:r>
              <a:rPr lang="en-US" sz="2000" b="1" dirty="0">
                <a:solidFill>
                  <a:srgbClr val="16163F"/>
                </a:solidFill>
                <a:latin typeface="Cambria" pitchFamily="34" charset="0"/>
                <a:ea typeface="Cambria" pitchFamily="34" charset="-122"/>
                <a:cs typeface="Cambria" pitchFamily="34" charset="-120"/>
              </a:rPr>
              <a:t>In Lithuania</a:t>
            </a:r>
            <a:endParaRPr lang="en-US" sz="2000" dirty="0"/>
          </a:p>
        </p:txBody>
      </p:sp>
      <p:sp>
        <p:nvSpPr>
          <p:cNvPr id="18" name="Text 15"/>
          <p:cNvSpPr txBox="1"/>
          <p:nvPr/>
        </p:nvSpPr>
        <p:spPr>
          <a:xfrm>
            <a:off x="548640" y="4389120"/>
            <a:ext cx="6035040" cy="17373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16163F"/>
                </a:solidFill>
                <a:latin typeface="Calibri" pitchFamily="34" charset="0"/>
                <a:ea typeface="Calibri" pitchFamily="34" charset="-122"/>
                <a:cs typeface="Calibri" pitchFamily="34" charset="-120"/>
              </a:rPr>
              <a:t>Kapočiūtė-Dzikienė et al. (2019): NB 0.735 beat LSTM/CNN 0.706 – no pre-training</a:t>
            </a:r>
            <a:endParaRPr lang="en-US" sz="1400" dirty="0"/>
          </a:p>
          <a:p>
            <a:pPr marL="342900" indent="-342900">
              <a:spcAft>
                <a:spcPts val="400"/>
              </a:spcAft>
              <a:buSzPct val="100000"/>
              <a:buChar char="•"/>
            </a:pPr>
            <a:r>
              <a:rPr lang="en-US" sz="1400" dirty="0">
                <a:solidFill>
                  <a:srgbClr val="16163F"/>
                </a:solidFill>
                <a:latin typeface="Calibri" pitchFamily="34" charset="0"/>
                <a:ea typeface="Calibri" pitchFamily="34" charset="-122"/>
                <a:cs typeface="Calibri" pitchFamily="34" charset="-120"/>
              </a:rPr>
              <a:t>Ulčar &amp; Robnik-Šikonja (2021): LitLat BERT for LT/LV/EN</a:t>
            </a:r>
            <a:endParaRPr lang="en-US" sz="1400" dirty="0"/>
          </a:p>
          <a:p>
            <a:pPr marL="342900" indent="-342900">
              <a:spcAft>
                <a:spcPts val="400"/>
              </a:spcAft>
              <a:buSzPct val="100000"/>
              <a:buChar char="•"/>
            </a:pPr>
            <a:r>
              <a:rPr lang="en-US" sz="1400" dirty="0">
                <a:solidFill>
                  <a:srgbClr val="16163F"/>
                </a:solidFill>
                <a:latin typeface="Calibri" pitchFamily="34" charset="0"/>
                <a:ea typeface="Calibri" pitchFamily="34" charset="-122"/>
                <a:cs typeface="Calibri" pitchFamily="34" charset="-120"/>
              </a:rPr>
              <a:t>Vileikytė et al. (2024): BERT &amp; T5 for Lithuanian reviews</a:t>
            </a:r>
            <a:endParaRPr lang="en-US" sz="1400" dirty="0"/>
          </a:p>
          <a:p>
            <a:pPr marL="342900" indent="-342900">
              <a:spcAft>
                <a:spcPts val="400"/>
              </a:spcAft>
              <a:buSzPct val="100000"/>
              <a:buChar char="•"/>
            </a:pPr>
            <a:r>
              <a:rPr lang="en-US" sz="1400" dirty="0">
                <a:solidFill>
                  <a:srgbClr val="16163F"/>
                </a:solidFill>
                <a:latin typeface="Calibri" pitchFamily="34" charset="0"/>
                <a:ea typeface="Calibri" pitchFamily="34" charset="-122"/>
                <a:cs typeface="Calibri" pitchFamily="34" charset="-120"/>
              </a:rPr>
              <a:t>Nakvosas et al. (2024): first open Lithuanian Llama2 LLMs</a:t>
            </a:r>
            <a:endParaRPr lang="en-US" sz="1400" dirty="0"/>
          </a:p>
        </p:txBody>
      </p:sp>
      <p:sp>
        <p:nvSpPr>
          <p:cNvPr id="19" name="card"/>
          <p:cNvSpPr/>
          <p:nvPr/>
        </p:nvSpPr>
        <p:spPr>
          <a:xfrm>
            <a:off x="6949440" y="3611880"/>
            <a:ext cx="4663440" cy="2514600"/>
          </a:xfrm>
          <a:prstGeom prst="roundRect">
            <a:avLst>
              <a:gd name="adj" fmla="val 4364"/>
            </a:avLst>
          </a:prstGeom>
          <a:solidFill>
            <a:srgbClr val="FDF1E8"/>
          </a:solidFill>
          <a:ln w="12700">
            <a:solidFill>
              <a:srgbClr val="FDF1E8"/>
            </a:solidFill>
            <a:prstDash val="solid"/>
          </a:ln>
        </p:spPr>
      </p:sp>
      <p:sp>
        <p:nvSpPr>
          <p:cNvPr id="20" name="Shape 17"/>
          <p:cNvSpPr/>
          <p:nvPr/>
        </p:nvSpPr>
        <p:spPr>
          <a:xfrm>
            <a:off x="7178040" y="3794760"/>
            <a:ext cx="548640" cy="548640"/>
          </a:xfrm>
          <a:prstGeom prst="ellipse">
            <a:avLst/>
          </a:prstGeom>
          <a:solidFill>
            <a:srgbClr val="EB6834"/>
          </a:solidFill>
          <a:ln w="12700">
            <a:solidFill>
              <a:srgbClr val="EB6834"/>
            </a:solidFill>
            <a:prstDash val="solid"/>
          </a:ln>
        </p:spPr>
      </p:sp>
      <p:pic>
        <p:nvPicPr>
          <p:cNvPr id="21" name="Image 1" descr="preencoded.png">    </p:cNvPr>
          <p:cNvPicPr>
            <a:picLocks noChangeAspect="1"/>
          </p:cNvPicPr>
          <p:nvPr/>
        </p:nvPicPr>
        <p:blipFill>
          <a:blip r:embed="rId2"/>
          <a:stretch>
            <a:fillRect/>
          </a:stretch>
        </p:blipFill>
        <p:spPr>
          <a:xfrm>
            <a:off x="7309714" y="3926434"/>
            <a:ext cx="285293" cy="285293"/>
          </a:xfrm>
          <a:prstGeom prst="rect">
            <a:avLst/>
          </a:prstGeom>
        </p:spPr>
      </p:pic>
      <p:sp>
        <p:nvSpPr>
          <p:cNvPr id="22" name="Text 18"/>
          <p:cNvSpPr txBox="1"/>
          <p:nvPr/>
        </p:nvSpPr>
        <p:spPr>
          <a:xfrm>
            <a:off x="7863840" y="3794760"/>
            <a:ext cx="3566160" cy="548640"/>
          </a:xfrm>
          <a:prstGeom prst="rect">
            <a:avLst/>
          </a:prstGeom>
          <a:noFill/>
          <a:ln/>
        </p:spPr>
        <p:txBody>
          <a:bodyPr wrap="square" lIns="0" tIns="0" rIns="0" bIns="0" rtlCol="0" anchor="ctr"/>
          <a:lstStyle/>
          <a:p>
            <a:pPr indent="0" marL="0">
              <a:buNone/>
            </a:pPr>
            <a:r>
              <a:rPr lang="en-US" sz="1800" b="1" dirty="0">
                <a:solidFill>
                  <a:srgbClr val="16163F"/>
                </a:solidFill>
                <a:latin typeface="Cambria" pitchFamily="34" charset="0"/>
                <a:ea typeface="Cambria" pitchFamily="34" charset="-122"/>
                <a:cs typeface="Cambria" pitchFamily="34" charset="-120"/>
              </a:rPr>
              <a:t>Gap we address</a:t>
            </a:r>
            <a:endParaRPr lang="en-US" sz="1800" dirty="0"/>
          </a:p>
        </p:txBody>
      </p:sp>
      <p:sp>
        <p:nvSpPr>
          <p:cNvPr id="23" name="Text 19"/>
          <p:cNvSpPr txBox="1"/>
          <p:nvPr/>
        </p:nvSpPr>
        <p:spPr>
          <a:xfrm>
            <a:off x="7223760" y="4480560"/>
            <a:ext cx="4206240" cy="1554480"/>
          </a:xfrm>
          <a:prstGeom prst="rect">
            <a:avLst/>
          </a:prstGeom>
          <a:noFill/>
          <a:ln/>
        </p:spPr>
        <p:txBody>
          <a:bodyPr wrap="square" lIns="0" tIns="0" rIns="0" bIns="0" rtlCol="0" anchor="t"/>
          <a:lstStyle/>
          <a:p>
            <a:pPr indent="0" marL="0">
              <a:buNone/>
            </a:pPr>
            <a:r>
              <a:rPr lang="en-US" sz="1500" dirty="0">
                <a:solidFill>
                  <a:srgbClr val="16163F"/>
                </a:solidFill>
                <a:latin typeface="Calibri" pitchFamily="34" charset="0"/>
                <a:ea typeface="Calibri" pitchFamily="34" charset="-122"/>
                <a:cs typeface="Calibri" pitchFamily="34" charset="-120"/>
              </a:rPr>
              <a:t>Results are reported on GPUs with full data. How large is the gain on a CPU with a few thousand labels – and is a ready-made model enough?</a:t>
            </a:r>
            <a:endParaRPr lang="en-US" sz="15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Experiment: 10 competitors, one dataset, one laptop CPU</a:t>
            </a:r>
            <a:endParaRPr lang="en-US" sz="3200" dirty="0"/>
          </a:p>
        </p:txBody>
      </p:sp>
      <p:sp>
        <p:nvSpPr>
          <p:cNvPr id="3" name="card"/>
          <p:cNvSpPr/>
          <p:nvPr/>
        </p:nvSpPr>
        <p:spPr>
          <a:xfrm>
            <a:off x="548640" y="1371600"/>
            <a:ext cx="3840480" cy="1280160"/>
          </a:xfrm>
          <a:prstGeom prst="roundRect">
            <a:avLst>
              <a:gd name="adj" fmla="val 8571"/>
            </a:avLst>
          </a:prstGeom>
          <a:solidFill>
            <a:srgbClr val="EEF0FA"/>
          </a:solidFill>
          <a:ln w="12700">
            <a:solidFill>
              <a:srgbClr val="EEF0FA"/>
            </a:solidFill>
            <a:prstDash val="solid"/>
          </a:ln>
        </p:spPr>
      </p:sp>
      <p:sp>
        <p:nvSpPr>
          <p:cNvPr id="4" name="Text 2"/>
          <p:cNvSpPr txBox="1"/>
          <p:nvPr/>
        </p:nvSpPr>
        <p:spPr>
          <a:xfrm>
            <a:off x="777240" y="1481328"/>
            <a:ext cx="3474720" cy="640080"/>
          </a:xfrm>
          <a:prstGeom prst="rect">
            <a:avLst/>
          </a:prstGeom>
          <a:noFill/>
          <a:ln/>
        </p:spPr>
        <p:txBody>
          <a:bodyPr wrap="square" lIns="0" tIns="0" rIns="0" bIns="0" rtlCol="0" anchor="ctr"/>
          <a:lstStyle/>
          <a:p>
            <a:pPr indent="0" marL="0">
              <a:buNone/>
            </a:pPr>
            <a:r>
              <a:rPr lang="en-US" sz="2800" b="1" dirty="0">
                <a:solidFill>
                  <a:srgbClr val="2E2A6B"/>
                </a:solidFill>
                <a:latin typeface="Cambria" pitchFamily="34" charset="0"/>
                <a:ea typeface="Cambria" pitchFamily="34" charset="-122"/>
                <a:cs typeface="Cambria" pitchFamily="34" charset="-120"/>
              </a:rPr>
              <a:t>SST-2</a:t>
            </a:r>
            <a:endParaRPr lang="en-US" sz="2800" dirty="0"/>
          </a:p>
        </p:txBody>
      </p:sp>
      <p:sp>
        <p:nvSpPr>
          <p:cNvPr id="5" name="Text 3"/>
          <p:cNvSpPr txBox="1"/>
          <p:nvPr/>
        </p:nvSpPr>
        <p:spPr>
          <a:xfrm>
            <a:off x="777240" y="2121408"/>
            <a:ext cx="3474720" cy="411480"/>
          </a:xfrm>
          <a:prstGeom prst="rect">
            <a:avLst/>
          </a:prstGeom>
          <a:noFill/>
          <a:ln/>
        </p:spPr>
        <p:txBody>
          <a:bodyPr wrap="square" lIns="0" tIns="0" rIns="0" bIns="0" rtlCol="0" anchor="ctr"/>
          <a:lstStyle/>
          <a:p>
            <a:pPr indent="0" marL="0">
              <a:buNone/>
            </a:pPr>
            <a:r>
              <a:rPr lang="en-US" sz="1300" dirty="0">
                <a:solidFill>
                  <a:srgbClr val="52516E"/>
                </a:solidFill>
              </a:rPr>
              <a:t>movie-review sentences, positive / negative</a:t>
            </a:r>
            <a:endParaRPr lang="en-US" sz="1300" dirty="0"/>
          </a:p>
        </p:txBody>
      </p:sp>
      <p:sp>
        <p:nvSpPr>
          <p:cNvPr id="6" name="card"/>
          <p:cNvSpPr/>
          <p:nvPr/>
        </p:nvSpPr>
        <p:spPr>
          <a:xfrm>
            <a:off x="548640" y="2880360"/>
            <a:ext cx="3840480" cy="1280160"/>
          </a:xfrm>
          <a:prstGeom prst="roundRect">
            <a:avLst>
              <a:gd name="adj" fmla="val 8571"/>
            </a:avLst>
          </a:prstGeom>
          <a:solidFill>
            <a:srgbClr val="EEF0FA"/>
          </a:solidFill>
          <a:ln w="12700">
            <a:solidFill>
              <a:srgbClr val="EEF0FA"/>
            </a:solidFill>
            <a:prstDash val="solid"/>
          </a:ln>
        </p:spPr>
      </p:sp>
      <p:sp>
        <p:nvSpPr>
          <p:cNvPr id="7" name="Text 5"/>
          <p:cNvSpPr txBox="1"/>
          <p:nvPr/>
        </p:nvSpPr>
        <p:spPr>
          <a:xfrm>
            <a:off x="777240" y="2990088"/>
            <a:ext cx="3474720" cy="640080"/>
          </a:xfrm>
          <a:prstGeom prst="rect">
            <a:avLst/>
          </a:prstGeom>
          <a:noFill/>
          <a:ln/>
        </p:spPr>
        <p:txBody>
          <a:bodyPr wrap="square" lIns="0" tIns="0" rIns="0" bIns="0" rtlCol="0" anchor="ctr"/>
          <a:lstStyle/>
          <a:p>
            <a:pPr indent="0" marL="0">
              <a:buNone/>
            </a:pPr>
            <a:r>
              <a:rPr lang="en-US" sz="2800" b="1" dirty="0">
                <a:solidFill>
                  <a:srgbClr val="2E2A6B"/>
                </a:solidFill>
                <a:latin typeface="Cambria" pitchFamily="34" charset="0"/>
                <a:ea typeface="Cambria" pitchFamily="34" charset="-122"/>
                <a:cs typeface="Cambria" pitchFamily="34" charset="-120"/>
              </a:rPr>
              <a:t>65k / 2k / 872</a:t>
            </a:r>
            <a:endParaRPr lang="en-US" sz="2800" dirty="0"/>
          </a:p>
        </p:txBody>
      </p:sp>
      <p:sp>
        <p:nvSpPr>
          <p:cNvPr id="8" name="Text 6"/>
          <p:cNvSpPr txBox="1"/>
          <p:nvPr/>
        </p:nvSpPr>
        <p:spPr>
          <a:xfrm>
            <a:off x="777240" y="3630168"/>
            <a:ext cx="3474720" cy="411480"/>
          </a:xfrm>
          <a:prstGeom prst="rect">
            <a:avLst/>
          </a:prstGeom>
          <a:noFill/>
          <a:ln/>
        </p:spPr>
        <p:txBody>
          <a:bodyPr wrap="square" lIns="0" tIns="0" rIns="0" bIns="0" rtlCol="0" anchor="ctr"/>
          <a:lstStyle/>
          <a:p>
            <a:pPr indent="0" marL="0">
              <a:buNone/>
            </a:pPr>
            <a:r>
              <a:rPr lang="en-US" sz="1300" dirty="0">
                <a:solidFill>
                  <a:srgbClr val="52516E"/>
                </a:solidFill>
              </a:rPr>
              <a:t>train / dev / test sentences</a:t>
            </a:r>
            <a:endParaRPr lang="en-US" sz="1300" dirty="0"/>
          </a:p>
        </p:txBody>
      </p:sp>
      <p:sp>
        <p:nvSpPr>
          <p:cNvPr id="9" name="card"/>
          <p:cNvSpPr/>
          <p:nvPr/>
        </p:nvSpPr>
        <p:spPr>
          <a:xfrm>
            <a:off x="548640" y="4389120"/>
            <a:ext cx="3840480" cy="1280160"/>
          </a:xfrm>
          <a:prstGeom prst="roundRect">
            <a:avLst>
              <a:gd name="adj" fmla="val 8571"/>
            </a:avLst>
          </a:prstGeom>
          <a:solidFill>
            <a:srgbClr val="EEF0FA"/>
          </a:solidFill>
          <a:ln w="12700">
            <a:solidFill>
              <a:srgbClr val="EEF0FA"/>
            </a:solidFill>
            <a:prstDash val="solid"/>
          </a:ln>
        </p:spPr>
      </p:sp>
      <p:sp>
        <p:nvSpPr>
          <p:cNvPr id="10" name="Text 8"/>
          <p:cNvSpPr txBox="1"/>
          <p:nvPr/>
        </p:nvSpPr>
        <p:spPr>
          <a:xfrm>
            <a:off x="777240" y="4498848"/>
            <a:ext cx="3474720" cy="640080"/>
          </a:xfrm>
          <a:prstGeom prst="rect">
            <a:avLst/>
          </a:prstGeom>
          <a:noFill/>
          <a:ln/>
        </p:spPr>
        <p:txBody>
          <a:bodyPr wrap="square" lIns="0" tIns="0" rIns="0" bIns="0" rtlCol="0" anchor="ctr"/>
          <a:lstStyle/>
          <a:p>
            <a:pPr indent="0" marL="0">
              <a:buNone/>
            </a:pPr>
            <a:r>
              <a:rPr lang="en-US" sz="2800" b="1" dirty="0">
                <a:solidFill>
                  <a:srgbClr val="2E2A6B"/>
                </a:solidFill>
                <a:latin typeface="Cambria" pitchFamily="34" charset="0"/>
                <a:ea typeface="Cambria" pitchFamily="34" charset="-122"/>
                <a:cs typeface="Cambria" pitchFamily="34" charset="-120"/>
              </a:rPr>
              <a:t>i5-8365U</a:t>
            </a:r>
            <a:endParaRPr lang="en-US" sz="2800" dirty="0"/>
          </a:p>
        </p:txBody>
      </p:sp>
      <p:sp>
        <p:nvSpPr>
          <p:cNvPr id="11" name="Text 9"/>
          <p:cNvSpPr txBox="1"/>
          <p:nvPr/>
        </p:nvSpPr>
        <p:spPr>
          <a:xfrm>
            <a:off x="777240" y="5138928"/>
            <a:ext cx="3474720" cy="411480"/>
          </a:xfrm>
          <a:prstGeom prst="rect">
            <a:avLst/>
          </a:prstGeom>
          <a:noFill/>
          <a:ln/>
        </p:spPr>
        <p:txBody>
          <a:bodyPr wrap="square" lIns="0" tIns="0" rIns="0" bIns="0" rtlCol="0" anchor="ctr"/>
          <a:lstStyle/>
          <a:p>
            <a:pPr indent="0" marL="0">
              <a:buNone/>
            </a:pPr>
            <a:r>
              <a:rPr lang="en-US" sz="1300" dirty="0">
                <a:solidFill>
                  <a:srgbClr val="52516E"/>
                </a:solidFill>
              </a:rPr>
              <a:t>4-core laptop CPU, 16 GB RAM, no GPU</a:t>
            </a:r>
            <a:endParaRPr lang="en-US" sz="1300" dirty="0"/>
          </a:p>
        </p:txBody>
      </p:sp>
      <p:sp>
        <p:nvSpPr>
          <p:cNvPr id="12" name="Shape 10"/>
          <p:cNvSpPr/>
          <p:nvPr/>
        </p:nvSpPr>
        <p:spPr>
          <a:xfrm>
            <a:off x="4800600" y="1463040"/>
            <a:ext cx="640080" cy="640080"/>
          </a:xfrm>
          <a:prstGeom prst="ellipse">
            <a:avLst/>
          </a:prstGeom>
          <a:solidFill>
            <a:srgbClr val="2A78D6"/>
          </a:solidFill>
          <a:ln w="12700">
            <a:solidFill>
              <a:srgbClr val="2A78D6"/>
            </a:solidFill>
            <a:prstDash val="solid"/>
          </a:ln>
        </p:spPr>
      </p:sp>
      <p:pic>
        <p:nvPicPr>
          <p:cNvPr id="13" name="Image 0" descr="preencoded.png">    </p:cNvPr>
          <p:cNvPicPr>
            <a:picLocks noChangeAspect="1"/>
          </p:cNvPicPr>
          <p:nvPr/>
        </p:nvPicPr>
        <p:blipFill>
          <a:blip r:embed="rId1"/>
          <a:stretch>
            <a:fillRect/>
          </a:stretch>
        </p:blipFill>
        <p:spPr>
          <a:xfrm>
            <a:off x="4954219" y="1616659"/>
            <a:ext cx="332842" cy="332842"/>
          </a:xfrm>
          <a:prstGeom prst="rect">
            <a:avLst/>
          </a:prstGeom>
        </p:spPr>
      </p:pic>
      <p:sp>
        <p:nvSpPr>
          <p:cNvPr id="14" name="Text 11"/>
          <p:cNvSpPr txBox="1"/>
          <p:nvPr/>
        </p:nvSpPr>
        <p:spPr>
          <a:xfrm>
            <a:off x="5623560" y="1389888"/>
            <a:ext cx="5943600" cy="384048"/>
          </a:xfrm>
          <a:prstGeom prst="rect">
            <a:avLst/>
          </a:prstGeom>
          <a:noFill/>
          <a:ln/>
        </p:spPr>
        <p:txBody>
          <a:bodyPr wrap="square" lIns="0" tIns="0" rIns="0" bIns="0" rtlCol="0" anchor="ctr"/>
          <a:lstStyle/>
          <a:p>
            <a:pPr indent="0" marL="0">
              <a:buNone/>
            </a:pPr>
            <a:r>
              <a:rPr lang="en-US" sz="1700" b="1" dirty="0">
                <a:solidFill>
                  <a:srgbClr val="16163F"/>
                </a:solidFill>
              </a:rPr>
              <a:t>Classical</a:t>
            </a:r>
            <a:endParaRPr lang="en-US" sz="1700" dirty="0"/>
          </a:p>
        </p:txBody>
      </p:sp>
      <p:sp>
        <p:nvSpPr>
          <p:cNvPr id="15" name="Text 12"/>
          <p:cNvSpPr txBox="1"/>
          <p:nvPr/>
        </p:nvSpPr>
        <p:spPr>
          <a:xfrm>
            <a:off x="5623560" y="1773936"/>
            <a:ext cx="5943600" cy="365760"/>
          </a:xfrm>
          <a:prstGeom prst="rect">
            <a:avLst/>
          </a:prstGeom>
          <a:noFill/>
          <a:ln/>
        </p:spPr>
        <p:txBody>
          <a:bodyPr wrap="square" lIns="0" tIns="0" rIns="0" bIns="0" rtlCol="0" anchor="ctr"/>
          <a:lstStyle/>
          <a:p>
            <a:pPr indent="0" marL="0">
              <a:buNone/>
            </a:pPr>
            <a:r>
              <a:rPr lang="en-US" sz="1400" dirty="0">
                <a:solidFill>
                  <a:srgbClr val="52516E"/>
                </a:solidFill>
              </a:rPr>
              <a:t>TF-IDF + Naive Bayes · Logistic Regression · Linear SVM</a:t>
            </a:r>
            <a:endParaRPr lang="en-US" sz="1400" dirty="0"/>
          </a:p>
        </p:txBody>
      </p:sp>
      <p:sp>
        <p:nvSpPr>
          <p:cNvPr id="16" name="Shape 13"/>
          <p:cNvSpPr/>
          <p:nvPr/>
        </p:nvSpPr>
        <p:spPr>
          <a:xfrm>
            <a:off x="4800600" y="2450592"/>
            <a:ext cx="640080" cy="640080"/>
          </a:xfrm>
          <a:prstGeom prst="ellipse">
            <a:avLst/>
          </a:prstGeom>
          <a:solidFill>
            <a:srgbClr val="EB6834"/>
          </a:solidFill>
          <a:ln w="12700">
            <a:solidFill>
              <a:srgbClr val="EB6834"/>
            </a:solidFill>
            <a:prstDash val="solid"/>
          </a:ln>
        </p:spPr>
      </p:sp>
      <p:pic>
        <p:nvPicPr>
          <p:cNvPr id="17" name="Image 1" descr="preencoded.png">    </p:cNvPr>
          <p:cNvPicPr>
            <a:picLocks noChangeAspect="1"/>
          </p:cNvPicPr>
          <p:nvPr/>
        </p:nvPicPr>
        <p:blipFill>
          <a:blip r:embed="rId2"/>
          <a:stretch>
            <a:fillRect/>
          </a:stretch>
        </p:blipFill>
        <p:spPr>
          <a:xfrm>
            <a:off x="4954219" y="2604211"/>
            <a:ext cx="332842" cy="332842"/>
          </a:xfrm>
          <a:prstGeom prst="rect">
            <a:avLst/>
          </a:prstGeom>
        </p:spPr>
      </p:pic>
      <p:sp>
        <p:nvSpPr>
          <p:cNvPr id="18" name="Text 14"/>
          <p:cNvSpPr txBox="1"/>
          <p:nvPr/>
        </p:nvSpPr>
        <p:spPr>
          <a:xfrm>
            <a:off x="5623560" y="2377440"/>
            <a:ext cx="5943600" cy="384048"/>
          </a:xfrm>
          <a:prstGeom prst="rect">
            <a:avLst/>
          </a:prstGeom>
          <a:noFill/>
          <a:ln/>
        </p:spPr>
        <p:txBody>
          <a:bodyPr wrap="square" lIns="0" tIns="0" rIns="0" bIns="0" rtlCol="0" anchor="ctr"/>
          <a:lstStyle/>
          <a:p>
            <a:pPr indent="0" marL="0">
              <a:buNone/>
            </a:pPr>
            <a:r>
              <a:rPr lang="en-US" sz="1700" b="1" dirty="0">
                <a:solidFill>
                  <a:srgbClr val="16163F"/>
                </a:solidFill>
              </a:rPr>
              <a:t>Recurrent</a:t>
            </a:r>
            <a:endParaRPr lang="en-US" sz="1700" dirty="0"/>
          </a:p>
        </p:txBody>
      </p:sp>
      <p:sp>
        <p:nvSpPr>
          <p:cNvPr id="19" name="Text 15"/>
          <p:cNvSpPr txBox="1"/>
          <p:nvPr/>
        </p:nvSpPr>
        <p:spPr>
          <a:xfrm>
            <a:off x="5623560" y="2761488"/>
            <a:ext cx="5943600" cy="365760"/>
          </a:xfrm>
          <a:prstGeom prst="rect">
            <a:avLst/>
          </a:prstGeom>
          <a:noFill/>
          <a:ln/>
        </p:spPr>
        <p:txBody>
          <a:bodyPr wrap="square" lIns="0" tIns="0" rIns="0" bIns="0" rtlCol="0" anchor="ctr"/>
          <a:lstStyle/>
          <a:p>
            <a:pPr indent="0" marL="0">
              <a:buNone/>
            </a:pPr>
            <a:r>
              <a:rPr lang="en-US" sz="1400" dirty="0">
                <a:solidFill>
                  <a:srgbClr val="52516E"/>
                </a:solidFill>
              </a:rPr>
              <a:t>BiLSTM trained from scratch</a:t>
            </a:r>
            <a:endParaRPr lang="en-US" sz="1400" dirty="0"/>
          </a:p>
        </p:txBody>
      </p:sp>
      <p:sp>
        <p:nvSpPr>
          <p:cNvPr id="20" name="Shape 16"/>
          <p:cNvSpPr/>
          <p:nvPr/>
        </p:nvSpPr>
        <p:spPr>
          <a:xfrm>
            <a:off x="4800600" y="3438144"/>
            <a:ext cx="640080" cy="640080"/>
          </a:xfrm>
          <a:prstGeom prst="ellipse">
            <a:avLst/>
          </a:prstGeom>
          <a:solidFill>
            <a:srgbClr val="1BAF7A"/>
          </a:solidFill>
          <a:ln w="12700">
            <a:solidFill>
              <a:srgbClr val="1BAF7A"/>
            </a:solidFill>
            <a:prstDash val="solid"/>
          </a:ln>
        </p:spPr>
      </p:sp>
      <p:pic>
        <p:nvPicPr>
          <p:cNvPr id="21" name="Image 2" descr="preencoded.png">    </p:cNvPr>
          <p:cNvPicPr>
            <a:picLocks noChangeAspect="1"/>
          </p:cNvPicPr>
          <p:nvPr/>
        </p:nvPicPr>
        <p:blipFill>
          <a:blip r:embed="rId3"/>
          <a:stretch>
            <a:fillRect/>
          </a:stretch>
        </p:blipFill>
        <p:spPr>
          <a:xfrm>
            <a:off x="4954219" y="3591763"/>
            <a:ext cx="332842" cy="332842"/>
          </a:xfrm>
          <a:prstGeom prst="rect">
            <a:avLst/>
          </a:prstGeom>
        </p:spPr>
      </p:pic>
      <p:sp>
        <p:nvSpPr>
          <p:cNvPr id="22" name="Text 17"/>
          <p:cNvSpPr txBox="1"/>
          <p:nvPr/>
        </p:nvSpPr>
        <p:spPr>
          <a:xfrm>
            <a:off x="5623560" y="3364992"/>
            <a:ext cx="5943600" cy="384048"/>
          </a:xfrm>
          <a:prstGeom prst="rect">
            <a:avLst/>
          </a:prstGeom>
          <a:noFill/>
          <a:ln/>
        </p:spPr>
        <p:txBody>
          <a:bodyPr wrap="square" lIns="0" tIns="0" rIns="0" bIns="0" rtlCol="0" anchor="ctr"/>
          <a:lstStyle/>
          <a:p>
            <a:pPr indent="0" marL="0">
              <a:buNone/>
            </a:pPr>
            <a:r>
              <a:rPr lang="en-US" sz="1700" b="1" dirty="0">
                <a:solidFill>
                  <a:srgbClr val="16163F"/>
                </a:solidFill>
              </a:rPr>
              <a:t>Fine-tuned by us (8k labels)</a:t>
            </a:r>
            <a:endParaRPr lang="en-US" sz="1700" dirty="0"/>
          </a:p>
        </p:txBody>
      </p:sp>
      <p:sp>
        <p:nvSpPr>
          <p:cNvPr id="23" name="Text 18"/>
          <p:cNvSpPr txBox="1"/>
          <p:nvPr/>
        </p:nvSpPr>
        <p:spPr>
          <a:xfrm>
            <a:off x="5623560" y="3749040"/>
            <a:ext cx="5943600" cy="365760"/>
          </a:xfrm>
          <a:prstGeom prst="rect">
            <a:avLst/>
          </a:prstGeom>
          <a:noFill/>
          <a:ln/>
        </p:spPr>
        <p:txBody>
          <a:bodyPr wrap="square" lIns="0" tIns="0" rIns="0" bIns="0" rtlCol="0" anchor="ctr"/>
          <a:lstStyle/>
          <a:p>
            <a:pPr indent="0" marL="0">
              <a:buNone/>
            </a:pPr>
            <a:r>
              <a:rPr lang="en-US" sz="1400" dirty="0">
                <a:solidFill>
                  <a:srgbClr val="52516E"/>
                </a:solidFill>
              </a:rPr>
              <a:t>BERT-tiny 4M · BERT-small 29M · DistilBERT 67M</a:t>
            </a:r>
            <a:endParaRPr lang="en-US" sz="1400" dirty="0"/>
          </a:p>
        </p:txBody>
      </p:sp>
      <p:sp>
        <p:nvSpPr>
          <p:cNvPr id="24" name="Shape 19"/>
          <p:cNvSpPr/>
          <p:nvPr/>
        </p:nvSpPr>
        <p:spPr>
          <a:xfrm>
            <a:off x="4800600" y="4425696"/>
            <a:ext cx="640080" cy="640080"/>
          </a:xfrm>
          <a:prstGeom prst="ellipse">
            <a:avLst/>
          </a:prstGeom>
          <a:solidFill>
            <a:srgbClr val="6250D6"/>
          </a:solidFill>
          <a:ln w="12700">
            <a:solidFill>
              <a:srgbClr val="6250D6"/>
            </a:solidFill>
            <a:prstDash val="solid"/>
          </a:ln>
        </p:spPr>
      </p:sp>
      <p:pic>
        <p:nvPicPr>
          <p:cNvPr id="25" name="Image 3" descr="preencoded.png">    </p:cNvPr>
          <p:cNvPicPr>
            <a:picLocks noChangeAspect="1"/>
          </p:cNvPicPr>
          <p:nvPr/>
        </p:nvPicPr>
        <p:blipFill>
          <a:blip r:embed="rId4"/>
          <a:stretch>
            <a:fillRect/>
          </a:stretch>
        </p:blipFill>
        <p:spPr>
          <a:xfrm>
            <a:off x="4954219" y="4579315"/>
            <a:ext cx="332842" cy="332842"/>
          </a:xfrm>
          <a:prstGeom prst="rect">
            <a:avLst/>
          </a:prstGeom>
        </p:spPr>
      </p:pic>
      <p:sp>
        <p:nvSpPr>
          <p:cNvPr id="26" name="Text 20"/>
          <p:cNvSpPr txBox="1"/>
          <p:nvPr/>
        </p:nvSpPr>
        <p:spPr>
          <a:xfrm>
            <a:off x="5623560" y="4352544"/>
            <a:ext cx="5943600" cy="384048"/>
          </a:xfrm>
          <a:prstGeom prst="rect">
            <a:avLst/>
          </a:prstGeom>
          <a:noFill/>
          <a:ln/>
        </p:spPr>
        <p:txBody>
          <a:bodyPr wrap="square" lIns="0" tIns="0" rIns="0" bIns="0" rtlCol="0" anchor="ctr"/>
          <a:lstStyle/>
          <a:p>
            <a:pPr indent="0" marL="0">
              <a:buNone/>
            </a:pPr>
            <a:r>
              <a:rPr lang="en-US" sz="1700" b="1" dirty="0">
                <a:solidFill>
                  <a:srgbClr val="16163F"/>
                </a:solidFill>
              </a:rPr>
              <a:t>Ready-made, no training</a:t>
            </a:r>
            <a:endParaRPr lang="en-US" sz="1700" dirty="0"/>
          </a:p>
        </p:txBody>
      </p:sp>
      <p:sp>
        <p:nvSpPr>
          <p:cNvPr id="27" name="Text 21"/>
          <p:cNvSpPr txBox="1"/>
          <p:nvPr/>
        </p:nvSpPr>
        <p:spPr>
          <a:xfrm>
            <a:off x="5623560" y="4736592"/>
            <a:ext cx="5943600" cy="365760"/>
          </a:xfrm>
          <a:prstGeom prst="rect">
            <a:avLst/>
          </a:prstGeom>
          <a:noFill/>
          <a:ln/>
        </p:spPr>
        <p:txBody>
          <a:bodyPr wrap="square" lIns="0" tIns="0" rIns="0" bIns="0" rtlCol="0" anchor="ctr"/>
          <a:lstStyle/>
          <a:p>
            <a:pPr indent="0" marL="0">
              <a:buNone/>
            </a:pPr>
            <a:r>
              <a:rPr lang="en-US" sz="1400" dirty="0">
                <a:solidFill>
                  <a:srgbClr val="52516E"/>
                </a:solidFill>
              </a:rPr>
              <a:t>DistilBERT-SST2 · Twitter-RoBERTa · zero-shot NLI</a:t>
            </a:r>
            <a:endParaRPr lang="en-US" sz="1400" dirty="0"/>
          </a:p>
        </p:txBody>
      </p:sp>
      <p:sp>
        <p:nvSpPr>
          <p:cNvPr id="28" name="Text 22"/>
          <p:cNvSpPr txBox="1"/>
          <p:nvPr/>
        </p:nvSpPr>
        <p:spPr>
          <a:xfrm>
            <a:off x="4800600" y="5440680"/>
            <a:ext cx="6812280" cy="685800"/>
          </a:xfrm>
          <a:prstGeom prst="rect">
            <a:avLst/>
          </a:prstGeom>
          <a:noFill/>
          <a:ln/>
        </p:spPr>
        <p:txBody>
          <a:bodyPr wrap="square" lIns="0" tIns="0" rIns="0" bIns="0" rtlCol="0" anchor="t"/>
          <a:lstStyle/>
          <a:p>
            <a:pPr indent="0" marL="0">
              <a:buNone/>
            </a:pPr>
            <a:r>
              <a:rPr lang="en-US" sz="1300" i="1" dirty="0">
                <a:solidFill>
                  <a:srgbClr val="52516E"/>
                </a:solidFill>
                <a:latin typeface="Calibri" pitchFamily="34" charset="0"/>
                <a:ea typeface="Calibri" pitchFamily="34" charset="-122"/>
                <a:cs typeface="Calibri" pitchFamily="34" charset="-120"/>
              </a:rPr>
              <a:t>Criteria: accuracy, macro-F1 · training time · latency per sentence · parameters · negation &amp; contrast subsets · learning curve · bootstrap CI + McNemar test</a:t>
            </a:r>
            <a:endParaRPr lang="en-US" sz="13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Implementation: a reproducible Python pipeline</a:t>
            </a:r>
            <a:endParaRPr lang="en-US" sz="3200" dirty="0"/>
          </a:p>
        </p:txBody>
      </p:sp>
      <p:pic>
        <p:nvPicPr>
          <p:cNvPr id="3" name="Image 0" descr="C:\Shashikanth_Data\VGTU\HomeWorks\NeuralNetwork\NLPTOPIC\Transformers-NLP\code\figures\diagram_pipeline.png">    </p:cNvPr>
          <p:cNvPicPr>
            <a:picLocks noChangeAspect="1"/>
          </p:cNvPicPr>
          <p:nvPr/>
        </p:nvPicPr>
        <p:blipFill>
          <a:blip r:embed="rId1"/>
          <a:stretch>
            <a:fillRect/>
          </a:stretch>
        </p:blipFill>
        <p:spPr>
          <a:xfrm>
            <a:off x="457200" y="1234440"/>
            <a:ext cx="7589520" cy="4593657"/>
          </a:xfrm>
          <a:prstGeom prst="rect">
            <a:avLst/>
          </a:prstGeom>
        </p:spPr>
      </p:pic>
      <p:sp>
        <p:nvSpPr>
          <p:cNvPr id="4" name="card"/>
          <p:cNvSpPr/>
          <p:nvPr/>
        </p:nvSpPr>
        <p:spPr>
          <a:xfrm>
            <a:off x="8321040" y="1371600"/>
            <a:ext cx="3291840" cy="4754880"/>
          </a:xfrm>
          <a:prstGeom prst="roundRect">
            <a:avLst>
              <a:gd name="adj" fmla="val 3333"/>
            </a:avLst>
          </a:prstGeom>
          <a:solidFill>
            <a:srgbClr val="EEF0FA"/>
          </a:solidFill>
          <a:ln w="12700">
            <a:solidFill>
              <a:srgbClr val="EEF0FA"/>
            </a:solidFill>
            <a:prstDash val="solid"/>
          </a:ln>
        </p:spPr>
      </p:sp>
      <p:sp>
        <p:nvSpPr>
          <p:cNvPr id="5" name="Text 2"/>
          <p:cNvSpPr txBox="1"/>
          <p:nvPr/>
        </p:nvSpPr>
        <p:spPr>
          <a:xfrm>
            <a:off x="8549640" y="1600200"/>
            <a:ext cx="2880360" cy="4389120"/>
          </a:xfrm>
          <a:prstGeom prst="rect">
            <a:avLst/>
          </a:prstGeom>
          <a:noFill/>
          <a:ln/>
        </p:spPr>
        <p:txBody>
          <a:bodyPr wrap="square" lIns="0" tIns="0" rIns="0" bIns="0" rtlCol="0" anchor="t"/>
          <a:lstStyle/>
          <a:p>
            <a:pPr indent="0" marL="0">
              <a:spcAft>
                <a:spcPts val="600"/>
              </a:spcAft>
              <a:buNone/>
            </a:pPr>
            <a:r>
              <a:rPr lang="en-US" sz="1400" b="1" dirty="0">
                <a:solidFill>
                  <a:srgbClr val="16163F"/>
                </a:solidFill>
                <a:latin typeface="Calibri" pitchFamily="34" charset="0"/>
                <a:ea typeface="Calibri" pitchFamily="34" charset="-122"/>
                <a:cs typeface="Calibri" pitchFamily="34" charset="-120"/>
              </a:rPr>
              <a:t>PyTorch · Hugging Face Transformers · scikit-learn</a:t>
            </a:r>
            <a:endParaRPr lang="en-US" sz="1400" dirty="0"/>
          </a:p>
          <a:p>
            <a:pPr indent="0" marL="0">
              <a:spcAft>
                <a:spcPts val="600"/>
              </a:spcAft>
              <a:buNone/>
            </a:pPr>
            <a:endParaRPr lang="en-US" sz="1400" dirty="0"/>
          </a:p>
          <a:p>
            <a:pPr marL="342900" indent="-342900">
              <a:spcAft>
                <a:spcPts val="600"/>
              </a:spcAft>
              <a:buSzPct val="100000"/>
              <a:buChar char="•"/>
            </a:pPr>
            <a:r>
              <a:rPr lang="en-US" sz="1400" dirty="0">
                <a:solidFill>
                  <a:srgbClr val="16163F"/>
                </a:solidFill>
                <a:latin typeface="Calibri" pitchFamily="34" charset="0"/>
                <a:ea typeface="Calibri" pitchFamily="34" charset="-122"/>
                <a:cs typeface="Calibri" pitchFamily="34" charset="-120"/>
              </a:rPr>
              <a:t>One generic fine-tuning script for any encoder</a:t>
            </a:r>
            <a:endParaRPr lang="en-US" sz="1400" dirty="0"/>
          </a:p>
          <a:p>
            <a:pPr marL="342900" indent="-342900">
              <a:spcAft>
                <a:spcPts val="600"/>
              </a:spcAft>
              <a:buSzPct val="100000"/>
              <a:buChar char="•"/>
            </a:pPr>
            <a:r>
              <a:rPr lang="en-US" sz="1400" dirty="0">
                <a:solidFill>
                  <a:srgbClr val="16163F"/>
                </a:solidFill>
                <a:latin typeface="Calibri" pitchFamily="34" charset="0"/>
                <a:ea typeface="Calibri" pitchFamily="34" charset="-122"/>
                <a:cs typeface="Calibri" pitchFamily="34" charset="-120"/>
              </a:rPr>
              <a:t>AdamW, 10% warm-up, linear decay, best epoch by dev accuracy</a:t>
            </a:r>
            <a:endParaRPr lang="en-US" sz="1400" dirty="0"/>
          </a:p>
          <a:p>
            <a:pPr marL="342900" indent="-342900">
              <a:spcAft>
                <a:spcPts val="600"/>
              </a:spcAft>
              <a:buSzPct val="100000"/>
              <a:buChar char="•"/>
            </a:pPr>
            <a:r>
              <a:rPr lang="en-US" sz="1400" dirty="0">
                <a:solidFill>
                  <a:srgbClr val="16163F"/>
                </a:solidFill>
                <a:latin typeface="Calibri" pitchFamily="34" charset="0"/>
                <a:ea typeface="Calibri" pitchFamily="34" charset="-122"/>
                <a:cs typeface="Calibri" pitchFamily="34" charset="-120"/>
              </a:rPr>
              <a:t>Every model saves metrics, timings and predictions as JSON</a:t>
            </a:r>
            <a:endParaRPr lang="en-US" sz="1400" dirty="0"/>
          </a:p>
          <a:p>
            <a:pPr marL="342900" indent="-342900">
              <a:spcAft>
                <a:spcPts val="600"/>
              </a:spcAft>
              <a:buSzPct val="100000"/>
              <a:buChar char="•"/>
            </a:pPr>
            <a:r>
              <a:rPr lang="en-US" sz="1400" dirty="0">
                <a:solidFill>
                  <a:srgbClr val="16163F"/>
                </a:solidFill>
                <a:latin typeface="Calibri" pitchFamily="34" charset="0"/>
                <a:ea typeface="Calibri" pitchFamily="34" charset="-122"/>
                <a:cs typeface="Calibri" pitchFamily="34" charset="-120"/>
              </a:rPr>
              <a:t>run_all.sh reproduces all results (~2.5 h)</a:t>
            </a:r>
            <a:endParaRPr lang="en-US" sz="14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Fine-tuned DistilBERT: +5.9 points over classical</a:t>
            </a:r>
            <a:endParaRPr lang="en-US" sz="3200" dirty="0"/>
          </a:p>
        </p:txBody>
      </p:sp>
      <p:graphicFrame>
        <p:nvGraphicFramePr>
          <p:cNvPr id="3" name="Chart 0" descr=""/>
          <p:cNvGraphicFramePr/>
          <p:nvPr/>
        </p:nvGraphicFramePr>
        <p:xfrm>
          <a:off x="457200" y="1234440"/>
          <a:ext cx="7680960" cy="498348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8412480" y="1325880"/>
            <a:ext cx="3200400" cy="1417320"/>
          </a:xfrm>
          <a:prstGeom prst="roundRect">
            <a:avLst>
              <a:gd name="adj" fmla="val 7742"/>
            </a:avLst>
          </a:prstGeom>
          <a:solidFill>
            <a:srgbClr val="EEF0FA"/>
          </a:solidFill>
          <a:ln w="12700">
            <a:solidFill>
              <a:srgbClr val="EEF0FA"/>
            </a:solidFill>
            <a:prstDash val="solid"/>
          </a:ln>
        </p:spPr>
      </p:sp>
      <p:sp>
        <p:nvSpPr>
          <p:cNvPr id="5" name="Text 2"/>
          <p:cNvSpPr txBox="1"/>
          <p:nvPr/>
        </p:nvSpPr>
        <p:spPr>
          <a:xfrm>
            <a:off x="8595360" y="1417320"/>
            <a:ext cx="2834640" cy="731520"/>
          </a:xfrm>
          <a:prstGeom prst="rect">
            <a:avLst/>
          </a:prstGeom>
          <a:noFill/>
          <a:ln/>
        </p:spPr>
        <p:txBody>
          <a:bodyPr wrap="square" lIns="0" tIns="0" rIns="0" bIns="0" rtlCol="0" anchor="ctr"/>
          <a:lstStyle/>
          <a:p>
            <a:pPr indent="0" marL="0">
              <a:buNone/>
            </a:pPr>
            <a:r>
              <a:rPr lang="en-US" sz="3600" b="1" dirty="0">
                <a:solidFill>
                  <a:srgbClr val="1BAF7A"/>
                </a:solidFill>
                <a:latin typeface="Cambria" pitchFamily="34" charset="0"/>
                <a:ea typeface="Cambria" pitchFamily="34" charset="-122"/>
                <a:cs typeface="Cambria" pitchFamily="34" charset="-120"/>
              </a:rPr>
              <a:t>88.8%</a:t>
            </a:r>
            <a:endParaRPr lang="en-US" sz="3600" dirty="0"/>
          </a:p>
        </p:txBody>
      </p:sp>
      <p:sp>
        <p:nvSpPr>
          <p:cNvPr id="6" name="Text 3"/>
          <p:cNvSpPr txBox="1"/>
          <p:nvPr/>
        </p:nvSpPr>
        <p:spPr>
          <a:xfrm>
            <a:off x="8595360" y="2148840"/>
            <a:ext cx="2834640" cy="457200"/>
          </a:xfrm>
          <a:prstGeom prst="rect">
            <a:avLst/>
          </a:prstGeom>
          <a:noFill/>
          <a:ln/>
        </p:spPr>
        <p:txBody>
          <a:bodyPr wrap="square" lIns="0" tIns="0" rIns="0" bIns="0" rtlCol="0" anchor="ctr"/>
          <a:lstStyle/>
          <a:p>
            <a:pPr indent="0" marL="0">
              <a:buNone/>
            </a:pPr>
            <a:r>
              <a:rPr lang="en-US" sz="1200" dirty="0">
                <a:solidFill>
                  <a:srgbClr val="52516E"/>
                </a:solidFill>
              </a:rPr>
              <a:t>DistilBERT fine-tuned (8k)</a:t>
            </a:r>
            <a:endParaRPr lang="en-US" sz="1200" dirty="0"/>
          </a:p>
        </p:txBody>
      </p:sp>
      <p:sp>
        <p:nvSpPr>
          <p:cNvPr id="7" name="card"/>
          <p:cNvSpPr/>
          <p:nvPr/>
        </p:nvSpPr>
        <p:spPr>
          <a:xfrm>
            <a:off x="8412480" y="2926080"/>
            <a:ext cx="3200400" cy="1417320"/>
          </a:xfrm>
          <a:prstGeom prst="roundRect">
            <a:avLst>
              <a:gd name="adj" fmla="val 7742"/>
            </a:avLst>
          </a:prstGeom>
          <a:solidFill>
            <a:srgbClr val="EEF0FA"/>
          </a:solidFill>
          <a:ln w="12700">
            <a:solidFill>
              <a:srgbClr val="EEF0FA"/>
            </a:solidFill>
            <a:prstDash val="solid"/>
          </a:ln>
        </p:spPr>
      </p:sp>
      <p:sp>
        <p:nvSpPr>
          <p:cNvPr id="8" name="Text 5"/>
          <p:cNvSpPr txBox="1"/>
          <p:nvPr/>
        </p:nvSpPr>
        <p:spPr>
          <a:xfrm>
            <a:off x="8595360" y="3017520"/>
            <a:ext cx="2834640" cy="731520"/>
          </a:xfrm>
          <a:prstGeom prst="rect">
            <a:avLst/>
          </a:prstGeom>
          <a:noFill/>
          <a:ln/>
        </p:spPr>
        <p:txBody>
          <a:bodyPr wrap="square" lIns="0" tIns="0" rIns="0" bIns="0" rtlCol="0" anchor="ctr"/>
          <a:lstStyle/>
          <a:p>
            <a:pPr indent="0" marL="0">
              <a:buNone/>
            </a:pPr>
            <a:r>
              <a:rPr lang="en-US" sz="3600" b="1" dirty="0">
                <a:solidFill>
                  <a:srgbClr val="2A78D6"/>
                </a:solidFill>
                <a:latin typeface="Cambria" pitchFamily="34" charset="0"/>
                <a:ea typeface="Cambria" pitchFamily="34" charset="-122"/>
                <a:cs typeface="Cambria" pitchFamily="34" charset="-120"/>
              </a:rPr>
              <a:t>82.9%</a:t>
            </a:r>
            <a:endParaRPr lang="en-US" sz="3600" dirty="0"/>
          </a:p>
        </p:txBody>
      </p:sp>
      <p:sp>
        <p:nvSpPr>
          <p:cNvPr id="9" name="Text 6"/>
          <p:cNvSpPr txBox="1"/>
          <p:nvPr/>
        </p:nvSpPr>
        <p:spPr>
          <a:xfrm>
            <a:off x="8595360" y="3749040"/>
            <a:ext cx="2834640" cy="457200"/>
          </a:xfrm>
          <a:prstGeom prst="rect">
            <a:avLst/>
          </a:prstGeom>
          <a:noFill/>
          <a:ln/>
        </p:spPr>
        <p:txBody>
          <a:bodyPr wrap="square" lIns="0" tIns="0" rIns="0" bIns="0" rtlCol="0" anchor="ctr"/>
          <a:lstStyle/>
          <a:p>
            <a:pPr indent="0" marL="0">
              <a:buNone/>
            </a:pPr>
            <a:r>
              <a:rPr lang="en-US" sz="1200" dirty="0">
                <a:solidFill>
                  <a:srgbClr val="52516E"/>
                </a:solidFill>
              </a:rPr>
              <a:t>best classical: TF-IDF + Linear SVM</a:t>
            </a:r>
            <a:endParaRPr lang="en-US" sz="1200" dirty="0"/>
          </a:p>
        </p:txBody>
      </p:sp>
      <p:sp>
        <p:nvSpPr>
          <p:cNvPr id="10" name="card"/>
          <p:cNvSpPr/>
          <p:nvPr/>
        </p:nvSpPr>
        <p:spPr>
          <a:xfrm>
            <a:off x="8412480" y="4526280"/>
            <a:ext cx="3200400" cy="1417320"/>
          </a:xfrm>
          <a:prstGeom prst="roundRect">
            <a:avLst>
              <a:gd name="adj" fmla="val 7742"/>
            </a:avLst>
          </a:prstGeom>
          <a:solidFill>
            <a:srgbClr val="EEF0FA"/>
          </a:solidFill>
          <a:ln w="12700">
            <a:solidFill>
              <a:srgbClr val="EEF0FA"/>
            </a:solidFill>
            <a:prstDash val="solid"/>
          </a:ln>
        </p:spPr>
      </p:sp>
      <p:sp>
        <p:nvSpPr>
          <p:cNvPr id="11" name="Text 8"/>
          <p:cNvSpPr txBox="1"/>
          <p:nvPr/>
        </p:nvSpPr>
        <p:spPr>
          <a:xfrm>
            <a:off x="8595360" y="4617720"/>
            <a:ext cx="2834640" cy="731520"/>
          </a:xfrm>
          <a:prstGeom prst="rect">
            <a:avLst/>
          </a:prstGeom>
          <a:noFill/>
          <a:ln/>
        </p:spPr>
        <p:txBody>
          <a:bodyPr wrap="square" lIns="0" tIns="0" rIns="0" bIns="0" rtlCol="0" anchor="ctr"/>
          <a:lstStyle/>
          <a:p>
            <a:pPr indent="0" marL="0">
              <a:buNone/>
            </a:pPr>
            <a:r>
              <a:rPr lang="en-US" sz="3600" b="1" dirty="0">
                <a:solidFill>
                  <a:srgbClr val="6250D6"/>
                </a:solidFill>
                <a:latin typeface="Cambria" pitchFamily="34" charset="0"/>
                <a:ea typeface="Cambria" pitchFamily="34" charset="-122"/>
                <a:cs typeface="Cambria" pitchFamily="34" charset="-120"/>
              </a:rPr>
              <a:t>81.8%</a:t>
            </a:r>
            <a:endParaRPr lang="en-US" sz="3600" dirty="0"/>
          </a:p>
        </p:txBody>
      </p:sp>
      <p:sp>
        <p:nvSpPr>
          <p:cNvPr id="12" name="Text 9"/>
          <p:cNvSpPr txBox="1"/>
          <p:nvPr/>
        </p:nvSpPr>
        <p:spPr>
          <a:xfrm>
            <a:off x="8595360" y="5349240"/>
            <a:ext cx="2834640" cy="457200"/>
          </a:xfrm>
          <a:prstGeom prst="rect">
            <a:avLst/>
          </a:prstGeom>
          <a:noFill/>
          <a:ln/>
        </p:spPr>
        <p:txBody>
          <a:bodyPr wrap="square" lIns="0" tIns="0" rIns="0" bIns="0" rtlCol="0" anchor="ctr"/>
          <a:lstStyle/>
          <a:p>
            <a:pPr indent="0" marL="0">
              <a:buNone/>
            </a:pPr>
            <a:r>
              <a:rPr lang="en-US" sz="1200" dirty="0">
                <a:solidFill>
                  <a:srgbClr val="52516E"/>
                </a:solidFill>
              </a:rPr>
              <a:t>zero-shot – no labels at all</a:t>
            </a:r>
            <a:endParaRPr lang="en-US" sz="12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The price: slower training and inference, bigger models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3108960"/>
                <a:gridCol w="914400"/>
                <a:gridCol w="1097280"/>
                <a:gridCol w="1188720"/>
                <a:gridCol w="1005840"/>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2E2A6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Acc., %</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2E2A6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Train time</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2E2A6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Latency, ms</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2E2A6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Params</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2E2A6B"/>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TF-IDF + Linear SVM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82.9</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2 s</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0.06</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74 k</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BiLSTM (from scratch)</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82.8</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6 min</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0.45</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2.0 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BERT-tiny fine-tuned (8k)</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76.6</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2 min</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4.4 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BERT-small fine-tuned (8k)</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83.7</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26 min</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28.8 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DistilBERT fine-tuned (8k)</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88.8</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2.6 h</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67.0 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DistilBERT-SST2 (off-the-shelf)</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91.1</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44.6</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67.0 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EEF0FA"/>
                    </a:solidFill>
                  </a:tcPr>
                </a:tc>
              </a:tr>
              <a:tr h="475488">
                <a:tc>
                  <a:txBody>
                    <a:bodyPr/>
                    <a:lstStyle/>
                    <a:p>
                      <a:pPr algn="l" indent="0" marL="0">
                        <a:buNone/>
                      </a:pPr>
                      <a:r>
                        <a:rPr lang="en-US" sz="1300" dirty="0">
                          <a:solidFill>
                            <a:srgbClr val="16163F"/>
                          </a:solidFill>
                          <a:latin typeface="Calibri" pitchFamily="34" charset="0"/>
                          <a:ea typeface="Calibri" pitchFamily="34" charset="-122"/>
                          <a:cs typeface="Calibri" pitchFamily="34" charset="-120"/>
                        </a:rPr>
                        <a:t>Zero-shot NLI DistilRoBERTa</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81.8</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107.0</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163F"/>
                          </a:solidFill>
                          <a:latin typeface="Calibri" pitchFamily="34" charset="0"/>
                          <a:ea typeface="Calibri" pitchFamily="34" charset="-122"/>
                          <a:cs typeface="Calibri" pitchFamily="34" charset="-120"/>
                        </a:rPr>
                        <a:t>82.1 M</a:t>
                      </a:r>
                      <a:endParaRPr lang="en-US" sz="1300" dirty="0">
                        <a:latin typeface="Calibri" charset="0"/>
                        <a:ea typeface="Calibri" charset="0"/>
                        <a:cs typeface="Calibri" charset="0"/>
                      </a:endParaRPr>
                    </a:p>
                  </a:txBody>
                  <a:tcPr marL="91440" marR="91440" marT="45720" marB="45720" anchor="ctr">
                    <a:lnL w="6350" cap="flat" cmpd="sng" algn="ctr">
                      <a:solidFill>
                        <a:srgbClr val="D8D8E8"/>
                      </a:solidFill>
                      <a:prstDash val="solid"/>
                      <a:round/>
                      <a:headEnd type="none" w="med" len="med"/>
                      <a:tailEnd type="none" w="med" len="med"/>
                    </a:lnL>
                    <a:lnR w="6350" cap="flat" cmpd="sng" algn="ctr">
                      <a:solidFill>
                        <a:srgbClr val="D8D8E8"/>
                      </a:solidFill>
                      <a:prstDash val="solid"/>
                      <a:round/>
                      <a:headEnd type="none" w="med" len="med"/>
                      <a:tailEnd type="none" w="med" len="med"/>
                    </a:lnR>
                    <a:lnT w="6350" cap="flat" cmpd="sng" algn="ctr">
                      <a:solidFill>
                        <a:srgbClr val="D8D8E8"/>
                      </a:solidFill>
                      <a:prstDash val="solid"/>
                      <a:round/>
                      <a:headEnd type="none" w="med" len="med"/>
                      <a:tailEnd type="none" w="med" len="med"/>
                    </a:lnT>
                    <a:lnB w="6350" cap="flat" cmpd="sng" algn="ctr">
                      <a:solidFill>
                        <a:srgbClr val="D8D8E8"/>
                      </a:solidFill>
                      <a:prstDash val="solid"/>
                      <a:round/>
                      <a:headEnd type="none" w="med" len="med"/>
                      <a:tailEnd type="none" w="med" len="med"/>
                    </a:lnB>
                    <a:solidFill>
                      <a:srgbClr val="FFFFFF"/>
                    </a:solidFill>
                  </a:tcPr>
                </a:tc>
              </a:tr>
            </a:tbl>
          </a:graphicData>
        </a:graphic>
      </p:graphicFrame>
      <p:sp>
        <p:nvSpPr>
          <p:cNvPr id="4" name="card"/>
          <p:cNvSpPr/>
          <p:nvPr/>
        </p:nvSpPr>
        <p:spPr>
          <a:xfrm>
            <a:off x="8229600" y="1371600"/>
            <a:ext cx="3383280" cy="2148840"/>
          </a:xfrm>
          <a:prstGeom prst="roundRect">
            <a:avLst>
              <a:gd name="adj" fmla="val 5106"/>
            </a:avLst>
          </a:prstGeom>
          <a:solidFill>
            <a:srgbClr val="FDF1E8"/>
          </a:solidFill>
          <a:ln w="12700">
            <a:solidFill>
              <a:srgbClr val="FDF1E8"/>
            </a:solidFill>
            <a:prstDash val="solid"/>
          </a:ln>
        </p:spPr>
      </p:sp>
      <p:sp>
        <p:nvSpPr>
          <p:cNvPr id="5" name="Text 2"/>
          <p:cNvSpPr txBox="1"/>
          <p:nvPr/>
        </p:nvSpPr>
        <p:spPr>
          <a:xfrm>
            <a:off x="8458200" y="1463040"/>
            <a:ext cx="3017520" cy="914400"/>
          </a:xfrm>
          <a:prstGeom prst="rect">
            <a:avLst/>
          </a:prstGeom>
          <a:noFill/>
          <a:ln/>
        </p:spPr>
        <p:txBody>
          <a:bodyPr wrap="square" lIns="0" tIns="0" rIns="0" bIns="0" rtlCol="0" anchor="ctr"/>
          <a:lstStyle/>
          <a:p>
            <a:pPr indent="0" marL="0">
              <a:buNone/>
            </a:pPr>
            <a:r>
              <a:rPr lang="en-US" sz="4800" b="1" dirty="0">
                <a:solidFill>
                  <a:srgbClr val="EB6834"/>
                </a:solidFill>
                <a:latin typeface="Cambria" pitchFamily="34" charset="0"/>
                <a:ea typeface="Cambria" pitchFamily="34" charset="-122"/>
                <a:cs typeface="Cambria" pitchFamily="34" charset="-120"/>
              </a:rPr>
              <a:t>×710</a:t>
            </a:r>
            <a:endParaRPr lang="en-US" sz="4800" dirty="0"/>
          </a:p>
        </p:txBody>
      </p:sp>
      <p:sp>
        <p:nvSpPr>
          <p:cNvPr id="6" name="Text 3"/>
          <p:cNvSpPr txBox="1"/>
          <p:nvPr/>
        </p:nvSpPr>
        <p:spPr>
          <a:xfrm>
            <a:off x="8458200" y="2423160"/>
            <a:ext cx="3017520" cy="914400"/>
          </a:xfrm>
          <a:prstGeom prst="rect">
            <a:avLst/>
          </a:prstGeom>
          <a:noFill/>
          <a:ln/>
        </p:spPr>
        <p:txBody>
          <a:bodyPr wrap="square" lIns="0" tIns="0" rIns="0" bIns="0" rtlCol="0" anchor="ctr"/>
          <a:lstStyle/>
          <a:p>
            <a:pPr indent="0" marL="0">
              <a:buNone/>
            </a:pPr>
            <a:r>
              <a:rPr lang="en-US" sz="1300" dirty="0">
                <a:solidFill>
                  <a:srgbClr val="52516E"/>
                </a:solidFill>
              </a:rPr>
              <a:t>slower inference of DistilBERT vs TF-IDF – still only 39 ms per sentence</a:t>
            </a:r>
            <a:endParaRPr lang="en-US" sz="1300" dirty="0"/>
          </a:p>
        </p:txBody>
      </p:sp>
      <p:sp>
        <p:nvSpPr>
          <p:cNvPr id="7" name="card"/>
          <p:cNvSpPr/>
          <p:nvPr/>
        </p:nvSpPr>
        <p:spPr>
          <a:xfrm>
            <a:off x="8229600" y="3749040"/>
            <a:ext cx="3383280" cy="2331720"/>
          </a:xfrm>
          <a:prstGeom prst="roundRect">
            <a:avLst>
              <a:gd name="adj" fmla="val 4706"/>
            </a:avLst>
          </a:prstGeom>
          <a:solidFill>
            <a:srgbClr val="E6F6EF"/>
          </a:solidFill>
          <a:ln w="12700">
            <a:solidFill>
              <a:srgbClr val="E6F6EF"/>
            </a:solidFill>
            <a:prstDash val="solid"/>
          </a:ln>
        </p:spPr>
      </p:sp>
      <p:sp>
        <p:nvSpPr>
          <p:cNvPr id="8" name="Text 5"/>
          <p:cNvSpPr txBox="1"/>
          <p:nvPr/>
        </p:nvSpPr>
        <p:spPr>
          <a:xfrm>
            <a:off x="8458200" y="3886200"/>
            <a:ext cx="3017520" cy="457200"/>
          </a:xfrm>
          <a:prstGeom prst="rect">
            <a:avLst/>
          </a:prstGeom>
          <a:noFill/>
          <a:ln/>
        </p:spPr>
        <p:txBody>
          <a:bodyPr wrap="square" lIns="0" tIns="0" rIns="0" bIns="0" rtlCol="0" anchor="ctr"/>
          <a:lstStyle/>
          <a:p>
            <a:pPr indent="0" marL="0">
              <a:buNone/>
            </a:pPr>
            <a:r>
              <a:rPr lang="en-US" sz="1600" b="1" dirty="0">
                <a:solidFill>
                  <a:srgbClr val="16163F"/>
                </a:solidFill>
              </a:rPr>
              <a:t>Fine-tuning is affordable</a:t>
            </a:r>
            <a:endParaRPr lang="en-US" sz="1600" dirty="0"/>
          </a:p>
        </p:txBody>
      </p:sp>
      <p:sp>
        <p:nvSpPr>
          <p:cNvPr id="9" name="Text 6"/>
          <p:cNvSpPr txBox="1"/>
          <p:nvPr/>
        </p:nvSpPr>
        <p:spPr>
          <a:xfrm>
            <a:off x="8458200" y="4389120"/>
            <a:ext cx="3017520" cy="1554480"/>
          </a:xfrm>
          <a:prstGeom prst="rect">
            <a:avLst/>
          </a:prstGeom>
          <a:noFill/>
          <a:ln/>
        </p:spPr>
        <p:txBody>
          <a:bodyPr wrap="square" lIns="0" tIns="0" rIns="0" bIns="0" rtlCol="0" anchor="ctr"/>
          <a:lstStyle/>
          <a:p>
            <a:pPr indent="0" marL="0">
              <a:buNone/>
            </a:pPr>
            <a:r>
              <a:rPr lang="en-US" sz="1300" dirty="0">
                <a:solidFill>
                  <a:srgbClr val="52516E"/>
                </a:solidFill>
              </a:rPr>
              <a:t>Training on the laptop CPU took 2 min – 2.6 h; no GPU needed for a few thousand examples.</a:t>
            </a:r>
            <a:endParaRPr lang="en-US" sz="13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Pre-training is the key: fewer labels, higher accuracy</a:t>
            </a:r>
            <a:endParaRPr lang="en-US" sz="3200" dirty="0"/>
          </a:p>
        </p:txBody>
      </p:sp>
      <p:graphicFrame>
        <p:nvGraphicFramePr>
          <p:cNvPr id="3" name="Chart 0" descr=""/>
          <p:cNvGraphicFramePr/>
          <p:nvPr/>
        </p:nvGraphicFramePr>
        <p:xfrm>
          <a:off x="457200" y="1234440"/>
          <a:ext cx="7680960" cy="498348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8412480" y="1371600"/>
            <a:ext cx="3200400" cy="2194560"/>
          </a:xfrm>
          <a:prstGeom prst="roundRect">
            <a:avLst>
              <a:gd name="adj" fmla="val 5000"/>
            </a:avLst>
          </a:prstGeom>
          <a:solidFill>
            <a:srgbClr val="E6F6EF"/>
          </a:solidFill>
          <a:ln w="12700">
            <a:solidFill>
              <a:srgbClr val="E6F6EF"/>
            </a:solidFill>
            <a:prstDash val="solid"/>
          </a:ln>
        </p:spPr>
      </p:sp>
      <p:sp>
        <p:nvSpPr>
          <p:cNvPr id="5" name="Text 2"/>
          <p:cNvSpPr txBox="1"/>
          <p:nvPr/>
        </p:nvSpPr>
        <p:spPr>
          <a:xfrm>
            <a:off x="8641080" y="1463040"/>
            <a:ext cx="2743200" cy="822960"/>
          </a:xfrm>
          <a:prstGeom prst="rect">
            <a:avLst/>
          </a:prstGeom>
          <a:noFill/>
          <a:ln/>
        </p:spPr>
        <p:txBody>
          <a:bodyPr wrap="square" lIns="0" tIns="0" rIns="0" bIns="0" rtlCol="0" anchor="ctr"/>
          <a:lstStyle/>
          <a:p>
            <a:pPr indent="0" marL="0">
              <a:buNone/>
            </a:pPr>
            <a:r>
              <a:rPr lang="en-US" sz="4000" b="1" dirty="0">
                <a:solidFill>
                  <a:srgbClr val="1BAF7A"/>
                </a:solidFill>
                <a:latin typeface="Cambria" pitchFamily="34" charset="0"/>
                <a:ea typeface="Cambria" pitchFamily="34" charset="-122"/>
                <a:cs typeface="Cambria" pitchFamily="34" charset="-120"/>
              </a:rPr>
              <a:t>4,000</a:t>
            </a:r>
            <a:endParaRPr lang="en-US" sz="4000" dirty="0"/>
          </a:p>
        </p:txBody>
      </p:sp>
      <p:sp>
        <p:nvSpPr>
          <p:cNvPr id="6" name="Text 3"/>
          <p:cNvSpPr txBox="1"/>
          <p:nvPr/>
        </p:nvSpPr>
        <p:spPr>
          <a:xfrm>
            <a:off x="8641080" y="2286000"/>
            <a:ext cx="2743200" cy="1188720"/>
          </a:xfrm>
          <a:prstGeom prst="rect">
            <a:avLst/>
          </a:prstGeom>
          <a:noFill/>
          <a:ln/>
        </p:spPr>
        <p:txBody>
          <a:bodyPr wrap="square" lIns="0" tIns="0" rIns="0" bIns="0" rtlCol="0" anchor="ctr"/>
          <a:lstStyle/>
          <a:p>
            <a:pPr indent="0" marL="0">
              <a:buNone/>
            </a:pPr>
            <a:r>
              <a:rPr lang="en-US" sz="1300" dirty="0">
                <a:solidFill>
                  <a:srgbClr val="52516E"/>
                </a:solidFill>
              </a:rPr>
              <a:t>labels: BERT-small already matches the best classical model trained on all 65k (82.7% vs 82.9%)</a:t>
            </a:r>
            <a:endParaRPr lang="en-US" sz="1300" dirty="0"/>
          </a:p>
        </p:txBody>
      </p:sp>
      <p:sp>
        <p:nvSpPr>
          <p:cNvPr id="7" name="card"/>
          <p:cNvSpPr/>
          <p:nvPr/>
        </p:nvSpPr>
        <p:spPr>
          <a:xfrm>
            <a:off x="8412480" y="3794760"/>
            <a:ext cx="3200400" cy="2286000"/>
          </a:xfrm>
          <a:prstGeom prst="roundRect">
            <a:avLst>
              <a:gd name="adj" fmla="val 4800"/>
            </a:avLst>
          </a:prstGeom>
          <a:solidFill>
            <a:srgbClr val="EEF0FA"/>
          </a:solidFill>
          <a:ln w="12700">
            <a:solidFill>
              <a:srgbClr val="EEF0FA"/>
            </a:solidFill>
            <a:prstDash val="solid"/>
          </a:ln>
        </p:spPr>
      </p:sp>
      <p:sp>
        <p:nvSpPr>
          <p:cNvPr id="8" name="Text 5"/>
          <p:cNvSpPr txBox="1"/>
          <p:nvPr/>
        </p:nvSpPr>
        <p:spPr>
          <a:xfrm>
            <a:off x="8641080" y="3886200"/>
            <a:ext cx="2743200" cy="822960"/>
          </a:xfrm>
          <a:prstGeom prst="rect">
            <a:avLst/>
          </a:prstGeom>
          <a:noFill/>
          <a:ln/>
        </p:spPr>
        <p:txBody>
          <a:bodyPr wrap="square" lIns="0" tIns="0" rIns="0" bIns="0" rtlCol="0" anchor="ctr"/>
          <a:lstStyle/>
          <a:p>
            <a:pPr indent="0" marL="0">
              <a:buNone/>
            </a:pPr>
            <a:r>
              <a:rPr lang="en-US" sz="4000" b="1" dirty="0">
                <a:solidFill>
                  <a:srgbClr val="2E2A6B"/>
                </a:solidFill>
                <a:latin typeface="Cambria" pitchFamily="34" charset="0"/>
                <a:ea typeface="Cambria" pitchFamily="34" charset="-122"/>
                <a:cs typeface="Cambria" pitchFamily="34" charset="-120"/>
              </a:rPr>
              <a:t>+14 p.p.</a:t>
            </a:r>
            <a:endParaRPr lang="en-US" sz="4000" dirty="0"/>
          </a:p>
        </p:txBody>
      </p:sp>
      <p:sp>
        <p:nvSpPr>
          <p:cNvPr id="9" name="Text 6"/>
          <p:cNvSpPr txBox="1"/>
          <p:nvPr/>
        </p:nvSpPr>
        <p:spPr>
          <a:xfrm>
            <a:off x="8641080" y="4709160"/>
            <a:ext cx="2743200" cy="1188720"/>
          </a:xfrm>
          <a:prstGeom prst="rect">
            <a:avLst/>
          </a:prstGeom>
          <a:noFill/>
          <a:ln/>
        </p:spPr>
        <p:txBody>
          <a:bodyPr wrap="square" lIns="0" tIns="0" rIns="0" bIns="0" rtlCol="0" anchor="ctr"/>
          <a:lstStyle/>
          <a:p>
            <a:pPr indent="0" marL="0">
              <a:buNone/>
            </a:pPr>
            <a:r>
              <a:rPr lang="en-US" sz="1300" dirty="0">
                <a:solidFill>
                  <a:srgbClr val="52516E"/>
                </a:solidFill>
              </a:rPr>
              <a:t>advantage with only 500 labels – the gap shrinks as data grows</a:t>
            </a:r>
            <a:endParaRPr lang="en-US" sz="13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6163F"/>
                </a:solidFill>
                <a:latin typeface="Cambria" pitchFamily="34" charset="0"/>
                <a:ea typeface="Cambria" pitchFamily="34" charset="-122"/>
                <a:cs typeface="Cambria" pitchFamily="34" charset="-120"/>
              </a:rPr>
              <a:t>Context matters: negation and contrast sentences</a:t>
            </a:r>
            <a:endParaRPr lang="en-US" sz="3200" dirty="0"/>
          </a:p>
        </p:txBody>
      </p:sp>
      <p:graphicFrame>
        <p:nvGraphicFramePr>
          <p:cNvPr id="3" name="Chart 0" descr=""/>
          <p:cNvGraphicFramePr/>
          <p:nvPr/>
        </p:nvGraphicFramePr>
        <p:xfrm>
          <a:off x="457200" y="1234440"/>
          <a:ext cx="6400800" cy="4983480"/>
        </p:xfrm>
        <a:graphic xmlns:a="http://schemas.openxmlformats.org/drawingml/2006/main">
          <a:graphicData uri="http://schemas.openxmlformats.org/drawingml/2006/chart">
            <c:chart xmlns:c="http://schemas.openxmlformats.org/drawingml/2006/chart" r:id="rId1"/>
          </a:graphicData>
        </a:graphic>
      </p:graphicFrame>
      <p:pic>
        <p:nvPicPr>
          <p:cNvPr id="4" name="Image 0" descr="C:\Shashikanth_Data\VGTU\HomeWorks\NeuralNetwork\NLPTOPIC\Transformers-NLP\code\figures\attention_heatmap.png">    </p:cNvPr>
          <p:cNvPicPr>
            <a:picLocks noChangeAspect="1"/>
          </p:cNvPicPr>
          <p:nvPr/>
        </p:nvPicPr>
        <p:blipFill>
          <a:blip r:embed="rId2"/>
          <a:stretch>
            <a:fillRect/>
          </a:stretch>
        </p:blipFill>
        <p:spPr>
          <a:xfrm>
            <a:off x="7132320" y="1234440"/>
            <a:ext cx="4480560" cy="3840480"/>
          </a:xfrm>
          <a:prstGeom prst="rect">
            <a:avLst/>
          </a:prstGeom>
        </p:spPr>
      </p:pic>
      <p:sp>
        <p:nvSpPr>
          <p:cNvPr id="5" name="Text 1"/>
          <p:cNvSpPr txBox="1"/>
          <p:nvPr/>
        </p:nvSpPr>
        <p:spPr>
          <a:xfrm>
            <a:off x="7132320" y="5532120"/>
            <a:ext cx="4480560" cy="548640"/>
          </a:xfrm>
          <a:prstGeom prst="rect">
            <a:avLst/>
          </a:prstGeom>
          <a:noFill/>
          <a:ln/>
        </p:spPr>
        <p:txBody>
          <a:bodyPr wrap="square" lIns="0" tIns="0" rIns="0" bIns="0" rtlCol="0" anchor="ctr"/>
          <a:lstStyle/>
          <a:p>
            <a:pPr algn="ctr" indent="0" marL="0">
              <a:buNone/>
            </a:pPr>
            <a:r>
              <a:rPr lang="en-US" sz="1100" i="1" dirty="0">
                <a:solidFill>
                  <a:srgbClr val="52516E"/>
                </a:solidFill>
              </a:rPr>
              <a:t>“the plot was not good, but the acting was brilliant” – DistilBERT attention, last layer</a:t>
            </a:r>
            <a:endParaRPr lang="en-US" sz="11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8A8AA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50292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Conclusions &amp; recommendations</a:t>
            </a:r>
            <a:endParaRPr lang="en-US" sz="3400" dirty="0"/>
          </a:p>
        </p:txBody>
      </p:sp>
      <p:sp>
        <p:nvSpPr>
          <p:cNvPr id="3" name="Shape 1"/>
          <p:cNvSpPr/>
          <p:nvPr/>
        </p:nvSpPr>
        <p:spPr>
          <a:xfrm>
            <a:off x="731520" y="1554480"/>
            <a:ext cx="621792" cy="621792"/>
          </a:xfrm>
          <a:prstGeom prst="ellipse">
            <a:avLst/>
          </a:prstGeom>
          <a:solidFill>
            <a:srgbClr val="1BAF7A"/>
          </a:solidFill>
          <a:ln w="12700">
            <a:solidFill>
              <a:srgbClr val="1BAF7A"/>
            </a:solidFill>
            <a:prstDash val="solid"/>
          </a:ln>
        </p:spPr>
      </p:sp>
      <p:pic>
        <p:nvPicPr>
          <p:cNvPr id="4" name="Image 0" descr="preencoded.png">    </p:cNvPr>
          <p:cNvPicPr>
            <a:picLocks noChangeAspect="1"/>
          </p:cNvPicPr>
          <p:nvPr/>
        </p:nvPicPr>
        <p:blipFill>
          <a:blip r:embed="rId1"/>
          <a:stretch>
            <a:fillRect/>
          </a:stretch>
        </p:blipFill>
        <p:spPr>
          <a:xfrm>
            <a:off x="880750" y="1703710"/>
            <a:ext cx="323332" cy="323332"/>
          </a:xfrm>
          <a:prstGeom prst="rect">
            <a:avLst/>
          </a:prstGeom>
        </p:spPr>
      </p:pic>
      <p:sp>
        <p:nvSpPr>
          <p:cNvPr id="5" name="Text 2"/>
          <p:cNvSpPr txBox="1"/>
          <p:nvPr/>
        </p:nvSpPr>
        <p:spPr>
          <a:xfrm>
            <a:off x="1600200" y="1508760"/>
            <a:ext cx="9875520" cy="731520"/>
          </a:xfrm>
          <a:prstGeom prst="rect">
            <a:avLst/>
          </a:prstGeom>
          <a:noFill/>
          <a:ln/>
        </p:spPr>
        <p:txBody>
          <a:bodyPr wrap="square" lIns="0" tIns="0" rIns="0" bIns="0" rtlCol="0" anchor="ctr"/>
          <a:lstStyle/>
          <a:p>
            <a:pPr indent="0" marL="0">
              <a:buNone/>
            </a:pPr>
            <a:r>
              <a:rPr lang="en-US" sz="1700" dirty="0">
                <a:solidFill>
                  <a:srgbClr val="FFFFFF"/>
                </a:solidFill>
              </a:rPr>
              <a:t>Fine-tuned Transformers are the most accurate: 88.8% vs 82.9% (classical) and 82.8% (BiLSTM)</a:t>
            </a:r>
            <a:endParaRPr lang="en-US" sz="1700" dirty="0"/>
          </a:p>
        </p:txBody>
      </p:sp>
      <p:sp>
        <p:nvSpPr>
          <p:cNvPr id="6" name="Shape 3"/>
          <p:cNvSpPr/>
          <p:nvPr/>
        </p:nvSpPr>
        <p:spPr>
          <a:xfrm>
            <a:off x="731520" y="2468880"/>
            <a:ext cx="621792" cy="621792"/>
          </a:xfrm>
          <a:prstGeom prst="ellipse">
            <a:avLst/>
          </a:prstGeom>
          <a:solidFill>
            <a:srgbClr val="1BAF7A"/>
          </a:solidFill>
          <a:ln w="12700">
            <a:solidFill>
              <a:srgbClr val="1BAF7A"/>
            </a:solidFill>
            <a:prstDash val="solid"/>
          </a:ln>
        </p:spPr>
      </p:sp>
      <p:pic>
        <p:nvPicPr>
          <p:cNvPr id="7" name="Image 1" descr="preencoded.png">    </p:cNvPr>
          <p:cNvPicPr>
            <a:picLocks noChangeAspect="1"/>
          </p:cNvPicPr>
          <p:nvPr/>
        </p:nvPicPr>
        <p:blipFill>
          <a:blip r:embed="rId2"/>
          <a:stretch>
            <a:fillRect/>
          </a:stretch>
        </p:blipFill>
        <p:spPr>
          <a:xfrm>
            <a:off x="880750" y="2618110"/>
            <a:ext cx="323332" cy="323332"/>
          </a:xfrm>
          <a:prstGeom prst="rect">
            <a:avLst/>
          </a:prstGeom>
        </p:spPr>
      </p:pic>
      <p:sp>
        <p:nvSpPr>
          <p:cNvPr id="8" name="Text 4"/>
          <p:cNvSpPr txBox="1"/>
          <p:nvPr/>
        </p:nvSpPr>
        <p:spPr>
          <a:xfrm>
            <a:off x="1600200" y="2423160"/>
            <a:ext cx="9875520" cy="731520"/>
          </a:xfrm>
          <a:prstGeom prst="rect">
            <a:avLst/>
          </a:prstGeom>
          <a:noFill/>
          <a:ln/>
        </p:spPr>
        <p:txBody>
          <a:bodyPr wrap="square" lIns="0" tIns="0" rIns="0" bIns="0" rtlCol="0" anchor="ctr"/>
          <a:lstStyle/>
          <a:p>
            <a:pPr indent="0" marL="0">
              <a:buNone/>
            </a:pPr>
            <a:r>
              <a:rPr lang="en-US" sz="1700" dirty="0">
                <a:solidFill>
                  <a:srgbClr val="FFFFFF"/>
                </a:solidFill>
              </a:rPr>
              <a:t>Pre-training gives data efficiency: BERT-small with 4,000 labels matches classical models trained on 65k; DistilBERT with 8,000 beats them</a:t>
            </a:r>
            <a:endParaRPr lang="en-US" sz="1700" dirty="0"/>
          </a:p>
        </p:txBody>
      </p:sp>
      <p:sp>
        <p:nvSpPr>
          <p:cNvPr id="9" name="Shape 5"/>
          <p:cNvSpPr/>
          <p:nvPr/>
        </p:nvSpPr>
        <p:spPr>
          <a:xfrm>
            <a:off x="731520" y="3383280"/>
            <a:ext cx="621792" cy="621792"/>
          </a:xfrm>
          <a:prstGeom prst="ellipse">
            <a:avLst/>
          </a:prstGeom>
          <a:solidFill>
            <a:srgbClr val="1BAF7A"/>
          </a:solidFill>
          <a:ln w="12700">
            <a:solidFill>
              <a:srgbClr val="1BAF7A"/>
            </a:solidFill>
            <a:prstDash val="solid"/>
          </a:ln>
        </p:spPr>
      </p:sp>
      <p:pic>
        <p:nvPicPr>
          <p:cNvPr id="10" name="Image 2" descr="preencoded.png">    </p:cNvPr>
          <p:cNvPicPr>
            <a:picLocks noChangeAspect="1"/>
          </p:cNvPicPr>
          <p:nvPr/>
        </p:nvPicPr>
        <p:blipFill>
          <a:blip r:embed="rId3"/>
          <a:stretch>
            <a:fillRect/>
          </a:stretch>
        </p:blipFill>
        <p:spPr>
          <a:xfrm>
            <a:off x="880750" y="3532510"/>
            <a:ext cx="323332" cy="323332"/>
          </a:xfrm>
          <a:prstGeom prst="rect">
            <a:avLst/>
          </a:prstGeom>
        </p:spPr>
      </p:pic>
      <p:sp>
        <p:nvSpPr>
          <p:cNvPr id="11" name="Text 6"/>
          <p:cNvSpPr txBox="1"/>
          <p:nvPr/>
        </p:nvSpPr>
        <p:spPr>
          <a:xfrm>
            <a:off x="1600200" y="3337560"/>
            <a:ext cx="9875520" cy="731520"/>
          </a:xfrm>
          <a:prstGeom prst="rect">
            <a:avLst/>
          </a:prstGeom>
          <a:noFill/>
          <a:ln/>
        </p:spPr>
        <p:txBody>
          <a:bodyPr wrap="square" lIns="0" tIns="0" rIns="0" bIns="0" rtlCol="0" anchor="ctr"/>
          <a:lstStyle/>
          <a:p>
            <a:pPr indent="0" marL="0">
              <a:buNone/>
            </a:pPr>
            <a:r>
              <a:rPr lang="en-US" sz="1700" dirty="0">
                <a:solidFill>
                  <a:srgbClr val="FFFFFF"/>
                </a:solidFill>
              </a:rPr>
              <a:t>Cost is real but manageable: minutes of CPU fine-tuning, milliseconds per sentence</a:t>
            </a:r>
            <a:endParaRPr lang="en-US" sz="1700" dirty="0"/>
          </a:p>
        </p:txBody>
      </p:sp>
      <p:sp>
        <p:nvSpPr>
          <p:cNvPr id="12" name="Shape 7"/>
          <p:cNvSpPr/>
          <p:nvPr/>
        </p:nvSpPr>
        <p:spPr>
          <a:xfrm>
            <a:off x="731520" y="4297680"/>
            <a:ext cx="621792" cy="621792"/>
          </a:xfrm>
          <a:prstGeom prst="ellipse">
            <a:avLst/>
          </a:prstGeom>
          <a:solidFill>
            <a:srgbClr val="1BAF7A"/>
          </a:solidFill>
          <a:ln w="12700">
            <a:solidFill>
              <a:srgbClr val="1BAF7A"/>
            </a:solidFill>
            <a:prstDash val="solid"/>
          </a:ln>
        </p:spPr>
      </p:sp>
      <p:pic>
        <p:nvPicPr>
          <p:cNvPr id="13" name="Image 3" descr="preencoded.png">    </p:cNvPr>
          <p:cNvPicPr>
            <a:picLocks noChangeAspect="1"/>
          </p:cNvPicPr>
          <p:nvPr/>
        </p:nvPicPr>
        <p:blipFill>
          <a:blip r:embed="rId4"/>
          <a:stretch>
            <a:fillRect/>
          </a:stretch>
        </p:blipFill>
        <p:spPr>
          <a:xfrm>
            <a:off x="880750" y="4446910"/>
            <a:ext cx="323332" cy="323332"/>
          </a:xfrm>
          <a:prstGeom prst="rect">
            <a:avLst/>
          </a:prstGeom>
        </p:spPr>
      </p:pic>
      <p:sp>
        <p:nvSpPr>
          <p:cNvPr id="14" name="Text 8"/>
          <p:cNvSpPr txBox="1"/>
          <p:nvPr/>
        </p:nvSpPr>
        <p:spPr>
          <a:xfrm>
            <a:off x="1600200" y="4251960"/>
            <a:ext cx="9875520" cy="731520"/>
          </a:xfrm>
          <a:prstGeom prst="rect">
            <a:avLst/>
          </a:prstGeom>
          <a:noFill/>
          <a:ln/>
        </p:spPr>
        <p:txBody>
          <a:bodyPr wrap="square" lIns="0" tIns="0" rIns="0" bIns="0" rtlCol="0" anchor="ctr"/>
          <a:lstStyle/>
          <a:p>
            <a:pPr indent="0" marL="0">
              <a:buNone/>
            </a:pPr>
            <a:r>
              <a:rPr lang="en-US" sz="1700" dirty="0">
                <a:solidFill>
                  <a:srgbClr val="FFFFFF"/>
                </a:solidFill>
              </a:rPr>
              <a:t>Reuse first: an in-domain public model gives 91.1% with zero training; zero-shot (81.8%) and out-of-domain models are useful but weaker</a:t>
            </a:r>
            <a:endParaRPr lang="en-US" sz="1700" dirty="0"/>
          </a:p>
        </p:txBody>
      </p:sp>
      <p:sp>
        <p:nvSpPr>
          <p:cNvPr id="15" name="Shape 9"/>
          <p:cNvSpPr/>
          <p:nvPr/>
        </p:nvSpPr>
        <p:spPr>
          <a:xfrm>
            <a:off x="731520" y="5212080"/>
            <a:ext cx="621792" cy="621792"/>
          </a:xfrm>
          <a:prstGeom prst="ellipse">
            <a:avLst/>
          </a:prstGeom>
          <a:solidFill>
            <a:srgbClr val="EB6834"/>
          </a:solidFill>
          <a:ln w="12700">
            <a:solidFill>
              <a:srgbClr val="EB6834"/>
            </a:solidFill>
            <a:prstDash val="solid"/>
          </a:ln>
        </p:spPr>
      </p:sp>
      <p:pic>
        <p:nvPicPr>
          <p:cNvPr id="16" name="Image 4" descr="preencoded.png">    </p:cNvPr>
          <p:cNvPicPr>
            <a:picLocks noChangeAspect="1"/>
          </p:cNvPicPr>
          <p:nvPr/>
        </p:nvPicPr>
        <p:blipFill>
          <a:blip r:embed="rId5"/>
          <a:stretch>
            <a:fillRect/>
          </a:stretch>
        </p:blipFill>
        <p:spPr>
          <a:xfrm>
            <a:off x="880750" y="5361310"/>
            <a:ext cx="323332" cy="323332"/>
          </a:xfrm>
          <a:prstGeom prst="rect">
            <a:avLst/>
          </a:prstGeom>
        </p:spPr>
      </p:pic>
      <p:sp>
        <p:nvSpPr>
          <p:cNvPr id="17" name="Text 10"/>
          <p:cNvSpPr txBox="1"/>
          <p:nvPr/>
        </p:nvSpPr>
        <p:spPr>
          <a:xfrm>
            <a:off x="1600200" y="5166360"/>
            <a:ext cx="9875520" cy="731520"/>
          </a:xfrm>
          <a:prstGeom prst="rect">
            <a:avLst/>
          </a:prstGeom>
          <a:noFill/>
          <a:ln/>
        </p:spPr>
        <p:txBody>
          <a:bodyPr wrap="square" lIns="0" tIns="0" rIns="0" bIns="0" rtlCol="0" anchor="ctr"/>
          <a:lstStyle/>
          <a:p>
            <a:pPr indent="0" marL="0">
              <a:buNone/>
            </a:pPr>
            <a:r>
              <a:rPr lang="en-US" sz="1700" dirty="0">
                <a:solidFill>
                  <a:srgbClr val="FFFFFF"/>
                </a:solidFill>
              </a:rPr>
              <a:t>For Lithuanian: fine-tune LitLat BERT / XLM-R on a small labelled set – the next step of this work</a:t>
            </a:r>
            <a:endParaRPr lang="en-US" sz="1700" dirty="0"/>
          </a:p>
        </p:txBody>
      </p:sp>
      <p:sp>
        <p:nvSpPr>
          <p:cNvPr id="18" name="Text 11"/>
          <p:cNvSpPr txBox="1"/>
          <p:nvPr/>
        </p:nvSpPr>
        <p:spPr>
          <a:xfrm>
            <a:off x="731520" y="6035040"/>
            <a:ext cx="7315200" cy="457200"/>
          </a:xfrm>
          <a:prstGeom prst="rect">
            <a:avLst/>
          </a:prstGeom>
          <a:noFill/>
          <a:ln/>
        </p:spPr>
        <p:txBody>
          <a:bodyPr wrap="square" lIns="0" tIns="0" rIns="0" bIns="0" rtlCol="0" anchor="ctr"/>
          <a:lstStyle/>
          <a:p>
            <a:pPr indent="0" marL="0">
              <a:buNone/>
            </a:pPr>
            <a:r>
              <a:rPr lang="en-US" sz="1800" i="1" dirty="0">
                <a:solidFill>
                  <a:srgbClr val="B8B8D0"/>
                </a:solidFill>
                <a:latin typeface="Cambria" pitchFamily="34" charset="0"/>
                <a:ea typeface="Cambria" pitchFamily="34" charset="-122"/>
                <a:cs typeface="Cambria" pitchFamily="34" charset="-120"/>
              </a:rPr>
              <a:t>Thank you! Questions?</a:t>
            </a:r>
            <a:endParaRPr lang="en-US" sz="1800" dirty="0"/>
          </a:p>
        </p:txBody>
      </p:sp>
      <p:sp>
        <p:nvSpPr>
          <p:cNvPr id="25" name="Slide Number Placeholder 0"/>
          <p:cNvSpPr>
            <a:spLocks noGrp="1"/>
          </p:cNvSpPr>
          <p:nvPr>
            <p:ph type="sldNum" sz="quarter" idx="4294967295"/>
          </p:nvPr>
        </p:nvSpPr>
        <p:spPr>
          <a:xfrm>
            <a:off x="1133856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B8B8D0"/>
                </a:solidFill>
              </a:defRPr>
            </a:lvl1pPr>
          </a:lstStyle>
          <a:p>
            <a:pPr algn="l"/>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Attention">
  <a:themeElements>
    <a:clrScheme name="Attention">
      <a:dk1>
        <a:srgbClr val="16163F"/>
      </a:dk1>
      <a:lt1>
        <a:srgbClr val="FFFFFF"/>
      </a:lt1>
      <a:dk2>
        <a:srgbClr val="2E2A6B"/>
      </a:dk2>
      <a:lt2>
        <a:srgbClr val="EEF0FA"/>
      </a:lt2>
      <a:accent1>
        <a:srgbClr val="1BAF7A"/>
      </a:accent1>
      <a:accent2>
        <a:srgbClr val="2A78D6"/>
      </a:accent2>
      <a:accent3>
        <a:srgbClr val="EB6834"/>
      </a:accent3>
      <a:accent4>
        <a:srgbClr val="F2B33D"/>
      </a:accent4>
      <a:accent5>
        <a:srgbClr val="6250D6"/>
      </a:accent5>
      <a:accent6>
        <a:srgbClr val="8A8AA8"/>
      </a:accent6>
      <a:hlink>
        <a:srgbClr val="2A78D6"/>
      </a:hlink>
      <a:folHlink>
        <a:srgbClr val="6250D6"/>
      </a:folHlink>
    </a:clrScheme>
    <a:fontScheme name="Atten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Transformers and their application in NLP tasks</dc:title>
  <dc:subject>PptxGenJS Presentation</dc:subject>
  <dc:creator>Shashikanth Hosur Ramegowda, Shaeed Khan, Rimsha Tariq</dc:creator>
  <cp:lastModifiedBy>Shashikanth Hosur Ramegowda, Shaeed Khan, Rimsha Tariq</cp:lastModifiedBy>
  <cp:revision>1</cp:revision>
  <dcterms:created xsi:type="dcterms:W3CDTF">2026-10-20T13:32:06Z</dcterms:created>
  <dcterms:modified xsi:type="dcterms:W3CDTF">2026-10-20T13:32:06Z</dcterms:modified>
</cp:coreProperties>
</file>
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5b43a7-d5e2-9f48-8b39-bb91fde3942f}">
          <p14:sldIdLst>
            <p14:sldId id="256"/>
            <p14:sldId id="257"/>
          </p14:sldIdLst>
        </p14:section>
        <p14:section name="Theory" id="{d03d9a6b-12b0-a466-7be1-515e935682e3}">
          <p14:sldIdLst>
            <p14:sldId id="258"/>
            <p14:sldId id="259"/>
          </p14:sldIdLst>
        </p14:section>
        <p14:section name="Experiment" id="{70e90911-c0cd-4cb3-f104-f2ded122ab93}">
          <p14:sldIdLst>
            <p14:sldId id="260"/>
            <p14:sldId id="261"/>
          </p14:sldIdLst>
        </p14:section>
        <p14:section name="Results" id="{8f4a59f1-32e3-660b-1844-b7722804db12}">
          <p14:sldIdLst>
            <p14:sldId id="262"/>
            <p14:sldId id="263"/>
            <p14:sldId id="264"/>
            <p14:sldId id="265"/>
          </p14:sldIdLst>
        </p14:section>
        <p14:section name="Conclusions" id="{02863f63-953a-35b2-0143-bc3218d0a606}">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Classical</c:v>
                </c:pt>
              </c:strCache>
            </c:strRef>
          </c:tx>
          <c:spPr>
            <a:solidFill>
              <a:srgbClr val="2A78D6"/>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Sheet1!$B$2:$B$11</c:f>
              <c:numCache>
                <c:formatCode>General</c:formatCode>
                <c:ptCount val="10"/>
                <c:pt idx="0">
                  <c:v/>
                </c:pt>
                <c:pt idx="1">
                  <c:v/>
                </c:pt>
                <c:pt idx="2">
                  <c:v>81.9</c:v>
                </c:pt>
                <c:pt idx="3">
                  <c:v>82.2</c:v>
                </c:pt>
                <c:pt idx="4">
                  <c:v/>
                </c:pt>
                <c:pt idx="5">
                  <c:v>82.9</c:v>
                </c:pt>
                <c:pt idx="6">
                  <c:v/>
                </c:pt>
                <c:pt idx="7">
                  <c:v/>
                </c:pt>
                <c:pt idx="8">
                  <c:v/>
                </c:pt>
                <c:pt idx="9">
                  <c:v/>
                </c:pt>
              </c:numCache>
            </c:numRef>
          </c:val>
        </c:ser>
        <c:ser>
          <c:idx val="1"/>
          <c:order val="1"/>
          <c:tx>
            <c:strRef>
              <c:f>Sheet1!$C$1</c:f>
              <c:strCache>
                <c:ptCount val="1"/>
                <c:pt idx="0">
                  <c:v>Recurrent</c:v>
                </c:pt>
              </c:strCache>
            </c:strRef>
          </c:tx>
          <c:spPr>
            <a:solidFill>
              <a:srgbClr val="EB6834"/>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Sheet1!$C$2:$C$11</c:f>
              <c:numCache>
                <c:formatCode>General</c:formatCode>
                <c:ptCount val="10"/>
                <c:pt idx="0">
                  <c:v/>
                </c:pt>
                <c:pt idx="1">
                  <c:v/>
                </c:pt>
                <c:pt idx="2">
                  <c:v/>
                </c:pt>
                <c:pt idx="3">
                  <c:v/>
                </c:pt>
                <c:pt idx="4">
                  <c:v>82.8</c:v>
                </c:pt>
                <c:pt idx="5">
                  <c:v/>
                </c:pt>
                <c:pt idx="6">
                  <c:v/>
                </c:pt>
                <c:pt idx="7">
                  <c:v/>
                </c:pt>
                <c:pt idx="8">
                  <c:v/>
                </c:pt>
                <c:pt idx="9">
                  <c:v/>
                </c:pt>
              </c:numCache>
            </c:numRef>
          </c:val>
        </c:ser>
        <c:ser>
          <c:idx val="2"/>
          <c:order val="2"/>
          <c:tx>
            <c:strRef>
              <c:f>Sheet1!$D$1</c:f>
              <c:strCache>
                <c:ptCount val="1"/>
                <c:pt idx="0">
                  <c:v>Transformer</c:v>
                </c:pt>
              </c:strCache>
            </c:strRef>
          </c:tx>
          <c:spPr>
            <a:solidFill>
              <a:srgbClr val="1BAF7A"/>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Sheet1!$D$2:$D$11</c:f>
              <c:numCache>
                <c:formatCode>General</c:formatCode>
                <c:ptCount val="10"/>
                <c:pt idx="0">
                  <c:v>76.6</c:v>
                </c:pt>
                <c:pt idx="1">
                  <c:v>81.8</c:v>
                </c:pt>
                <c:pt idx="2">
                  <c:v/>
                </c:pt>
                <c:pt idx="3">
                  <c:v/>
                </c:pt>
                <c:pt idx="4">
                  <c:v/>
                </c:pt>
                <c:pt idx="5">
                  <c:v/>
                </c:pt>
                <c:pt idx="6">
                  <c:v>83.7</c:v>
                </c:pt>
                <c:pt idx="7">
                  <c:v>85.8</c:v>
                </c:pt>
                <c:pt idx="8">
                  <c:v>88.8</c:v>
                </c:pt>
                <c:pt idx="9">
                  <c:v>91.1</c:v>
                </c:pt>
              </c:numCache>
            </c:numRef>
          </c:val>
        </c:ser>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b"/>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Test accuracy, %</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BERT-small fine-tuned</c:v>
                </c:pt>
              </c:strCache>
            </c:strRef>
          </c:tx>
          <c:spPr>
            <a:solidFill>
              <a:srgbClr val="1BAF7A"/>
            </a:solidFill>
            <a:ln w="38100" cap="flat">
              <a:solidFill>
                <a:srgbClr val="1BAF7A"/>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1BAF7A"/>
              </a:solidFill>
              <a:ln w="9525" cap="flat">
                <a:solidFill>
                  <a:srgbClr val="1BAF7A"/>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Sheet1!$B$2:$B$6</c:f>
              <c:numCache>
                <c:formatCode>General</c:formatCode>
                <c:ptCount val="5"/>
                <c:pt idx="0">
                  <c:v>75.9</c:v>
                </c:pt>
                <c:pt idx="1">
                  <c:v>77.6</c:v>
                </c:pt>
                <c:pt idx="2">
                  <c:v>80.7</c:v>
                </c:pt>
                <c:pt idx="3">
                  <c:v>82.7</c:v>
                </c:pt>
                <c:pt idx="4">
                  <c:v>83.7</c:v>
                </c:pt>
              </c:numCache>
            </c:numRef>
          </c:val>
          <c:smooth val="0"/>
        </c:ser>
        <c:ser>
          <c:idx val="1"/>
          <c:order val="1"/>
          <c:tx>
            <c:strRef>
              <c:f>Sheet1!$C$1</c:f>
              <c:strCache>
                <c:ptCount val="1"/>
                <c:pt idx="0">
                  <c:v>TF-IDF + Logistic Regr.</c:v>
                </c:pt>
              </c:strCache>
            </c:strRef>
          </c:tx>
          <c:spPr>
            <a:solidFill>
              <a:srgbClr val="2A78D6"/>
            </a:solidFill>
            <a:ln w="38100" cap="flat">
              <a:solidFill>
                <a:srgbClr val="2A78D6"/>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Sheet1!$C$2:$C$6</c:f>
              <c:numCache>
                <c:formatCode>General</c:formatCode>
                <c:ptCount val="5"/>
                <c:pt idx="0">
                  <c:v>61.8</c:v>
                </c:pt>
                <c:pt idx="1">
                  <c:v>68.1</c:v>
                </c:pt>
                <c:pt idx="2">
                  <c:v>71</c:v>
                </c:pt>
                <c:pt idx="3">
                  <c:v>75.8</c:v>
                </c:pt>
                <c:pt idx="4">
                  <c:v>77.5</c:v>
                </c:pt>
              </c:numCache>
            </c:numRef>
          </c:val>
          <c:smooth val="0"/>
        </c:ser>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2516E"/>
                    </a:solidFill>
                    <a:latin typeface="Arial"/>
                  </a:defRPr>
                </a:pPr>
                <a:r>
                  <a:rPr sz="1200" b="0" i="0" u="none" strike="noStrike">
                    <a:solidFill>
                      <a:srgbClr val="52516E"/>
                    </a:solidFill>
                    <a:latin typeface="Arial"/>
                  </a:rPr>
                  <a:t>Labelled training sentences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E4E3EF"/>
              </a:solidFill>
              <a:prstDash val="solid"/>
              <a:round/>
            </a:ln>
          </c:spPr>
        </c:majorGridlines>
        <c:title>
          <c:tx>
            <c:rich>
              <a:bodyPr/>
              <a:lstStyle/>
              <a:p>
                <a:pPr>
                  <a:defRPr sz="1200" b="0" i="0" u="none" strike="noStrike">
                    <a:solidFill>
                      <a:srgbClr val="52516E"/>
                    </a:solidFill>
                    <a:latin typeface="Arial"/>
                  </a:defRPr>
                </a:pPr>
                <a:r>
                  <a:rPr sz="1200" b="0" i="0" u="none" strike="noStrike">
                    <a:solidFill>
                      <a:srgbClr val="52516E"/>
                    </a:solidFill>
                    <a:latin typeface="Arial"/>
                  </a:rPr>
                  <a:t>Test 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c:v>
                </c:pt>
              </c:strCache>
            </c:strRef>
          </c:tx>
          <c:spPr>
            <a:solidFill>
              <a:srgbClr val="B8B8D0"/>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Sheet1!$B$2:$B$5</c:f>
              <c:numCache>
                <c:formatCode>General</c:formatCode>
                <c:ptCount val="4"/>
                <c:pt idx="0">
                  <c:v>82.9</c:v>
                </c:pt>
                <c:pt idx="1">
                  <c:v>82.8</c:v>
                </c:pt>
                <c:pt idx="2">
                  <c:v>88.8</c:v>
                </c:pt>
                <c:pt idx="3">
                  <c:v>91.1</c:v>
                </c:pt>
              </c:numCache>
            </c:numRef>
          </c:val>
        </c:ser>
        <c:ser>
          <c:idx val="1"/>
          <c:order val="1"/>
          <c:tx>
            <c:strRef>
              <c:f>Sheet1!$C$1</c:f>
              <c:strCache>
                <c:ptCount val="1"/>
                <c:pt idx="0">
                  <c:v>Negation</c:v>
                </c:pt>
              </c:strCache>
            </c:strRef>
          </c:tx>
          <c:spPr>
            <a:solidFill>
              <a:srgbClr val="2A78D6"/>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Sheet1!$C$2:$C$5</c:f>
              <c:numCache>
                <c:formatCode>General</c:formatCode>
                <c:ptCount val="4"/>
                <c:pt idx="0">
                  <c:v>74.5</c:v>
                </c:pt>
                <c:pt idx="1">
                  <c:v>78.8</c:v>
                </c:pt>
                <c:pt idx="2">
                  <c:v>85.3</c:v>
                </c:pt>
                <c:pt idx="3">
                  <c:v>87</c:v>
                </c:pt>
              </c:numCache>
            </c:numRef>
          </c:val>
        </c:ser>
        <c:ser>
          <c:idx val="2"/>
          <c:order val="2"/>
          <c:tx>
            <c:strRef>
              <c:f>Sheet1!$D$1</c:f>
              <c:strCache>
                <c:ptCount val="1"/>
                <c:pt idx="0">
                  <c:v>Contrast</c:v>
                </c:pt>
              </c:strCache>
            </c:strRef>
          </c:tx>
          <c:spPr>
            <a:solidFill>
              <a:srgbClr val="EB6834"/>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Sheet1!$D$2:$D$5</c:f>
              <c:numCache>
                <c:formatCode>General</c:formatCode>
                <c:ptCount val="4"/>
                <c:pt idx="0">
                  <c:v>77.7</c:v>
                </c:pt>
                <c:pt idx="1">
                  <c:v>77.7</c:v>
                </c:pt>
                <c:pt idx="2">
                  <c:v>85.4</c:v>
                </c:pt>
                <c:pt idx="3">
                  <c:v>86.2</c:v>
                </c:pt>
              </c:numCache>
            </c:numRef>
          </c:val>
        </c:ser>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(≈30 s). Introduce the team and the topic: Transformers are the architecture behind BERT, GPT and almost every modern NLP system. Our question: what do they really give, and at what cost, when you only have a normal laptop and limited labelled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(≈45 s). Before 2017 NLP models read sentences word by word. The Transformer by Vaswani et al. removed recurrence and kept only attention. That gave parallel training and made huge pre-training possible: BERT, GPT and others. Aim of the project: explain the architecture and measure its benefit experimentally.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(≈60 s). Explain Q, K, V: each word asks a question (query), every word offers a key, the softmax of their dot products gives attention weights, and the output is a weighted mix of values. Several heads run in parallel. Layers are stacked with residual connections and layer normalisation. For classification we take the [CLS] vector and add a softmax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In one sentence: the papers tell us which model is accurate, but not what it costs or how many labels it needs. We searched Google Scholar and Web of Science (transformer OR BERT AND sentiment / text classification, plus Lithuanian). There are three model families; we use encoder-only models for classification. What the studies show: first, Transformers are the most accurate, above 90% on SST-2 against 79 to 83% for classical models. Second, without pre-training small data is a problem: in Lithuania naive Bayes at 0.735 beat LSTM and CNN at 0.706. Third, Lithuanian now has pre-trained models, LitLat BERT and BERT/T5, and open Llama2 models. What is missing, our gap: these studies report accuracy, but a student with a laptop also needs to know the cost, how many labels are needed, and whether a ready-made model is enough. We measure all three on one laptop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(≈45 s). Dataset: Stanford Sentiment Treebank, binary. The official validation set is our test set, 2,000 training sentences are the dev set. Ten models in four groups. Everything runs on the same laptop CPU so times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(≈40 s). The program is a pipeline of nine scripts. The key one is the fine-tuning script: give it any model name from the Hugging Face hub and a number of training examples. All results are stored with predictions, so the report script computes tables, figures and statistical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(≈60 s). Ranking of all ten models. Classical TF-IDF models reach 81.9–82.9%, the BiLSTM 82.8%, our fine-tuned Transformers up to 88.8% with only 8,000 labelled sentences. The ready-made DistilBERT-SST2 reaches 91.1%. Zero-shot, with no labels at all, still gets 81.8%.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(≈45 s). The gain is not free: a TF-IDF model trains in seconds and classifies in microseconds; Transformers need minutes to tens of minutes of CPU training and milliseconds per sentence. For most applications that is still perfectly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(≈50 s). Same random subsets for both models. With very few labels TF-IDF cannot learn the vocabulary, while BERT-small already knows English from pre-training. This confirms the Lithuanian finding that pre-training, not the neural network as such, is what makes the difference on small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(≈45 s). Bag-of-words models lose most on sentences with negation and contrast, because 'not good' contains the word 'good'. Transformers keep their accuracy much better. The heat-map shows how attention links the words in such a sentence – but, as Jain and Wallace warn, attention is an illustration, not a proof of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Summarise the answers to the research questions and give the practical recommendation: first try a public in-domain model, otherwise fine-tune a compact Transformer on a few thousand labels; use TF-IDF only when latency or hardware are extremely limited. Future work: Lithuanian data with LitLat BERT.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rgbClr val="1616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000" dirty="0">
                <a:solidFill>
                  <a:srgbClr val="8A8AA8"/>
                </a:solidFill>
              </a:rPr>
              <a:t>Transformers in NLP · VILNIUS TECH</a:t>
            </a:r>
            <a:endParaRPr lang="en-US" sz="10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400" dirty="0">
                <a:solidFill>
                  <a:srgbClr val="B8B8D0"/>
                </a:solidFill>
              </a:rPr>
              <a:t>VILNIUS TECH · Group project</a:t>
            </a:r>
            <a:endParaRPr lang="en-US" sz="1400" dirty="0"/>
          </a:p>
        </p:txBody>
      </p:sp>
      <p:sp>
        <p:nvSpPr>
          <p:cNvPr id="3" name="Text 1"/>
          <p:cNvSpPr txBox="1"/>
          <p:nvPr/>
        </p:nvSpPr>
        <p:spPr>
          <a:xfrm>
            <a:off x="731520" y="1463040"/>
            <a:ext cx="7498080" cy="182880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Transformers and their application in NLP tasks</a:t>
            </a:r>
            <a:endParaRPr lang="en-US" sz="4200" dirty="0"/>
          </a:p>
        </p:txBody>
      </p:sp>
      <p:sp>
        <p:nvSpPr>
          <p:cNvPr id="4" name="Text 2"/>
          <p:cNvSpPr txBox="1"/>
          <p:nvPr/>
        </p:nvSpPr>
        <p:spPr>
          <a:xfrm>
            <a:off x="731520" y="3429000"/>
            <a:ext cx="7132320" cy="822960"/>
          </a:xfrm>
          <a:prstGeom prst="rect">
            <a:avLst/>
          </a:prstGeom>
          <a:noFill/>
          <a:ln/>
        </p:spPr>
        <p:txBody>
          <a:bodyPr wrap="square" lIns="0" tIns="0" rIns="0" bIns="0" rtlCol="0" anchor="ctr"/>
          <a:lstStyle/>
          <a:p>
            <a:pPr indent="0" marL="0">
              <a:buNone/>
            </a:pPr>
            <a:r>
              <a:rPr lang="en-US" sz="1800" i="1" dirty="0">
                <a:solidFill>
                  <a:srgbClr val="D6D6EE"/>
                </a:solidFill>
              </a:rPr>
              <a:t>Do Transformers pay off on a laptop CPU? A comparison of 10 sentiment classifiers on SST-2</a:t>
            </a:r>
            <a:endParaRPr lang="en-US" sz="1800" dirty="0"/>
          </a:p>
        </p:txBody>
      </p:sp>
      <p:sp>
        <p:nvSpPr>
          <p:cNvPr id="5" name="Text 3"/>
          <p:cNvSpPr txBox="1"/>
          <p:nvPr/>
        </p:nvSpPr>
        <p:spPr>
          <a:xfrm>
            <a:off x="731520" y="4754880"/>
            <a:ext cx="5486400" cy="1097280"/>
          </a:xfrm>
          <a:prstGeom prst="rect">
            <a:avLst/>
          </a:prstGeom>
          <a:noFill/>
          <a:ln/>
        </p:spPr>
        <p:txBody>
          <a:bodyPr wrap="square" lIns="0" tIns="0" rIns="0" bIns="0" rtlCol="0" anchor="ctr"/>
          <a:lstStyle/>
          <a:p>
            <a:pPr indent="0" marL="0">
              <a:spcAft>
                <a:spcPts val="400"/>
              </a:spcAft>
              <a:buNone/>
            </a:pPr>
            <a:r>
              <a:rPr lang="en-US" sz="1600" dirty="0">
                <a:solidFill>
                  <a:srgbClr val="FFFFFF"/>
                </a:solidFill>
              </a:rPr>
              <a:t>Shashikanth Hosur Ramegowda</a:t>
            </a:r>
            <a:endParaRPr lang="en-US" sz="1600" dirty="0"/>
          </a:p>
          <a:p>
            <a:pPr indent="0" marL="0">
              <a:spcAft>
                <a:spcPts val="400"/>
              </a:spcAft>
              <a:buNone/>
            </a:pPr>
            <a:r>
              <a:rPr lang="en-US" sz="1600" dirty="0">
                <a:solidFill>
                  <a:srgbClr val="FFFFFF"/>
                </a:solidFill>
              </a:rPr>
              <a:t>Shaeed Khan</a:t>
            </a:r>
            <a:endParaRPr lang="en-US" sz="1600" dirty="0"/>
          </a:p>
        </p:txBody>
      </p:sp>
      <p:sp>
        <p:nvSpPr>
          <p:cNvPr id="6" name="Text 4"/>
          <p:cNvSpPr txBox="1"/>
          <p:nvPr/>
        </p:nvSpPr>
        <p:spPr>
          <a:xfrm>
            <a:off x="7589520" y="1828800"/>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not</a:t>
            </a:r>
            <a:endParaRPr lang="en-US" sz="1300" dirty="0"/>
          </a:p>
        </p:txBody>
      </p:sp>
      <p:sp>
        <p:nvSpPr>
          <p:cNvPr id="7" name="Text 5"/>
          <p:cNvSpPr txBox="1"/>
          <p:nvPr/>
        </p:nvSpPr>
        <p:spPr>
          <a:xfrm>
            <a:off x="8503920"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not</a:t>
            </a:r>
            <a:endParaRPr lang="en-US" sz="1300" dirty="0"/>
          </a:p>
        </p:txBody>
      </p:sp>
      <p:sp>
        <p:nvSpPr>
          <p:cNvPr id="8" name="Shape 6"/>
          <p:cNvSpPr/>
          <p:nvPr/>
        </p:nvSpPr>
        <p:spPr>
          <a:xfrm>
            <a:off x="8540496" y="1865376"/>
            <a:ext cx="640080" cy="640080"/>
          </a:xfrm>
          <a:prstGeom prst="roundRect">
            <a:avLst>
              <a:gd name="adj" fmla="val 11429"/>
            </a:avLst>
          </a:prstGeom>
          <a:solidFill>
            <a:srgbClr val="1BAF7A">
              <a:alpha val="88000"/>
            </a:srgbClr>
          </a:solidFill>
          <a:ln w="12700">
            <a:solidFill>
              <a:srgbClr val="1BAF7A">
                <a:alpha val="40000"/>
              </a:srgbClr>
            </a:solidFill>
            <a:prstDash val="solid"/>
          </a:ln>
        </p:spPr>
      </p:sp>
      <p:sp>
        <p:nvSpPr>
          <p:cNvPr id="9" name="Shape 7"/>
          <p:cNvSpPr/>
          <p:nvPr/>
        </p:nvSpPr>
        <p:spPr>
          <a:xfrm>
            <a:off x="9253728" y="1865376"/>
            <a:ext cx="640080" cy="640080"/>
          </a:xfrm>
          <a:prstGeom prst="roundRect">
            <a:avLst>
              <a:gd name="adj" fmla="val 11429"/>
            </a:avLst>
          </a:prstGeom>
          <a:solidFill>
            <a:srgbClr val="1BAF7A">
              <a:alpha val="56000"/>
            </a:srgbClr>
          </a:solidFill>
          <a:ln w="12700">
            <a:solidFill>
              <a:srgbClr val="1BAF7A">
                <a:alpha val="40000"/>
              </a:srgbClr>
            </a:solidFill>
            <a:prstDash val="solid"/>
          </a:ln>
        </p:spPr>
      </p:sp>
      <p:sp>
        <p:nvSpPr>
          <p:cNvPr id="10" name="Shape 8"/>
          <p:cNvSpPr/>
          <p:nvPr/>
        </p:nvSpPr>
        <p:spPr>
          <a:xfrm>
            <a:off x="9966960"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1" name="Shape 9"/>
          <p:cNvSpPr/>
          <p:nvPr/>
        </p:nvSpPr>
        <p:spPr>
          <a:xfrm>
            <a:off x="10680192"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2" name="Text 10"/>
          <p:cNvSpPr txBox="1"/>
          <p:nvPr/>
        </p:nvSpPr>
        <p:spPr>
          <a:xfrm>
            <a:off x="7589520" y="2542032"/>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good</a:t>
            </a:r>
            <a:endParaRPr lang="en-US" sz="1300" dirty="0"/>
          </a:p>
        </p:txBody>
      </p:sp>
      <p:sp>
        <p:nvSpPr>
          <p:cNvPr id="13" name="Text 11"/>
          <p:cNvSpPr txBox="1"/>
          <p:nvPr/>
        </p:nvSpPr>
        <p:spPr>
          <a:xfrm>
            <a:off x="9217152"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good</a:t>
            </a:r>
            <a:endParaRPr lang="en-US" sz="1300" dirty="0"/>
          </a:p>
        </p:txBody>
      </p:sp>
      <p:sp>
        <p:nvSpPr>
          <p:cNvPr id="14" name="Shape 12"/>
          <p:cNvSpPr/>
          <p:nvPr/>
        </p:nvSpPr>
        <p:spPr>
          <a:xfrm>
            <a:off x="8540496" y="2578608"/>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15" name="Shape 13"/>
          <p:cNvSpPr/>
          <p:nvPr/>
        </p:nvSpPr>
        <p:spPr>
          <a:xfrm>
            <a:off x="9253728" y="2578608"/>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16" name="Shape 14"/>
          <p:cNvSpPr/>
          <p:nvPr/>
        </p:nvSpPr>
        <p:spPr>
          <a:xfrm>
            <a:off x="9966960"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7" name="Shape 15"/>
          <p:cNvSpPr/>
          <p:nvPr/>
        </p:nvSpPr>
        <p:spPr>
          <a:xfrm>
            <a:off x="10680192"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8" name="Text 16"/>
          <p:cNvSpPr txBox="1"/>
          <p:nvPr/>
        </p:nvSpPr>
        <p:spPr>
          <a:xfrm>
            <a:off x="7589520" y="3255264"/>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but</a:t>
            </a:r>
            <a:endParaRPr lang="en-US" sz="1300" dirty="0"/>
          </a:p>
        </p:txBody>
      </p:sp>
      <p:sp>
        <p:nvSpPr>
          <p:cNvPr id="19" name="Text 17"/>
          <p:cNvSpPr txBox="1"/>
          <p:nvPr/>
        </p:nvSpPr>
        <p:spPr>
          <a:xfrm>
            <a:off x="9930384"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but</a:t>
            </a:r>
            <a:endParaRPr lang="en-US" sz="1300" dirty="0"/>
          </a:p>
        </p:txBody>
      </p:sp>
      <p:sp>
        <p:nvSpPr>
          <p:cNvPr id="20" name="Shape 18"/>
          <p:cNvSpPr/>
          <p:nvPr/>
        </p:nvSpPr>
        <p:spPr>
          <a:xfrm>
            <a:off x="8540496" y="3291840"/>
            <a:ext cx="640080" cy="640080"/>
          </a:xfrm>
          <a:prstGeom prst="roundRect">
            <a:avLst>
              <a:gd name="adj" fmla="val 11429"/>
            </a:avLst>
          </a:prstGeom>
          <a:solidFill>
            <a:srgbClr val="1BAF7A">
              <a:alpha val="16000"/>
            </a:srgbClr>
          </a:solidFill>
          <a:ln w="12700">
            <a:solidFill>
              <a:srgbClr val="1BAF7A">
                <a:alpha val="40000"/>
              </a:srgbClr>
            </a:solidFill>
            <a:prstDash val="solid"/>
          </a:ln>
        </p:spPr>
      </p:sp>
      <p:sp>
        <p:nvSpPr>
          <p:cNvPr id="21" name="Shape 19"/>
          <p:cNvSpPr/>
          <p:nvPr/>
        </p:nvSpPr>
        <p:spPr>
          <a:xfrm>
            <a:off x="9253728" y="3291840"/>
            <a:ext cx="640080" cy="640080"/>
          </a:xfrm>
          <a:prstGeom prst="roundRect">
            <a:avLst>
              <a:gd name="adj" fmla="val 11429"/>
            </a:avLst>
          </a:prstGeom>
          <a:solidFill>
            <a:srgbClr val="1BAF7A">
              <a:alpha val="32000"/>
            </a:srgbClr>
          </a:solidFill>
          <a:ln w="12700">
            <a:solidFill>
              <a:srgbClr val="1BAF7A">
                <a:alpha val="40000"/>
              </a:srgbClr>
            </a:solidFill>
            <a:prstDash val="solid"/>
          </a:ln>
        </p:spPr>
      </p:sp>
      <p:sp>
        <p:nvSpPr>
          <p:cNvPr id="22" name="Shape 20"/>
          <p:cNvSpPr/>
          <p:nvPr/>
        </p:nvSpPr>
        <p:spPr>
          <a:xfrm>
            <a:off x="9966960" y="3291840"/>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3" name="Shape 21"/>
          <p:cNvSpPr/>
          <p:nvPr/>
        </p:nvSpPr>
        <p:spPr>
          <a:xfrm>
            <a:off x="10680192" y="3291840"/>
            <a:ext cx="640080" cy="640080"/>
          </a:xfrm>
          <a:prstGeom prst="roundRect">
            <a:avLst>
              <a:gd name="adj" fmla="val 11429"/>
            </a:avLst>
          </a:prstGeom>
          <a:solidFill>
            <a:srgbClr val="1BAF7A">
              <a:alpha val="64000"/>
            </a:srgbClr>
          </a:solidFill>
          <a:ln w="12700">
            <a:solidFill>
              <a:srgbClr val="1BAF7A">
                <a:alpha val="40000"/>
              </a:srgbClr>
            </a:solidFill>
            <a:prstDash val="solid"/>
          </a:ln>
        </p:spPr>
      </p:sp>
      <p:sp>
        <p:nvSpPr>
          <p:cNvPr id="24" name="Text 22"/>
          <p:cNvSpPr txBox="1"/>
          <p:nvPr/>
        </p:nvSpPr>
        <p:spPr>
          <a:xfrm>
            <a:off x="7589520" y="3968496"/>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great</a:t>
            </a:r>
            <a:endParaRPr lang="en-US" sz="1300" dirty="0"/>
          </a:p>
        </p:txBody>
      </p:sp>
      <p:sp>
        <p:nvSpPr>
          <p:cNvPr id="25" name="Text 23"/>
          <p:cNvSpPr txBox="1"/>
          <p:nvPr/>
        </p:nvSpPr>
        <p:spPr>
          <a:xfrm>
            <a:off x="10643616"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great</a:t>
            </a:r>
            <a:endParaRPr lang="en-US" sz="1300" dirty="0"/>
          </a:p>
        </p:txBody>
      </p:sp>
      <p:sp>
        <p:nvSpPr>
          <p:cNvPr id="26" name="Shape 24"/>
          <p:cNvSpPr/>
          <p:nvPr/>
        </p:nvSpPr>
        <p:spPr>
          <a:xfrm>
            <a:off x="8540496"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7" name="Shape 25"/>
          <p:cNvSpPr/>
          <p:nvPr/>
        </p:nvSpPr>
        <p:spPr>
          <a:xfrm>
            <a:off x="9253728"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8" name="Shape 26"/>
          <p:cNvSpPr/>
          <p:nvPr/>
        </p:nvSpPr>
        <p:spPr>
          <a:xfrm>
            <a:off x="9966960" y="4005072"/>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9" name="Shape 27"/>
          <p:cNvSpPr/>
          <p:nvPr/>
        </p:nvSpPr>
        <p:spPr>
          <a:xfrm>
            <a:off x="10680192" y="4005072"/>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30" name="Text 28"/>
          <p:cNvSpPr txBox="1"/>
          <p:nvPr/>
        </p:nvSpPr>
        <p:spPr>
          <a:xfrm>
            <a:off x="8503920" y="4773168"/>
            <a:ext cx="2926080" cy="320040"/>
          </a:xfrm>
          <a:prstGeom prst="rect">
            <a:avLst/>
          </a:prstGeom>
          <a:noFill/>
          <a:ln/>
        </p:spPr>
        <p:txBody>
          <a:bodyPr wrap="square" lIns="0" tIns="0" rIns="0" bIns="0" rtlCol="0" anchor="ctr"/>
          <a:lstStyle/>
          <a:p>
            <a:pPr algn="ctr" indent="0" marL="0">
              <a:buNone/>
            </a:pPr>
            <a:r>
              <a:rPr lang="en-US" sz="1200" i="1" dirty="0">
                <a:solidFill>
                  <a:srgbClr val="B8B8D0"/>
                </a:solidFill>
              </a:rPr>
              <a:t>self-attention weights</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From reading word by word to reading all at once</a:t>
            </a:r>
            <a:endParaRPr lang="en-US" sz="3200" dirty="0"/>
          </a:p>
        </p:txBody>
      </p:sp>
      <p:sp>
        <p:nvSpPr>
          <p:cNvPr id="3" name="card"/>
          <p:cNvSpPr/>
          <p:nvPr/>
        </p:nvSpPr>
        <p:spPr>
          <a:xfrm>
            <a:off x="548640" y="1371600"/>
            <a:ext cx="5349240" cy="4480560"/>
          </a:xfrm>
          <a:prstGeom prst="roundRect">
            <a:avLst>
              <a:gd name="adj" fmla="val 2449"/>
            </a:avLst>
          </a:prstGeom>
          <a:solidFill>
            <a:srgbClr val="EEF0FA"/>
          </a:solidFill>
          <a:ln w="12700">
            <a:solidFill>
              <a:srgbClr val="EEF0FA"/>
            </a:solidFill>
            <a:prstDash val="solid"/>
          </a:ln>
        </p:spPr>
      </p:sp>
      <p:sp>
        <p:nvSpPr>
          <p:cNvPr id="4" name="card"/>
          <p:cNvSpPr/>
          <p:nvPr/>
        </p:nvSpPr>
        <p:spPr>
          <a:xfrm>
            <a:off x="6263640" y="1371600"/>
            <a:ext cx="5349240" cy="4480560"/>
          </a:xfrm>
          <a:prstGeom prst="roundRect">
            <a:avLst>
              <a:gd name="adj" fmla="val 2449"/>
            </a:avLst>
          </a:prstGeom>
          <a:solidFill>
            <a:srgbClr val="E6F6EF"/>
          </a:solidFill>
          <a:ln w="12700">
            <a:solidFill>
              <a:srgbClr val="E6F6EF"/>
            </a:solidFill>
            <a:prstDash val="solid"/>
          </a:ln>
        </p:spPr>
      </p:sp>
      <p:sp>
        <p:nvSpPr>
          <p:cNvPr id="5" name="Shape 3"/>
          <p:cNvSpPr/>
          <p:nvPr/>
        </p:nvSpPr>
        <p:spPr>
          <a:xfrm>
            <a:off x="868680" y="1691640"/>
            <a:ext cx="731520" cy="731520"/>
          </a:xfrm>
          <a:prstGeom prst="ellipse">
            <a:avLst/>
          </a:prstGeom>
          <a:solidFill>
            <a:srgbClr val="EB6834"/>
          </a:solidFill>
          <a:ln w="12700">
            <a:solidFill>
              <a:srgbClr val="EB6834"/>
            </a:solidFill>
            <a:prstDash val="solid"/>
          </a:ln>
        </p:spPr>
      </p:sp>
      <p:pic>
        <p:nvPicPr>
          <p:cNvPr id="6" name="Image 0" descr="preencoded.png">    </p:cNvPr>
          <p:cNvPicPr>
            <a:picLocks noChangeAspect="1"/>
          </p:cNvPicPr>
          <p:nvPr/>
        </p:nvPicPr>
        <p:blipFill>
          <a:blip r:embed="rId1"/>
          <a:stretch>
            <a:fillRect/>
          </a:stretch>
        </p:blipFill>
        <p:spPr>
          <a:xfrm>
            <a:off x="1044245" y="1867205"/>
            <a:ext cx="380390" cy="380390"/>
          </a:xfrm>
          <a:prstGeom prst="rect">
            <a:avLst/>
          </a:prstGeom>
        </p:spPr>
      </p:pic>
      <p:sp>
        <p:nvSpPr>
          <p:cNvPr id="7" name="Shape 4"/>
          <p:cNvSpPr/>
          <p:nvPr/>
        </p:nvSpPr>
        <p:spPr>
          <a:xfrm>
            <a:off x="6583680" y="1691640"/>
            <a:ext cx="731520" cy="731520"/>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6759245" y="1867205"/>
            <a:ext cx="380390" cy="380390"/>
          </a:xfrm>
          <a:prstGeom prst="rect">
            <a:avLst/>
          </a:prstGeom>
        </p:spPr>
      </p:pic>
      <p:sp>
        <p:nvSpPr>
          <p:cNvPr id="9" name="Text 5"/>
          <p:cNvSpPr txBox="1"/>
          <p:nvPr/>
        </p:nvSpPr>
        <p:spPr>
          <a:xfrm>
            <a:off x="1783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Recurrent networks (LSTM)</a:t>
            </a:r>
            <a:endParaRPr lang="en-US" sz="2200" dirty="0"/>
          </a:p>
        </p:txBody>
      </p:sp>
      <p:sp>
        <p:nvSpPr>
          <p:cNvPr id="10" name="Text 6"/>
          <p:cNvSpPr txBox="1"/>
          <p:nvPr/>
        </p:nvSpPr>
        <p:spPr>
          <a:xfrm>
            <a:off x="7498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Transformer (2017)</a:t>
            </a:r>
            <a:endParaRPr lang="en-US" sz="2200" dirty="0"/>
          </a:p>
        </p:txBody>
      </p:sp>
      <p:sp>
        <p:nvSpPr>
          <p:cNvPr id="11" name="Text 7"/>
          <p:cNvSpPr txBox="1"/>
          <p:nvPr/>
        </p:nvSpPr>
        <p:spPr>
          <a:xfrm>
            <a:off x="914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Process tokens one after another</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n sequential steps – slow to train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Distant words interact only through a long chain of states</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Trained from scratch for each task</a:t>
            </a:r>
            <a:endParaRPr lang="en-US" sz="1600" dirty="0"/>
          </a:p>
        </p:txBody>
      </p:sp>
      <p:sp>
        <p:nvSpPr>
          <p:cNvPr id="12" name="Text 8"/>
          <p:cNvSpPr txBox="1"/>
          <p:nvPr/>
        </p:nvSpPr>
        <p:spPr>
          <a:xfrm>
            <a:off x="6629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Every token attends to every other token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All positions computed in parallel on GPU/CPU</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Pre-train once on huge unlabelled text, then fine-tune</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Basis of BERT, GPT, T5, ChatGPT, LitLat BERT…</a:t>
            </a:r>
            <a:endParaRPr lang="en-US" sz="16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Self-attention: each word looks at the whole sentence</a:t>
            </a:r>
            <a:endParaRPr lang="en-US" sz="3200" dirty="0"/>
          </a:p>
        </p:txBody>
      </p:sp>
      <p:pic>
        <p:nvPicPr>
          <p:cNvPr id="3" name="Image 0" descr="C:\Shashikanth_Data\VGTU\HomeWorks\NeuralNetwork\NLPTOPIC\Transformers-NLP\code\figures\diagram_encoder.png">    </p:cNvPr>
          <p:cNvPicPr>
            <a:picLocks noChangeAspect="1"/>
          </p:cNvPicPr>
          <p:nvPr/>
        </p:nvPicPr>
        <p:blipFill>
          <a:blip r:embed="rId1"/>
          <a:stretch>
            <a:fillRect/>
          </a:stretch>
        </p:blipFill>
        <p:spPr>
          <a:xfrm>
            <a:off x="564086" y="1234440"/>
            <a:ext cx="4175348" cy="4983480"/>
          </a:xfrm>
          <a:prstGeom prst="rect">
            <a:avLst/>
          </a:prstGeom>
        </p:spPr>
      </p:pic>
      <p:sp>
        <p:nvSpPr>
          <p:cNvPr id="4" name="card"/>
          <p:cNvSpPr/>
          <p:nvPr/>
        </p:nvSpPr>
        <p:spPr>
          <a:xfrm>
            <a:off x="5120640" y="1371600"/>
            <a:ext cx="6492240" cy="1234440"/>
          </a:xfrm>
          <a:prstGeom prst="roundRect">
            <a:avLst>
              <a:gd name="adj" fmla="val 8889"/>
            </a:avLst>
          </a:prstGeom>
          <a:solidFill>
            <a:srgbClr val="EEF0FA"/>
          </a:solidFill>
          <a:ln w="12700">
            <a:solidFill>
              <a:srgbClr val="EEF0FA"/>
            </a:solidFill>
            <a:prstDash val="solid"/>
          </a:ln>
        </p:spPr>
      </p:sp>
      <p:sp>
        <p:nvSpPr>
          <p:cNvPr id="5" name="Text 2"/>
          <p:cNvSpPr txBox="1"/>
          <p:nvPr/>
        </p:nvSpPr>
        <p:spPr>
          <a:xfrm>
            <a:off x="5349240" y="1463040"/>
            <a:ext cx="6126480" cy="640080"/>
          </a:xfrm>
          <a:prstGeom prst="rect">
            <a:avLst/>
          </a:prstGeom>
          <a:noFill/>
          <a:ln/>
        </p:spPr>
        <p:txBody>
          <a:bodyPr wrap="square" lIns="0" tIns="0" rIns="0" bIns="0" rtlCol="0" anchor="ctr"/>
          <a:lstStyle/>
          <a:p>
            <a:pPr algn="ctr" indent="0" marL="0">
              <a:buNone/>
            </a:pPr>
            <a:r>
              <a:rPr lang="en-US" sz="2400" b="1" dirty="0">
                <a:solidFill>
                  <a:srgbClr val="16163F"/>
                </a:solidFill>
                <a:latin typeface="Cambria" pitchFamily="34" charset="0"/>
                <a:ea typeface="Cambria" pitchFamily="34" charset="-122"/>
                <a:cs typeface="Cambria" pitchFamily="34" charset="-120"/>
              </a:rPr>
              <a:t>Attention(Q, K, V) = softmax( QKᵀ / √dₖ ) · V</a:t>
            </a:r>
            <a:endParaRPr lang="en-US" sz="2400" dirty="0"/>
          </a:p>
        </p:txBody>
      </p:sp>
      <p:sp>
        <p:nvSpPr>
          <p:cNvPr id="6" name="Text 3"/>
          <p:cNvSpPr txBox="1"/>
          <p:nvPr/>
        </p:nvSpPr>
        <p:spPr>
          <a:xfrm>
            <a:off x="5349240" y="2057400"/>
            <a:ext cx="6126480" cy="411480"/>
          </a:xfrm>
          <a:prstGeom prst="rect">
            <a:avLst/>
          </a:prstGeom>
          <a:noFill/>
          <a:ln/>
        </p:spPr>
        <p:txBody>
          <a:bodyPr wrap="square" lIns="0" tIns="0" rIns="0" bIns="0" rtlCol="0" anchor="ctr"/>
          <a:lstStyle/>
          <a:p>
            <a:pPr algn="ctr" indent="0" marL="0">
              <a:buNone/>
            </a:pPr>
            <a:r>
              <a:rPr lang="en-US" sz="1400" i="1" dirty="0">
                <a:solidFill>
                  <a:srgbClr val="52516E"/>
                </a:solidFill>
              </a:rPr>
              <a:t>queries · keys → weights → weighted mix of values</a:t>
            </a:r>
            <a:endParaRPr lang="en-US" sz="1400" dirty="0"/>
          </a:p>
        </p:txBody>
      </p:sp>
      <p:sp>
        <p:nvSpPr>
          <p:cNvPr id="7" name="Shape 4"/>
          <p:cNvSpPr/>
          <p:nvPr/>
        </p:nvSpPr>
        <p:spPr>
          <a:xfrm>
            <a:off x="5166360" y="2880360"/>
            <a:ext cx="566928" cy="566928"/>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5302423" y="3016423"/>
            <a:ext cx="294803" cy="294803"/>
          </a:xfrm>
          <a:prstGeom prst="rect">
            <a:avLst/>
          </a:prstGeom>
        </p:spPr>
      </p:pic>
      <p:sp>
        <p:nvSpPr>
          <p:cNvPr id="9" name="Text 5"/>
          <p:cNvSpPr txBox="1"/>
          <p:nvPr/>
        </p:nvSpPr>
        <p:spPr>
          <a:xfrm>
            <a:off x="5943600" y="2843784"/>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Sub-word tokens + position embeddings</a:t>
            </a:r>
            <a:endParaRPr lang="en-US" sz="1600" dirty="0"/>
          </a:p>
        </p:txBody>
      </p:sp>
      <p:sp>
        <p:nvSpPr>
          <p:cNvPr id="10" name="Text 6"/>
          <p:cNvSpPr txBox="1"/>
          <p:nvPr/>
        </p:nvSpPr>
        <p:spPr>
          <a:xfrm>
            <a:off x="5943600" y="3172968"/>
            <a:ext cx="5669280" cy="292608"/>
          </a:xfrm>
          <a:prstGeom prst="rect">
            <a:avLst/>
          </a:prstGeom>
          <a:noFill/>
          <a:ln/>
        </p:spPr>
        <p:txBody>
          <a:bodyPr wrap="square" lIns="0" tIns="0" rIns="0" bIns="0" rtlCol="0" anchor="ctr"/>
          <a:lstStyle/>
          <a:p>
            <a:pPr indent="0" marL="0">
              <a:buNone/>
            </a:pPr>
            <a:r>
              <a:rPr lang="en-US" sz="1300" dirty="0">
                <a:solidFill>
                  <a:srgbClr val="52516E"/>
                </a:solidFill>
              </a:rPr>
              <a:t>WordPiece: “unwatchable” → un ##watch ##able</a:t>
            </a:r>
            <a:endParaRPr lang="en-US" sz="1300" dirty="0"/>
          </a:p>
        </p:txBody>
      </p:sp>
      <p:sp>
        <p:nvSpPr>
          <p:cNvPr id="11" name="Shape 7"/>
          <p:cNvSpPr/>
          <p:nvPr/>
        </p:nvSpPr>
        <p:spPr>
          <a:xfrm>
            <a:off x="5166360" y="3721608"/>
            <a:ext cx="566928" cy="566928"/>
          </a:xfrm>
          <a:prstGeom prst="ellipse">
            <a:avLst/>
          </a:prstGeom>
          <a:solidFill>
            <a:srgbClr val="2A78D6"/>
          </a:solidFill>
          <a:ln w="12700">
            <a:solidFill>
              <a:srgbClr val="2A78D6"/>
            </a:solidFill>
            <a:prstDash val="solid"/>
          </a:ln>
        </p:spPr>
      </p:sp>
      <p:pic>
        <p:nvPicPr>
          <p:cNvPr id="12" name="Image 2" descr="preencoded.png">    </p:cNvPr>
          <p:cNvPicPr>
            <a:picLocks noChangeAspect="1"/>
          </p:cNvPicPr>
          <p:nvPr/>
        </p:nvPicPr>
        <p:blipFill>
          <a:blip r:embed="rId3"/>
          <a:stretch>
            <a:fillRect/>
          </a:stretch>
        </p:blipFill>
        <p:spPr>
          <a:xfrm>
            <a:off x="5302423" y="3857671"/>
            <a:ext cx="294803" cy="294803"/>
          </a:xfrm>
          <a:prstGeom prst="rect">
            <a:avLst/>
          </a:prstGeom>
        </p:spPr>
      </p:pic>
      <p:sp>
        <p:nvSpPr>
          <p:cNvPr id="13" name="Text 8"/>
          <p:cNvSpPr txBox="1"/>
          <p:nvPr/>
        </p:nvSpPr>
        <p:spPr>
          <a:xfrm>
            <a:off x="5943600" y="3685032"/>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Multi-head attention</a:t>
            </a:r>
            <a:endParaRPr lang="en-US" sz="1600" dirty="0"/>
          </a:p>
        </p:txBody>
      </p:sp>
      <p:sp>
        <p:nvSpPr>
          <p:cNvPr id="14" name="Text 9"/>
          <p:cNvSpPr txBox="1"/>
          <p:nvPr/>
        </p:nvSpPr>
        <p:spPr>
          <a:xfrm>
            <a:off x="5943600" y="4014216"/>
            <a:ext cx="5669280" cy="292608"/>
          </a:xfrm>
          <a:prstGeom prst="rect">
            <a:avLst/>
          </a:prstGeom>
          <a:noFill/>
          <a:ln/>
        </p:spPr>
        <p:txBody>
          <a:bodyPr wrap="square" lIns="0" tIns="0" rIns="0" bIns="0" rtlCol="0" anchor="ctr"/>
          <a:lstStyle/>
          <a:p>
            <a:pPr indent="0" marL="0">
              <a:buNone/>
            </a:pPr>
            <a:r>
              <a:rPr lang="en-US" sz="1300" dirty="0">
                <a:solidFill>
                  <a:srgbClr val="52516E"/>
                </a:solidFill>
              </a:rPr>
              <a:t>h heads learn different relations (negation scope, syntax)</a:t>
            </a:r>
            <a:endParaRPr lang="en-US" sz="1300" dirty="0"/>
          </a:p>
        </p:txBody>
      </p:sp>
      <p:sp>
        <p:nvSpPr>
          <p:cNvPr id="15" name="Shape 10"/>
          <p:cNvSpPr/>
          <p:nvPr/>
        </p:nvSpPr>
        <p:spPr>
          <a:xfrm>
            <a:off x="5166360" y="4562856"/>
            <a:ext cx="566928" cy="566928"/>
          </a:xfrm>
          <a:prstGeom prst="ellipse">
            <a:avLst/>
          </a:prstGeom>
          <a:solidFill>
            <a:srgbClr val="1BAF7A"/>
          </a:solidFill>
          <a:ln w="12700">
            <a:solidFill>
              <a:srgbClr val="1BAF7A"/>
            </a:solidFill>
            <a:prstDash val="solid"/>
          </a:ln>
        </p:spPr>
      </p:sp>
      <p:pic>
        <p:nvPicPr>
          <p:cNvPr id="16" name="Image 3" descr="preencoded.png">    </p:cNvPr>
          <p:cNvPicPr>
            <a:picLocks noChangeAspect="1"/>
          </p:cNvPicPr>
          <p:nvPr/>
        </p:nvPicPr>
        <p:blipFill>
          <a:blip r:embed="rId4"/>
          <a:stretch>
            <a:fillRect/>
          </a:stretch>
        </p:blipFill>
        <p:spPr>
          <a:xfrm>
            <a:off x="5302423" y="4698919"/>
            <a:ext cx="294803" cy="294803"/>
          </a:xfrm>
          <a:prstGeom prst="rect">
            <a:avLst/>
          </a:prstGeom>
        </p:spPr>
      </p:pic>
      <p:sp>
        <p:nvSpPr>
          <p:cNvPr id="17" name="Text 11"/>
          <p:cNvSpPr txBox="1"/>
          <p:nvPr/>
        </p:nvSpPr>
        <p:spPr>
          <a:xfrm>
            <a:off x="5943600" y="4526280"/>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Feed-forward + residual + LayerNorm</a:t>
            </a:r>
            <a:endParaRPr lang="en-US" sz="1600" dirty="0"/>
          </a:p>
        </p:txBody>
      </p:sp>
      <p:sp>
        <p:nvSpPr>
          <p:cNvPr id="18" name="Text 12"/>
          <p:cNvSpPr txBox="1"/>
          <p:nvPr/>
        </p:nvSpPr>
        <p:spPr>
          <a:xfrm>
            <a:off x="5943600" y="4855464"/>
            <a:ext cx="5669280" cy="292608"/>
          </a:xfrm>
          <a:prstGeom prst="rect">
            <a:avLst/>
          </a:prstGeom>
          <a:noFill/>
          <a:ln/>
        </p:spPr>
        <p:txBody>
          <a:bodyPr wrap="square" lIns="0" tIns="0" rIns="0" bIns="0" rtlCol="0" anchor="ctr"/>
          <a:lstStyle/>
          <a:p>
            <a:pPr indent="0" marL="0">
              <a:buNone/>
            </a:pPr>
            <a:r>
              <a:rPr lang="en-US" sz="1300" dirty="0">
                <a:solidFill>
                  <a:srgbClr val="52516E"/>
                </a:solidFill>
              </a:rPr>
              <a:t>Stacked L times (2 / 4 / 6 layers in our models)</a:t>
            </a:r>
            <a:endParaRPr lang="en-US" sz="1300" dirty="0"/>
          </a:p>
        </p:txBody>
      </p:sp>
      <p:sp>
        <p:nvSpPr>
          <p:cNvPr id="19" name="Shape 13"/>
          <p:cNvSpPr/>
          <p:nvPr/>
        </p:nvSpPr>
        <p:spPr>
          <a:xfrm>
            <a:off x="5166360" y="5404104"/>
            <a:ext cx="566928" cy="566928"/>
          </a:xfrm>
          <a:prstGeom prst="ellipse">
            <a:avLst/>
          </a:prstGeom>
          <a:solidFill>
            <a:srgbClr val="2A78D6"/>
          </a:solidFill>
          <a:ln w="12700">
            <a:solidFill>
              <a:srgbClr val="2A78D6"/>
            </a:solidFill>
            <a:prstDash val="solid"/>
          </a:ln>
        </p:spPr>
      </p:sp>
      <p:pic>
        <p:nvPicPr>
          <p:cNvPr id="20" name="Image 4" descr="preencoded.png">    </p:cNvPr>
          <p:cNvPicPr>
            <a:picLocks noChangeAspect="1"/>
          </p:cNvPicPr>
          <p:nvPr/>
        </p:nvPicPr>
        <p:blipFill>
          <a:blip r:embed="rId5"/>
          <a:stretch>
            <a:fillRect/>
          </a:stretch>
        </p:blipFill>
        <p:spPr>
          <a:xfrm>
            <a:off x="5302423" y="5540167"/>
            <a:ext cx="294803" cy="294803"/>
          </a:xfrm>
          <a:prstGeom prst="rect">
            <a:avLst/>
          </a:prstGeom>
        </p:spPr>
      </p:pic>
      <p:sp>
        <p:nvSpPr>
          <p:cNvPr id="21" name="Text 14"/>
          <p:cNvSpPr txBox="1"/>
          <p:nvPr/>
        </p:nvSpPr>
        <p:spPr>
          <a:xfrm>
            <a:off x="5943600" y="5367528"/>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[CLS] vector → softmax classifier</a:t>
            </a:r>
            <a:endParaRPr lang="en-US" sz="1600" dirty="0"/>
          </a:p>
        </p:txBody>
      </p:sp>
      <p:sp>
        <p:nvSpPr>
          <p:cNvPr id="22" name="Text 15"/>
          <p:cNvSpPr txBox="1"/>
          <p:nvPr/>
        </p:nvSpPr>
        <p:spPr>
          <a:xfrm>
            <a:off x="5943600" y="5696712"/>
            <a:ext cx="5669280" cy="292608"/>
          </a:xfrm>
          <a:prstGeom prst="rect">
            <a:avLst/>
          </a:prstGeom>
          <a:noFill/>
          <a:ln/>
        </p:spPr>
        <p:txBody>
          <a:bodyPr wrap="square" lIns="0" tIns="0" rIns="0" bIns="0" rtlCol="0" anchor="ctr"/>
          <a:lstStyle/>
          <a:p>
            <a:pPr indent="0" marL="0">
              <a:buNone/>
            </a:pPr>
            <a:r>
              <a:rPr lang="en-US" sz="1300" dirty="0">
                <a:solidFill>
                  <a:srgbClr val="52516E"/>
                </a:solidFill>
              </a:rPr>
              <a:t>Whole network fine-tuned with cross-entropy + AdamW</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Literature: what is known, and what is missing</a:t>
            </a:r>
            <a:endParaRPr lang="en-US" sz="3200" dirty="0"/>
          </a:p>
        </p:txBody>
      </p:sp>
      <p:sp>
        <p:nvSpPr>
          <p:cNvPr id="3" name="card"/>
          <p:cNvSpPr/>
          <p:nvPr/>
        </p:nvSpPr>
        <p:spPr>
          <a:xfrm>
            <a:off x="548640" y="1280160"/>
            <a:ext cx="3474720" cy="868680"/>
          </a:xfrm>
          <a:prstGeom prst="roundRect">
            <a:avLst>
              <a:gd name="adj" fmla="val 12632"/>
            </a:avLst>
          </a:prstGeom>
          <a:solidFill>
            <a:srgbClr val="EEF0FA"/>
          </a:solidFill>
          <a:ln w="12700">
            <a:solidFill>
              <a:srgbClr val="EEF0FA"/>
            </a:solidFill>
            <a:prstDash val="solid"/>
          </a:ln>
        </p:spPr>
      </p:sp>
      <p:sp>
        <p:nvSpPr>
          <p:cNvPr id="4" name="Text 2"/>
          <p:cNvSpPr txBox="1"/>
          <p:nvPr/>
        </p:nvSpPr>
        <p:spPr>
          <a:xfrm>
            <a:off x="777240" y="1353312"/>
            <a:ext cx="3017520" cy="36576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Encoder-only</a:t>
            </a:r>
            <a:endParaRPr lang="en-US" sz="1700" dirty="0"/>
          </a:p>
        </p:txBody>
      </p:sp>
      <p:sp>
        <p:nvSpPr>
          <p:cNvPr id="5" name="Text 3"/>
          <p:cNvSpPr txBox="1"/>
          <p:nvPr/>
        </p:nvSpPr>
        <p:spPr>
          <a:xfrm>
            <a:off x="777240" y="1737360"/>
            <a:ext cx="3108960" cy="365760"/>
          </a:xfrm>
          <a:prstGeom prst="rect">
            <a:avLst/>
          </a:prstGeom>
          <a:noFill/>
          <a:ln/>
        </p:spPr>
        <p:txBody>
          <a:bodyPr wrap="square" lIns="0" tIns="0" rIns="0" bIns="0" rtlCol="0" anchor="ctr"/>
          <a:lstStyle/>
          <a:p>
            <a:pPr indent="0" marL="0">
              <a:buNone/>
            </a:pPr>
            <a:r>
              <a:rPr lang="en-US" sz="1250" b="1" dirty="0">
                <a:solidFill>
                  <a:srgbClr val="16163F"/>
                </a:solidFill>
              </a:rPr>
              <a:t>BERT, DistilBERT, RoBERTa</a:t>
            </a:r>
            <a:pPr indent="0" marL="0">
              <a:buNone/>
            </a:pPr>
            <a:r>
              <a:rPr lang="en-US" sz="1250" dirty="0">
                <a:solidFill>
                  <a:srgbClr val="52516E"/>
                </a:solidFill>
              </a:rPr>
              <a:t>  →  understanding, classification</a:t>
            </a:r>
            <a:endParaRPr lang="en-US" sz="1250" dirty="0"/>
          </a:p>
        </p:txBody>
      </p:sp>
      <p:sp>
        <p:nvSpPr>
          <p:cNvPr id="6" name="card"/>
          <p:cNvSpPr/>
          <p:nvPr/>
        </p:nvSpPr>
        <p:spPr>
          <a:xfrm>
            <a:off x="4297680" y="1280160"/>
            <a:ext cx="3474720" cy="868680"/>
          </a:xfrm>
          <a:prstGeom prst="roundRect">
            <a:avLst>
              <a:gd name="adj" fmla="val 12632"/>
            </a:avLst>
          </a:prstGeom>
          <a:solidFill>
            <a:srgbClr val="EEF0FA"/>
          </a:solidFill>
          <a:ln w="12700">
            <a:solidFill>
              <a:srgbClr val="EEF0FA"/>
            </a:solidFill>
            <a:prstDash val="solid"/>
          </a:ln>
        </p:spPr>
      </p:sp>
      <p:sp>
        <p:nvSpPr>
          <p:cNvPr id="7" name="Text 5"/>
          <p:cNvSpPr txBox="1"/>
          <p:nvPr/>
        </p:nvSpPr>
        <p:spPr>
          <a:xfrm>
            <a:off x="4526280" y="1353312"/>
            <a:ext cx="3017520" cy="365760"/>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Decoder-only</a:t>
            </a:r>
            <a:endParaRPr lang="en-US" sz="1700" dirty="0"/>
          </a:p>
        </p:txBody>
      </p:sp>
      <p:sp>
        <p:nvSpPr>
          <p:cNvPr id="8" name="Text 6"/>
          <p:cNvSpPr txBox="1"/>
          <p:nvPr/>
        </p:nvSpPr>
        <p:spPr>
          <a:xfrm>
            <a:off x="4526280" y="1737360"/>
            <a:ext cx="3108960" cy="365760"/>
          </a:xfrm>
          <a:prstGeom prst="rect">
            <a:avLst/>
          </a:prstGeom>
          <a:noFill/>
          <a:ln/>
        </p:spPr>
        <p:txBody>
          <a:bodyPr wrap="square" lIns="0" tIns="0" rIns="0" bIns="0" rtlCol="0" anchor="ctr"/>
          <a:lstStyle/>
          <a:p>
            <a:pPr indent="0" marL="0">
              <a:buNone/>
            </a:pPr>
            <a:r>
              <a:rPr lang="en-US" sz="1250" b="1" dirty="0">
                <a:solidFill>
                  <a:srgbClr val="16163F"/>
                </a:solidFill>
              </a:rPr>
              <a:t>GPT, Llama</a:t>
            </a:r>
            <a:pPr indent="0" marL="0">
              <a:buNone/>
            </a:pPr>
            <a:r>
              <a:rPr lang="en-US" sz="1250" dirty="0">
                <a:solidFill>
                  <a:srgbClr val="52516E"/>
                </a:solidFill>
              </a:rPr>
              <a:t>  →  text generation</a:t>
            </a:r>
            <a:endParaRPr lang="en-US" sz="1250" dirty="0"/>
          </a:p>
        </p:txBody>
      </p:sp>
      <p:sp>
        <p:nvSpPr>
          <p:cNvPr id="9" name="card"/>
          <p:cNvSpPr/>
          <p:nvPr/>
        </p:nvSpPr>
        <p:spPr>
          <a:xfrm>
            <a:off x="8046720" y="1280160"/>
            <a:ext cx="3474720" cy="868680"/>
          </a:xfrm>
          <a:prstGeom prst="roundRect">
            <a:avLst>
              <a:gd name="adj" fmla="val 12632"/>
            </a:avLst>
          </a:prstGeom>
          <a:solidFill>
            <a:srgbClr val="EEF0FA"/>
          </a:solidFill>
          <a:ln w="12700">
            <a:solidFill>
              <a:srgbClr val="EEF0FA"/>
            </a:solidFill>
            <a:prstDash val="solid"/>
          </a:ln>
        </p:spPr>
      </p:sp>
      <p:sp>
        <p:nvSpPr>
          <p:cNvPr id="10" name="Text 8"/>
          <p:cNvSpPr txBox="1"/>
          <p:nvPr/>
        </p:nvSpPr>
        <p:spPr>
          <a:xfrm>
            <a:off x="8275320" y="1353312"/>
            <a:ext cx="3017520" cy="365760"/>
          </a:xfrm>
          <a:prstGeom prst="rect">
            <a:avLst/>
          </a:prstGeom>
          <a:noFill/>
          <a:ln/>
        </p:spPr>
        <p:txBody>
          <a:bodyPr wrap="square" lIns="0" tIns="0" rIns="0" bIns="0" rtlCol="0" anchor="ctr"/>
          <a:lstStyle/>
          <a:p>
            <a:pPr indent="0" marL="0">
              <a:buNone/>
            </a:pPr>
            <a:r>
              <a:rPr lang="en-US" sz="1700" b="1" dirty="0">
                <a:solidFill>
                  <a:srgbClr val="6250D6"/>
                </a:solidFill>
                <a:latin typeface="Cambria" pitchFamily="34" charset="0"/>
                <a:ea typeface="Cambria" pitchFamily="34" charset="-122"/>
                <a:cs typeface="Cambria" pitchFamily="34" charset="-120"/>
              </a:rPr>
              <a:t>Encoder–decoder</a:t>
            </a:r>
            <a:endParaRPr lang="en-US" sz="1700" dirty="0"/>
          </a:p>
        </p:txBody>
      </p:sp>
      <p:sp>
        <p:nvSpPr>
          <p:cNvPr id="11" name="Text 9"/>
          <p:cNvSpPr txBox="1"/>
          <p:nvPr/>
        </p:nvSpPr>
        <p:spPr>
          <a:xfrm>
            <a:off x="8275320" y="1737360"/>
            <a:ext cx="3108960" cy="365760"/>
          </a:xfrm>
          <a:prstGeom prst="rect">
            <a:avLst/>
          </a:prstGeom>
          <a:noFill/>
          <a:ln/>
        </p:spPr>
        <p:txBody>
          <a:bodyPr wrap="square" lIns="0" tIns="0" rIns="0" bIns="0" rtlCol="0" anchor="ctr"/>
          <a:lstStyle/>
          <a:p>
            <a:pPr indent="0" marL="0">
              <a:buNone/>
            </a:pPr>
            <a:r>
              <a:rPr lang="en-US" sz="1250" b="1" dirty="0">
                <a:solidFill>
                  <a:srgbClr val="16163F"/>
                </a:solidFill>
              </a:rPr>
              <a:t>T5, BART</a:t>
            </a:r>
            <a:pPr indent="0" marL="0">
              <a:buNone/>
            </a:pPr>
            <a:r>
              <a:rPr lang="en-US" sz="1250" dirty="0">
                <a:solidFill>
                  <a:srgbClr val="52516E"/>
                </a:solidFill>
              </a:rPr>
              <a:t>  →  translation, summaries</a:t>
            </a:r>
            <a:endParaRPr lang="en-US" sz="1250" dirty="0"/>
          </a:p>
        </p:txBody>
      </p:sp>
      <p:sp>
        <p:nvSpPr>
          <p:cNvPr id="12" name="card"/>
          <p:cNvSpPr/>
          <p:nvPr/>
        </p:nvSpPr>
        <p:spPr>
          <a:xfrm>
            <a:off x="548640" y="2377440"/>
            <a:ext cx="6766560" cy="3749040"/>
          </a:xfrm>
          <a:prstGeom prst="roundRect">
            <a:avLst>
              <a:gd name="adj" fmla="val 2927"/>
            </a:avLst>
          </a:prstGeom>
          <a:solidFill>
            <a:srgbClr val="EEF0FA"/>
          </a:solidFill>
          <a:ln w="12700">
            <a:solidFill>
              <a:srgbClr val="EEF0FA"/>
            </a:solidFill>
            <a:prstDash val="solid"/>
          </a:ln>
        </p:spPr>
      </p:sp>
      <p:sp>
        <p:nvSpPr>
          <p:cNvPr id="13" name="Shape 11"/>
          <p:cNvSpPr/>
          <p:nvPr/>
        </p:nvSpPr>
        <p:spPr>
          <a:xfrm>
            <a:off x="777240" y="2542032"/>
            <a:ext cx="548640" cy="548640"/>
          </a:xfrm>
          <a:prstGeom prst="ellipse">
            <a:avLst/>
          </a:prstGeom>
          <a:solidFill>
            <a:srgbClr val="2A78D6"/>
          </a:solidFill>
          <a:ln w="12700">
            <a:solidFill>
              <a:srgbClr val="2A78D6"/>
            </a:solidFill>
            <a:prstDash val="solid"/>
          </a:ln>
        </p:spPr>
      </p:sp>
      <p:pic>
        <p:nvPicPr>
          <p:cNvPr id="14" name="Image 0" descr="preencoded.png">    </p:cNvPr>
          <p:cNvPicPr>
            <a:picLocks noChangeAspect="1"/>
          </p:cNvPicPr>
          <p:nvPr/>
        </p:nvPicPr>
        <p:blipFill>
          <a:blip r:embed="rId1"/>
          <a:stretch>
            <a:fillRect/>
          </a:stretch>
        </p:blipFill>
        <p:spPr>
          <a:xfrm>
            <a:off x="908914" y="2673706"/>
            <a:ext cx="285293" cy="285293"/>
          </a:xfrm>
          <a:prstGeom prst="rect">
            <a:avLst/>
          </a:prstGeom>
        </p:spPr>
      </p:pic>
      <p:sp>
        <p:nvSpPr>
          <p:cNvPr id="15" name="Text 12"/>
          <p:cNvSpPr txBox="1"/>
          <p:nvPr/>
        </p:nvSpPr>
        <p:spPr>
          <a:xfrm>
            <a:off x="1463040" y="2542032"/>
            <a:ext cx="5029200" cy="548640"/>
          </a:xfrm>
          <a:prstGeom prst="rect">
            <a:avLst/>
          </a:prstGeom>
          <a:noFill/>
          <a:ln/>
        </p:spPr>
        <p:txBody>
          <a:bodyPr wrap="square" lIns="0" tIns="0" rIns="0" bIns="0" rtlCol="0" anchor="ctr"/>
          <a:lstStyle/>
          <a:p>
            <a:pPr indent="0" marL="0">
              <a:buNone/>
            </a:pPr>
            <a:r>
              <a:rPr lang="en-US" sz="2000" b="1" dirty="0">
                <a:solidFill>
                  <a:srgbClr val="16163F"/>
                </a:solidFill>
                <a:latin typeface="Cambria" pitchFamily="34" charset="0"/>
                <a:ea typeface="Cambria" pitchFamily="34" charset="-122"/>
                <a:cs typeface="Cambria" pitchFamily="34" charset="-120"/>
              </a:rPr>
              <a:t>What the studies show</a:t>
            </a:r>
            <a:endParaRPr lang="en-US" sz="2000" dirty="0"/>
          </a:p>
        </p:txBody>
      </p:sp>
      <p:sp>
        <p:nvSpPr>
          <p:cNvPr id="16" name="Shape 13"/>
          <p:cNvSpPr/>
          <p:nvPr/>
        </p:nvSpPr>
        <p:spPr>
          <a:xfrm>
            <a:off x="777240" y="3337560"/>
            <a:ext cx="384048" cy="384048"/>
          </a:xfrm>
          <a:prstGeom prst="ellipse">
            <a:avLst/>
          </a:prstGeom>
          <a:solidFill>
            <a:srgbClr val="2E2A6B"/>
          </a:solidFill>
          <a:ln w="12700">
            <a:solidFill>
              <a:srgbClr val="2E2A6B"/>
            </a:solidFill>
            <a:prstDash val="solid"/>
          </a:ln>
        </p:spPr>
      </p:sp>
      <p:sp>
        <p:nvSpPr>
          <p:cNvPr id="17" name="Text 14"/>
          <p:cNvSpPr txBox="1"/>
          <p:nvPr/>
        </p:nvSpPr>
        <p:spPr>
          <a:xfrm>
            <a:off x="777240" y="3337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325880" y="3291840"/>
            <a:ext cx="5806440" cy="868680"/>
          </a:xfrm>
          <a:prstGeom prst="rect">
            <a:avLst/>
          </a:prstGeom>
          <a:noFill/>
          <a:ln/>
        </p:spPr>
        <p:txBody>
          <a:bodyPr wrap="square" lIns="0" tIns="0" rIns="0" bIns="0" rtlCol="0" anchor="t"/>
          <a:lstStyle/>
          <a:p>
            <a:pPr indent="0" marL="0">
              <a:buNone/>
            </a:pPr>
            <a:r>
              <a:rPr lang="en-US" sz="1450" b="1" dirty="0">
                <a:solidFill>
                  <a:srgbClr val="16163F"/>
                </a:solidFill>
              </a:rPr>
              <a:t>Transformers are the most accurate.</a:t>
            </a:r>
            <a:pPr indent="0" marL="0">
              <a:buNone/>
            </a:pPr>
            <a:r>
              <a:rPr lang="en-US" sz="1450" dirty="0">
                <a:solidFill>
                  <a:srgbClr val="3B3A55"/>
                </a:solidFill>
              </a:rPr>
              <a:t> Fine-tuned BERT-type models exceed 90% on SST-2; classical models reach about 79–83%.</a:t>
            </a:r>
            <a:endParaRPr lang="en-US" sz="1450" dirty="0"/>
          </a:p>
        </p:txBody>
      </p:sp>
      <p:sp>
        <p:nvSpPr>
          <p:cNvPr id="19" name="Shape 16"/>
          <p:cNvSpPr/>
          <p:nvPr/>
        </p:nvSpPr>
        <p:spPr>
          <a:xfrm>
            <a:off x="777240" y="4270248"/>
            <a:ext cx="384048" cy="384048"/>
          </a:xfrm>
          <a:prstGeom prst="ellipse">
            <a:avLst/>
          </a:prstGeom>
          <a:solidFill>
            <a:srgbClr val="2E2A6B"/>
          </a:solidFill>
          <a:ln w="12700">
            <a:solidFill>
              <a:srgbClr val="2E2A6B"/>
            </a:solidFill>
            <a:prstDash val="solid"/>
          </a:ln>
        </p:spPr>
      </p:sp>
      <p:sp>
        <p:nvSpPr>
          <p:cNvPr id="20" name="Text 17"/>
          <p:cNvSpPr txBox="1"/>
          <p:nvPr/>
        </p:nvSpPr>
        <p:spPr>
          <a:xfrm>
            <a:off x="777240" y="4270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1" name="Text 18"/>
          <p:cNvSpPr txBox="1"/>
          <p:nvPr/>
        </p:nvSpPr>
        <p:spPr>
          <a:xfrm>
            <a:off x="1325880" y="4224528"/>
            <a:ext cx="5806440" cy="868680"/>
          </a:xfrm>
          <a:prstGeom prst="rect">
            <a:avLst/>
          </a:prstGeom>
          <a:noFill/>
          <a:ln/>
        </p:spPr>
        <p:txBody>
          <a:bodyPr wrap="square" lIns="0" tIns="0" rIns="0" bIns="0" rtlCol="0" anchor="t"/>
          <a:lstStyle/>
          <a:p>
            <a:pPr indent="0" marL="0">
              <a:buNone/>
            </a:pPr>
            <a:r>
              <a:rPr lang="en-US" sz="1450" b="1" dirty="0">
                <a:solidFill>
                  <a:srgbClr val="16163F"/>
                </a:solidFill>
              </a:rPr>
              <a:t>Without pre-training, small data is a problem.</a:t>
            </a:r>
            <a:pPr indent="0" marL="0">
              <a:buNone/>
            </a:pPr>
            <a:r>
              <a:rPr lang="en-US" sz="1450" dirty="0">
                <a:solidFill>
                  <a:srgbClr val="3B3A55"/>
                </a:solidFill>
              </a:rPr>
              <a:t> In Lithuania a simple naive Bayes (0.735) beat LSTM and CNN networks (0.706) (Kapočiūtė-Dzikienė et al., 2019).</a:t>
            </a:r>
            <a:endParaRPr lang="en-US" sz="1450" dirty="0"/>
          </a:p>
        </p:txBody>
      </p:sp>
      <p:sp>
        <p:nvSpPr>
          <p:cNvPr id="22" name="Shape 19"/>
          <p:cNvSpPr/>
          <p:nvPr/>
        </p:nvSpPr>
        <p:spPr>
          <a:xfrm>
            <a:off x="777240" y="5202936"/>
            <a:ext cx="384048" cy="384048"/>
          </a:xfrm>
          <a:prstGeom prst="ellipse">
            <a:avLst/>
          </a:prstGeom>
          <a:solidFill>
            <a:srgbClr val="2E2A6B"/>
          </a:solidFill>
          <a:ln w="12700">
            <a:solidFill>
              <a:srgbClr val="2E2A6B"/>
            </a:solidFill>
            <a:prstDash val="solid"/>
          </a:ln>
        </p:spPr>
      </p:sp>
      <p:sp>
        <p:nvSpPr>
          <p:cNvPr id="23" name="Text 20"/>
          <p:cNvSpPr txBox="1"/>
          <p:nvPr/>
        </p:nvSpPr>
        <p:spPr>
          <a:xfrm>
            <a:off x="777240"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4" name="Text 21"/>
          <p:cNvSpPr txBox="1"/>
          <p:nvPr/>
        </p:nvSpPr>
        <p:spPr>
          <a:xfrm>
            <a:off x="1325880" y="5157216"/>
            <a:ext cx="5806440" cy="868680"/>
          </a:xfrm>
          <a:prstGeom prst="rect">
            <a:avLst/>
          </a:prstGeom>
          <a:noFill/>
          <a:ln/>
        </p:spPr>
        <p:txBody>
          <a:bodyPr wrap="square" lIns="0" tIns="0" rIns="0" bIns="0" rtlCol="0" anchor="t"/>
          <a:lstStyle/>
          <a:p>
            <a:pPr indent="0" marL="0">
              <a:buNone/>
            </a:pPr>
            <a:r>
              <a:rPr lang="en-US" sz="1450" b="1" dirty="0">
                <a:solidFill>
                  <a:srgbClr val="16163F"/>
                </a:solidFill>
              </a:rPr>
              <a:t>Lithuanian now has pre-trained models.</a:t>
            </a:r>
            <a:pPr indent="0" marL="0">
              <a:buNone/>
            </a:pPr>
            <a:r>
              <a:rPr lang="en-US" sz="1450" dirty="0">
                <a:solidFill>
                  <a:srgbClr val="3B3A55"/>
                </a:solidFill>
              </a:rPr>
              <a:t> LitLat BERT (2021), BERT and T5 for reviews (2024), the first open Llama2 models (2024).</a:t>
            </a:r>
            <a:endParaRPr lang="en-US" sz="1450" dirty="0"/>
          </a:p>
        </p:txBody>
      </p:sp>
      <p:sp>
        <p:nvSpPr>
          <p:cNvPr id="25" name="card"/>
          <p:cNvSpPr/>
          <p:nvPr/>
        </p:nvSpPr>
        <p:spPr>
          <a:xfrm>
            <a:off x="7589520" y="2377440"/>
            <a:ext cx="4023360" cy="3749040"/>
          </a:xfrm>
          <a:prstGeom prst="roundRect">
            <a:avLst>
              <a:gd name="adj" fmla="val 2927"/>
            </a:avLst>
          </a:prstGeom>
          <a:solidFill>
            <a:srgbClr val="FDF1E8"/>
          </a:solidFill>
          <a:ln w="12700">
            <a:solidFill>
              <a:srgbClr val="FDF1E8"/>
            </a:solidFill>
            <a:prstDash val="solid"/>
          </a:ln>
        </p:spPr>
      </p:sp>
      <p:sp>
        <p:nvSpPr>
          <p:cNvPr id="26" name="Shape 23"/>
          <p:cNvSpPr/>
          <p:nvPr/>
        </p:nvSpPr>
        <p:spPr>
          <a:xfrm>
            <a:off x="7818120" y="2542032"/>
            <a:ext cx="548640" cy="548640"/>
          </a:xfrm>
          <a:prstGeom prst="ellipse">
            <a:avLst/>
          </a:prstGeom>
          <a:solidFill>
            <a:srgbClr val="EB6834"/>
          </a:solidFill>
          <a:ln w="12700">
            <a:solidFill>
              <a:srgbClr val="EB6834"/>
            </a:solidFill>
            <a:prstDash val="solid"/>
          </a:ln>
        </p:spPr>
      </p:sp>
      <p:pic>
        <p:nvPicPr>
          <p:cNvPr id="27" name="Image 1" descr="preencoded.png">    </p:cNvPr>
          <p:cNvPicPr>
            <a:picLocks noChangeAspect="1"/>
          </p:cNvPicPr>
          <p:nvPr/>
        </p:nvPicPr>
        <p:blipFill>
          <a:blip r:embed="rId2"/>
          <a:stretch>
            <a:fillRect/>
          </a:stretch>
        </p:blipFill>
        <p:spPr>
          <a:xfrm>
            <a:off x="7949794" y="2673706"/>
            <a:ext cx="285293" cy="285293"/>
          </a:xfrm>
          <a:prstGeom prst="rect">
            <a:avLst/>
          </a:prstGeom>
        </p:spPr>
      </p:pic>
      <p:sp>
        <p:nvSpPr>
          <p:cNvPr id="28" name="Text 24"/>
          <p:cNvSpPr txBox="1"/>
          <p:nvPr/>
        </p:nvSpPr>
        <p:spPr>
          <a:xfrm>
            <a:off x="8503920" y="2542032"/>
            <a:ext cx="3017520" cy="548640"/>
          </a:xfrm>
          <a:prstGeom prst="rect">
            <a:avLst/>
          </a:prstGeom>
          <a:noFill/>
          <a:ln/>
        </p:spPr>
        <p:txBody>
          <a:bodyPr wrap="square" lIns="0" tIns="0" rIns="0" bIns="0" rtlCol="0" anchor="ctr"/>
          <a:lstStyle/>
          <a:p>
            <a:pPr indent="0" marL="0">
              <a:buNone/>
            </a:pPr>
            <a:r>
              <a:rPr lang="en-US" sz="1800" b="1" dirty="0">
                <a:solidFill>
                  <a:srgbClr val="16163F"/>
                </a:solidFill>
                <a:latin typeface="Cambria" pitchFamily="34" charset="0"/>
                <a:ea typeface="Cambria" pitchFamily="34" charset="-122"/>
                <a:cs typeface="Cambria" pitchFamily="34" charset="-120"/>
              </a:rPr>
              <a:t>What is missing: our gap</a:t>
            </a:r>
            <a:endParaRPr lang="en-US" sz="1800" dirty="0"/>
          </a:p>
        </p:txBody>
      </p:sp>
      <p:sp>
        <p:nvSpPr>
          <p:cNvPr id="29" name="Text 25"/>
          <p:cNvSpPr txBox="1"/>
          <p:nvPr/>
        </p:nvSpPr>
        <p:spPr>
          <a:xfrm>
            <a:off x="7818120" y="3246120"/>
            <a:ext cx="3611880" cy="2743200"/>
          </a:xfrm>
          <a:prstGeom prst="rect">
            <a:avLst/>
          </a:prstGeom>
          <a:noFill/>
          <a:ln/>
        </p:spPr>
        <p:txBody>
          <a:bodyPr wrap="square" lIns="0" tIns="0" rIns="0" bIns="0" rtlCol="0" anchor="t"/>
          <a:lstStyle/>
          <a:p>
            <a:pPr indent="0" marL="0">
              <a:spcAft>
                <a:spcPts val="600"/>
              </a:spcAft>
              <a:buNone/>
            </a:pPr>
            <a:r>
              <a:rPr lang="en-US" sz="1450" dirty="0">
                <a:solidFill>
                  <a:srgbClr val="16163F"/>
                </a:solidFill>
              </a:rPr>
              <a:t>These studies report accuracy. They rarely tell a student with a laptop:</a:t>
            </a:r>
            <a:endParaRPr lang="en-US" sz="1450" dirty="0"/>
          </a:p>
          <a:p>
            <a:pPr marL="342900" indent="-342900">
              <a:spcAft>
                <a:spcPts val="400"/>
              </a:spcAft>
              <a:buSzPct val="100000"/>
              <a:buChar char="•"/>
            </a:pPr>
            <a:r>
              <a:rPr lang="en-US" sz="1450" dirty="0">
                <a:solidFill>
                  <a:srgbClr val="16163F"/>
                </a:solidFill>
              </a:rPr>
              <a:t>What does the better model cost? (training time, speed, size)</a:t>
            </a:r>
            <a:endParaRPr lang="en-US" sz="1450" dirty="0"/>
          </a:p>
          <a:p>
            <a:pPr marL="342900" indent="-342900">
              <a:spcAft>
                <a:spcPts val="400"/>
              </a:spcAft>
              <a:buSzPct val="100000"/>
              <a:buChar char="•"/>
            </a:pPr>
            <a:r>
              <a:rPr lang="en-US" sz="1450" dirty="0">
                <a:solidFill>
                  <a:srgbClr val="16163F"/>
                </a:solidFill>
              </a:rPr>
              <a:t>How many labelled sentences does it need?</a:t>
            </a:r>
            <a:endParaRPr lang="en-US" sz="1450" dirty="0"/>
          </a:p>
          <a:p>
            <a:pPr marL="342900" indent="-342900">
              <a:spcAft>
                <a:spcPts val="800"/>
              </a:spcAft>
              <a:buSzPct val="100000"/>
              <a:buChar char="•"/>
            </a:pPr>
            <a:r>
              <a:rPr lang="en-US" sz="1450" dirty="0">
                <a:solidFill>
                  <a:srgbClr val="16163F"/>
                </a:solidFill>
              </a:rPr>
              <a:t>Is a ready-made model good enough?</a:t>
            </a:r>
            <a:endParaRPr lang="en-US" sz="1450" dirty="0"/>
          </a:p>
          <a:p>
            <a:pPr indent="0" marL="0">
              <a:spcAft>
                <a:spcPts val="400"/>
              </a:spcAft>
              <a:buNone/>
            </a:pPr>
            <a:r>
              <a:rPr lang="en-US" sz="1450" b="1" dirty="0">
                <a:solidFill>
                  <a:srgbClr val="B8441B"/>
                </a:solidFill>
              </a:rPr>
              <a:t>We measure all three, on one laptop CPU.</a:t>
            </a:r>
            <a:endParaRPr lang="en-US" sz="145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Experiment: 10 competitors, one dataset, one laptop CPU</a:t>
            </a:r>
            <a:endParaRPr lang="en-US" sz="3200" dirty="0"/>
          </a:p>
        </p:txBody>
      </p:sp>
      <p:sp>
        <p:nvSpPr>
          <p:cNvPr id="3" name="card"/>
          <p:cNvSpPr/>
          <p:nvPr/>
        </p:nvSpPr>
        <p:spPr>
          <a:xfrm>
            <a:off x="548640" y="1371600"/>
            <a:ext cx="3840480" cy="1280160"/>
          </a:xfrm>
          <a:prstGeom prst="roundRect">
            <a:avLst>
              <a:gd name="adj" fmla="val 8571"/>
            </a:avLst>
          </a:prstGeom>
          <a:solidFill>
            <a:srgbClr val="EEF0FA"/>
          </a:solidFill>
          <a:ln w="12700">
            <a:solidFill>
              <a:srgbClr val="EEF0FA"/>
            </a:solidFill>
            <a:prstDash val="solid"/>
          </a:ln>
        </p:spPr>
      </p:sp>
      <p:sp>
        <p:nvSpPr>
          <p:cNvPr id="4" name="Text 2"/>
          <p:cNvSpPr txBox="1"/>
          <p:nvPr/>
        </p:nvSpPr>
        <p:spPr>
          <a:xfrm>
            <a:off x="777240" y="148132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SST-2</a:t>
            </a:r>
            <a:endParaRPr lang="en-US" sz="2800" dirty="0"/>
          </a:p>
        </p:txBody>
      </p:sp>
      <p:sp>
        <p:nvSpPr>
          <p:cNvPr id="5" name="Text 3"/>
          <p:cNvSpPr txBox="1"/>
          <p:nvPr/>
        </p:nvSpPr>
        <p:spPr>
          <a:xfrm>
            <a:off x="777240" y="2121408"/>
            <a:ext cx="3474720" cy="411480"/>
          </a:xfrm>
          <a:prstGeom prst="rect">
            <a:avLst/>
          </a:prstGeom>
          <a:noFill/>
          <a:ln/>
        </p:spPr>
        <p:txBody>
          <a:bodyPr wrap="square" lIns="0" tIns="0" rIns="0" bIns="0" rtlCol="0" anchor="ctr"/>
          <a:lstStyle/>
          <a:p>
            <a:pPr indent="0" marL="0">
              <a:buNone/>
            </a:pPr>
            <a:r>
              <a:rPr lang="en-US" sz="1300" dirty="0">
                <a:solidFill>
                  <a:srgbClr val="52516E"/>
                </a:solidFill>
              </a:rPr>
              <a:t>movie-review sentences, positive / negative</a:t>
            </a:r>
            <a:endParaRPr lang="en-US" sz="1300" dirty="0"/>
          </a:p>
        </p:txBody>
      </p:sp>
      <p:sp>
        <p:nvSpPr>
          <p:cNvPr id="6" name="card"/>
          <p:cNvSpPr/>
          <p:nvPr/>
        </p:nvSpPr>
        <p:spPr>
          <a:xfrm>
            <a:off x="548640" y="2880360"/>
            <a:ext cx="3840480" cy="1280160"/>
          </a:xfrm>
          <a:prstGeom prst="roundRect">
            <a:avLst>
              <a:gd name="adj" fmla="val 8571"/>
            </a:avLst>
          </a:prstGeom>
          <a:solidFill>
            <a:srgbClr val="EEF0FA"/>
          </a:solidFill>
          <a:ln w="12700">
            <a:solidFill>
              <a:srgbClr val="EEF0FA"/>
            </a:solidFill>
            <a:prstDash val="solid"/>
          </a:ln>
        </p:spPr>
      </p:sp>
      <p:sp>
        <p:nvSpPr>
          <p:cNvPr id="7" name="Text 5"/>
          <p:cNvSpPr txBox="1"/>
          <p:nvPr/>
        </p:nvSpPr>
        <p:spPr>
          <a:xfrm>
            <a:off x="777240" y="299008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65k / 2k / 872</a:t>
            </a:r>
            <a:endParaRPr lang="en-US" sz="2800" dirty="0"/>
          </a:p>
        </p:txBody>
      </p:sp>
      <p:sp>
        <p:nvSpPr>
          <p:cNvPr id="8" name="Text 6"/>
          <p:cNvSpPr txBox="1"/>
          <p:nvPr/>
        </p:nvSpPr>
        <p:spPr>
          <a:xfrm>
            <a:off x="777240" y="3630168"/>
            <a:ext cx="3474720" cy="411480"/>
          </a:xfrm>
          <a:prstGeom prst="rect">
            <a:avLst/>
          </a:prstGeom>
          <a:noFill/>
          <a:ln/>
        </p:spPr>
        <p:txBody>
          <a:bodyPr wrap="square" lIns="0" tIns="0" rIns="0" bIns="0" rtlCol="0" anchor="ctr"/>
          <a:lstStyle/>
          <a:p>
            <a:pPr indent="0" marL="0">
              <a:buNone/>
            </a:pPr>
            <a:r>
              <a:rPr lang="en-US" sz="1300" dirty="0">
                <a:solidFill>
                  <a:srgbClr val="52516E"/>
                </a:solidFill>
              </a:rPr>
              <a:t>train / dev / test sentences</a:t>
            </a:r>
            <a:endParaRPr lang="en-US" sz="1300" dirty="0"/>
          </a:p>
        </p:txBody>
      </p:sp>
      <p:sp>
        <p:nvSpPr>
          <p:cNvPr id="9" name="card"/>
          <p:cNvSpPr/>
          <p:nvPr/>
        </p:nvSpPr>
        <p:spPr>
          <a:xfrm>
            <a:off x="548640" y="4389120"/>
            <a:ext cx="3840480" cy="1280160"/>
          </a:xfrm>
          <a:prstGeom prst="roundRect">
            <a:avLst>
              <a:gd name="adj" fmla="val 8571"/>
            </a:avLst>
          </a:prstGeom>
          <a:solidFill>
            <a:srgbClr val="EEF0FA"/>
          </a:solidFill>
          <a:ln w="12700">
            <a:solidFill>
              <a:srgbClr val="EEF0FA"/>
            </a:solidFill>
            <a:prstDash val="solid"/>
          </a:ln>
        </p:spPr>
      </p:sp>
      <p:sp>
        <p:nvSpPr>
          <p:cNvPr id="10" name="Text 8"/>
          <p:cNvSpPr txBox="1"/>
          <p:nvPr/>
        </p:nvSpPr>
        <p:spPr>
          <a:xfrm>
            <a:off x="777240" y="449884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i5-8365U</a:t>
            </a:r>
            <a:endParaRPr lang="en-US" sz="2800" dirty="0"/>
          </a:p>
        </p:txBody>
      </p:sp>
      <p:sp>
        <p:nvSpPr>
          <p:cNvPr id="11" name="Text 9"/>
          <p:cNvSpPr txBox="1"/>
          <p:nvPr/>
        </p:nvSpPr>
        <p:spPr>
          <a:xfrm>
            <a:off x="777240" y="5138928"/>
            <a:ext cx="3474720" cy="411480"/>
          </a:xfrm>
          <a:prstGeom prst="rect">
            <a:avLst/>
          </a:prstGeom>
          <a:noFill/>
          <a:ln/>
        </p:spPr>
        <p:txBody>
          <a:bodyPr wrap="square" lIns="0" tIns="0" rIns="0" bIns="0" rtlCol="0" anchor="ctr"/>
          <a:lstStyle/>
          <a:p>
            <a:pPr indent="0" marL="0">
              <a:buNone/>
            </a:pPr>
            <a:r>
              <a:rPr lang="en-US" sz="1300" dirty="0">
                <a:solidFill>
                  <a:srgbClr val="52516E"/>
                </a:solidFill>
              </a:rPr>
              <a:t>4-core laptop CPU, 16 GB RAM, no GPU</a:t>
            </a:r>
            <a:endParaRPr lang="en-US" sz="1300" dirty="0"/>
          </a:p>
        </p:txBody>
      </p:sp>
      <p:sp>
        <p:nvSpPr>
          <p:cNvPr id="12" name="Shape 10"/>
          <p:cNvSpPr/>
          <p:nvPr/>
        </p:nvSpPr>
        <p:spPr>
          <a:xfrm>
            <a:off x="4800600" y="1463040"/>
            <a:ext cx="640080" cy="640080"/>
          </a:xfrm>
          <a:prstGeom prst="ellipse">
            <a:avLst/>
          </a:prstGeom>
          <a:solidFill>
            <a:srgbClr val="2A78D6"/>
          </a:solidFill>
          <a:ln w="12700">
            <a:solidFill>
              <a:srgbClr val="2A78D6"/>
            </a:solidFill>
            <a:prstDash val="solid"/>
          </a:ln>
        </p:spPr>
      </p:sp>
      <p:pic>
        <p:nvPicPr>
          <p:cNvPr id="13" name="Image 0" descr="preencoded.png">    </p:cNvPr>
          <p:cNvPicPr>
            <a:picLocks noChangeAspect="1"/>
          </p:cNvPicPr>
          <p:nvPr/>
        </p:nvPicPr>
        <p:blipFill>
          <a:blip r:embed="rId1"/>
          <a:stretch>
            <a:fillRect/>
          </a:stretch>
        </p:blipFill>
        <p:spPr>
          <a:xfrm>
            <a:off x="4954219" y="1616659"/>
            <a:ext cx="332842" cy="332842"/>
          </a:xfrm>
          <a:prstGeom prst="rect">
            <a:avLst/>
          </a:prstGeom>
        </p:spPr>
      </p:pic>
      <p:sp>
        <p:nvSpPr>
          <p:cNvPr id="14" name="Text 11"/>
          <p:cNvSpPr txBox="1"/>
          <p:nvPr/>
        </p:nvSpPr>
        <p:spPr>
          <a:xfrm>
            <a:off x="5623560" y="1389888"/>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Classical</a:t>
            </a:r>
            <a:endParaRPr lang="en-US" sz="1700" dirty="0"/>
          </a:p>
        </p:txBody>
      </p:sp>
      <p:sp>
        <p:nvSpPr>
          <p:cNvPr id="15" name="Text 12"/>
          <p:cNvSpPr txBox="1"/>
          <p:nvPr/>
        </p:nvSpPr>
        <p:spPr>
          <a:xfrm>
            <a:off x="5623560" y="1773936"/>
            <a:ext cx="5943600" cy="365760"/>
          </a:xfrm>
          <a:prstGeom prst="rect">
            <a:avLst/>
          </a:prstGeom>
          <a:noFill/>
          <a:ln/>
        </p:spPr>
        <p:txBody>
          <a:bodyPr wrap="square" lIns="0" tIns="0" rIns="0" bIns="0" rtlCol="0" anchor="ctr"/>
          <a:lstStyle/>
          <a:p>
            <a:pPr indent="0" marL="0">
              <a:buNone/>
            </a:pPr>
            <a:r>
              <a:rPr lang="en-US" sz="1400" dirty="0">
                <a:solidFill>
                  <a:srgbClr val="52516E"/>
                </a:solidFill>
              </a:rPr>
              <a:t>TF-IDF + Naive Bayes · Logistic Regression · Linear SVM</a:t>
            </a:r>
            <a:endParaRPr lang="en-US" sz="1400" dirty="0"/>
          </a:p>
        </p:txBody>
      </p:sp>
      <p:sp>
        <p:nvSpPr>
          <p:cNvPr id="16" name="Shape 13"/>
          <p:cNvSpPr/>
          <p:nvPr/>
        </p:nvSpPr>
        <p:spPr>
          <a:xfrm>
            <a:off x="4800600" y="2450592"/>
            <a:ext cx="640080" cy="640080"/>
          </a:xfrm>
          <a:prstGeom prst="ellipse">
            <a:avLst/>
          </a:prstGeom>
          <a:solidFill>
            <a:srgbClr val="EB6834"/>
          </a:solidFill>
          <a:ln w="12700">
            <a:solidFill>
              <a:srgbClr val="EB6834"/>
            </a:solidFill>
            <a:prstDash val="solid"/>
          </a:ln>
        </p:spPr>
      </p:sp>
      <p:pic>
        <p:nvPicPr>
          <p:cNvPr id="17" name="Image 1" descr="preencoded.png">    </p:cNvPr>
          <p:cNvPicPr>
            <a:picLocks noChangeAspect="1"/>
          </p:cNvPicPr>
          <p:nvPr/>
        </p:nvPicPr>
        <p:blipFill>
          <a:blip r:embed="rId2"/>
          <a:stretch>
            <a:fillRect/>
          </a:stretch>
        </p:blipFill>
        <p:spPr>
          <a:xfrm>
            <a:off x="4954219" y="2604211"/>
            <a:ext cx="332842" cy="332842"/>
          </a:xfrm>
          <a:prstGeom prst="rect">
            <a:avLst/>
          </a:prstGeom>
        </p:spPr>
      </p:pic>
      <p:sp>
        <p:nvSpPr>
          <p:cNvPr id="18" name="Text 14"/>
          <p:cNvSpPr txBox="1"/>
          <p:nvPr/>
        </p:nvSpPr>
        <p:spPr>
          <a:xfrm>
            <a:off x="5623560" y="2377440"/>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Recurrent</a:t>
            </a:r>
            <a:endParaRPr lang="en-US" sz="1700" dirty="0"/>
          </a:p>
        </p:txBody>
      </p:sp>
      <p:sp>
        <p:nvSpPr>
          <p:cNvPr id="19" name="Text 15"/>
          <p:cNvSpPr txBox="1"/>
          <p:nvPr/>
        </p:nvSpPr>
        <p:spPr>
          <a:xfrm>
            <a:off x="5623560" y="2761488"/>
            <a:ext cx="5943600" cy="365760"/>
          </a:xfrm>
          <a:prstGeom prst="rect">
            <a:avLst/>
          </a:prstGeom>
          <a:noFill/>
          <a:ln/>
        </p:spPr>
        <p:txBody>
          <a:bodyPr wrap="square" lIns="0" tIns="0" rIns="0" bIns="0" rtlCol="0" anchor="ctr"/>
          <a:lstStyle/>
          <a:p>
            <a:pPr indent="0" marL="0">
              <a:buNone/>
            </a:pPr>
            <a:r>
              <a:rPr lang="en-US" sz="1400" dirty="0">
                <a:solidFill>
                  <a:srgbClr val="52516E"/>
                </a:solidFill>
              </a:rPr>
              <a:t>BiLSTM trained from scratch</a:t>
            </a:r>
            <a:endParaRPr lang="en-US" sz="1400" dirty="0"/>
          </a:p>
        </p:txBody>
      </p:sp>
      <p:sp>
        <p:nvSpPr>
          <p:cNvPr id="20" name="Shape 16"/>
          <p:cNvSpPr/>
          <p:nvPr/>
        </p:nvSpPr>
        <p:spPr>
          <a:xfrm>
            <a:off x="4800600" y="3438144"/>
            <a:ext cx="640080" cy="640080"/>
          </a:xfrm>
          <a:prstGeom prst="ellipse">
            <a:avLst/>
          </a:prstGeom>
          <a:solidFill>
            <a:srgbClr val="1BAF7A"/>
          </a:solidFill>
          <a:ln w="12700">
            <a:solidFill>
              <a:srgbClr val="1BAF7A"/>
            </a:solidFill>
            <a:prstDash val="solid"/>
          </a:ln>
        </p:spPr>
      </p:sp>
      <p:pic>
        <p:nvPicPr>
          <p:cNvPr id="21" name="Image 2" descr="preencoded.png">    </p:cNvPr>
          <p:cNvPicPr>
            <a:picLocks noChangeAspect="1"/>
          </p:cNvPicPr>
          <p:nvPr/>
        </p:nvPicPr>
        <p:blipFill>
          <a:blip r:embed="rId3"/>
          <a:stretch>
            <a:fillRect/>
          </a:stretch>
        </p:blipFill>
        <p:spPr>
          <a:xfrm>
            <a:off x="4954219" y="3591763"/>
            <a:ext cx="332842" cy="332842"/>
          </a:xfrm>
          <a:prstGeom prst="rect">
            <a:avLst/>
          </a:prstGeom>
        </p:spPr>
      </p:pic>
      <p:sp>
        <p:nvSpPr>
          <p:cNvPr id="22" name="Text 17"/>
          <p:cNvSpPr txBox="1"/>
          <p:nvPr/>
        </p:nvSpPr>
        <p:spPr>
          <a:xfrm>
            <a:off x="5623560" y="3364992"/>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Fine-tuned by us (8k labels)</a:t>
            </a:r>
            <a:endParaRPr lang="en-US" sz="1700" dirty="0"/>
          </a:p>
        </p:txBody>
      </p:sp>
      <p:sp>
        <p:nvSpPr>
          <p:cNvPr id="23" name="Text 18"/>
          <p:cNvSpPr txBox="1"/>
          <p:nvPr/>
        </p:nvSpPr>
        <p:spPr>
          <a:xfrm>
            <a:off x="5623560" y="3749040"/>
            <a:ext cx="5943600" cy="365760"/>
          </a:xfrm>
          <a:prstGeom prst="rect">
            <a:avLst/>
          </a:prstGeom>
          <a:noFill/>
          <a:ln/>
        </p:spPr>
        <p:txBody>
          <a:bodyPr wrap="square" lIns="0" tIns="0" rIns="0" bIns="0" rtlCol="0" anchor="ctr"/>
          <a:lstStyle/>
          <a:p>
            <a:pPr indent="0" marL="0">
              <a:buNone/>
            </a:pPr>
            <a:r>
              <a:rPr lang="en-US" sz="1400" dirty="0">
                <a:solidFill>
                  <a:srgbClr val="52516E"/>
                </a:solidFill>
              </a:rPr>
              <a:t>BERT-tiny 4M · BERT-small 29M · DistilBERT 67M</a:t>
            </a:r>
            <a:endParaRPr lang="en-US" sz="1400" dirty="0"/>
          </a:p>
        </p:txBody>
      </p:sp>
      <p:sp>
        <p:nvSpPr>
          <p:cNvPr id="24" name="Shape 19"/>
          <p:cNvSpPr/>
          <p:nvPr/>
        </p:nvSpPr>
        <p:spPr>
          <a:xfrm>
            <a:off x="4800600" y="4425696"/>
            <a:ext cx="640080" cy="640080"/>
          </a:xfrm>
          <a:prstGeom prst="ellipse">
            <a:avLst/>
          </a:prstGeom>
          <a:solidFill>
            <a:srgbClr val="6250D6"/>
          </a:solidFill>
          <a:ln w="12700">
            <a:solidFill>
              <a:srgbClr val="6250D6"/>
            </a:solidFill>
            <a:prstDash val="solid"/>
          </a:ln>
        </p:spPr>
      </p:sp>
      <p:pic>
        <p:nvPicPr>
          <p:cNvPr id="25" name="Image 3" descr="preencoded.png">    </p:cNvPr>
          <p:cNvPicPr>
            <a:picLocks noChangeAspect="1"/>
          </p:cNvPicPr>
          <p:nvPr/>
        </p:nvPicPr>
        <p:blipFill>
          <a:blip r:embed="rId4"/>
          <a:stretch>
            <a:fillRect/>
          </a:stretch>
        </p:blipFill>
        <p:spPr>
          <a:xfrm>
            <a:off x="4954219" y="4579315"/>
            <a:ext cx="332842" cy="332842"/>
          </a:xfrm>
          <a:prstGeom prst="rect">
            <a:avLst/>
          </a:prstGeom>
        </p:spPr>
      </p:pic>
      <p:sp>
        <p:nvSpPr>
          <p:cNvPr id="26" name="Text 20"/>
          <p:cNvSpPr txBox="1"/>
          <p:nvPr/>
        </p:nvSpPr>
        <p:spPr>
          <a:xfrm>
            <a:off x="5623560" y="4352544"/>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Ready-made, no training</a:t>
            </a:r>
            <a:endParaRPr lang="en-US" sz="1700" dirty="0"/>
          </a:p>
        </p:txBody>
      </p:sp>
      <p:sp>
        <p:nvSpPr>
          <p:cNvPr id="27" name="Text 21"/>
          <p:cNvSpPr txBox="1"/>
          <p:nvPr/>
        </p:nvSpPr>
        <p:spPr>
          <a:xfrm>
            <a:off x="5623560" y="4736592"/>
            <a:ext cx="5943600" cy="365760"/>
          </a:xfrm>
          <a:prstGeom prst="rect">
            <a:avLst/>
          </a:prstGeom>
          <a:noFill/>
          <a:ln/>
        </p:spPr>
        <p:txBody>
          <a:bodyPr wrap="square" lIns="0" tIns="0" rIns="0" bIns="0" rtlCol="0" anchor="ctr"/>
          <a:lstStyle/>
          <a:p>
            <a:pPr indent="0" marL="0">
              <a:buNone/>
            </a:pPr>
            <a:r>
              <a:rPr lang="en-US" sz="1400" dirty="0">
                <a:solidFill>
                  <a:srgbClr val="52516E"/>
                </a:solidFill>
              </a:rPr>
              <a:t>DistilBERT-SST2 · Twitter-RoBERTa · zero-shot NLI</a:t>
            </a:r>
            <a:endParaRPr lang="en-US" sz="1400" dirty="0"/>
          </a:p>
        </p:txBody>
      </p:sp>
      <p:sp>
        <p:nvSpPr>
          <p:cNvPr id="28" name="Text 22"/>
          <p:cNvSpPr txBox="1"/>
          <p:nvPr/>
        </p:nvSpPr>
        <p:spPr>
          <a:xfrm>
            <a:off x="4800600" y="5440680"/>
            <a:ext cx="6812280" cy="685800"/>
          </a:xfrm>
          <a:prstGeom prst="rect">
            <a:avLst/>
          </a:prstGeom>
          <a:noFill/>
          <a:ln/>
        </p:spPr>
        <p:txBody>
          <a:bodyPr wrap="square" lIns="0" tIns="0" rIns="0" bIns="0" rtlCol="0" anchor="t"/>
          <a:lstStyle/>
          <a:p>
            <a:pPr indent="0" marL="0">
              <a:buNone/>
            </a:pPr>
            <a:r>
              <a:rPr lang="en-US" sz="1300" i="1" dirty="0">
                <a:solidFill>
                  <a:srgbClr val="52516E"/>
                </a:solidFill>
                <a:latin typeface="Calibri" pitchFamily="34" charset="0"/>
                <a:ea typeface="Calibri" pitchFamily="34" charset="-122"/>
                <a:cs typeface="Calibri" pitchFamily="34" charset="-120"/>
              </a:rPr>
              <a:t>Criteria: accuracy, macro-F1 · training time · latency per sentence · parameters · negation &amp; contrast subsets · learning curve · bootstrap CI + McNemar test</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Implementation: a reproducible Python pipeline</a:t>
            </a:r>
            <a:endParaRPr lang="en-US" sz="3200" dirty="0"/>
          </a:p>
        </p:txBody>
      </p:sp>
      <p:pic>
        <p:nvPicPr>
          <p:cNvPr id="3" name="Image 0" descr="C:\Shashikanth_Data\VGTU\HomeWorks\NeuralNetwork\NLPTOPIC\Transformers-NLP\code\figures\diagram_pipeline.png">    </p:cNvPr>
          <p:cNvPicPr>
            <a:picLocks noChangeAspect="1"/>
          </p:cNvPicPr>
          <p:nvPr/>
        </p:nvPicPr>
        <p:blipFill>
          <a:blip r:embed="rId1"/>
          <a:stretch>
            <a:fillRect/>
          </a:stretch>
        </p:blipFill>
        <p:spPr>
          <a:xfrm>
            <a:off x="457200" y="1234440"/>
            <a:ext cx="7589520" cy="4593657"/>
          </a:xfrm>
          <a:prstGeom prst="rect">
            <a:avLst/>
          </a:prstGeom>
        </p:spPr>
      </p:pic>
      <p:sp>
        <p:nvSpPr>
          <p:cNvPr id="4" name="card"/>
          <p:cNvSpPr/>
          <p:nvPr/>
        </p:nvSpPr>
        <p:spPr>
          <a:xfrm>
            <a:off x="8321040" y="1371600"/>
            <a:ext cx="3291840" cy="4754880"/>
          </a:xfrm>
          <a:prstGeom prst="roundRect">
            <a:avLst>
              <a:gd name="adj" fmla="val 3333"/>
            </a:avLst>
          </a:prstGeom>
          <a:solidFill>
            <a:srgbClr val="EEF0FA"/>
          </a:solidFill>
          <a:ln w="12700">
            <a:solidFill>
              <a:srgbClr val="EEF0FA"/>
            </a:solidFill>
            <a:prstDash val="solid"/>
          </a:ln>
        </p:spPr>
      </p:sp>
      <p:sp>
        <p:nvSpPr>
          <p:cNvPr id="5" name="Text 2"/>
          <p:cNvSpPr txBox="1"/>
          <p:nvPr/>
        </p:nvSpPr>
        <p:spPr>
          <a:xfrm>
            <a:off x="8549640" y="1600200"/>
            <a:ext cx="2880360" cy="4389120"/>
          </a:xfrm>
          <a:prstGeom prst="rect">
            <a:avLst/>
          </a:prstGeom>
          <a:noFill/>
          <a:ln/>
        </p:spPr>
        <p:txBody>
          <a:bodyPr wrap="square" lIns="0" tIns="0" rIns="0" bIns="0" rtlCol="0" anchor="t"/>
          <a:lstStyle/>
          <a:p>
            <a:pPr indent="0" marL="0">
              <a:spcAft>
                <a:spcPts val="600"/>
              </a:spcAft>
              <a:buNone/>
            </a:pPr>
            <a:r>
              <a:rPr lang="en-US" sz="1400" b="1" dirty="0">
                <a:solidFill>
                  <a:srgbClr val="16163F"/>
                </a:solidFill>
                <a:latin typeface="Calibri" pitchFamily="34" charset="0"/>
                <a:ea typeface="Calibri" pitchFamily="34" charset="-122"/>
                <a:cs typeface="Calibri" pitchFamily="34" charset="-120"/>
              </a:rPr>
              <a:t>PyTorch · Hugging Face Transformers · scikit-learn</a:t>
            </a:r>
            <a:endParaRPr lang="en-US" sz="1400" dirty="0"/>
          </a:p>
          <a:p>
            <a:pPr indent="0" marL="0">
              <a:spcAft>
                <a:spcPts val="600"/>
              </a:spcAft>
              <a:buNone/>
            </a:pP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One generic fine-tuning script for any encoder</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AdamW, 10% warm-up, linear decay, best epoch by dev accuracy</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Every model saves metrics, timings and predictions as JSON</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run_all.sh reproduces all results (~2.5 h)</a:t>
            </a:r>
            <a:endParaRPr lang="en-US" sz="14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Fine-tuned DistilBERT: +5.9 points over classical</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25880"/>
            <a:ext cx="3200400" cy="1417320"/>
          </a:xfrm>
          <a:prstGeom prst="roundRect">
            <a:avLst>
              <a:gd name="adj" fmla="val 7742"/>
            </a:avLst>
          </a:prstGeom>
          <a:solidFill>
            <a:srgbClr val="EEF0FA"/>
          </a:solidFill>
          <a:ln w="12700">
            <a:solidFill>
              <a:srgbClr val="EEF0FA"/>
            </a:solidFill>
            <a:prstDash val="solid"/>
          </a:ln>
        </p:spPr>
      </p:sp>
      <p:sp>
        <p:nvSpPr>
          <p:cNvPr id="5" name="Text 2"/>
          <p:cNvSpPr txBox="1"/>
          <p:nvPr/>
        </p:nvSpPr>
        <p:spPr>
          <a:xfrm>
            <a:off x="8595360" y="1417320"/>
            <a:ext cx="2834640" cy="731520"/>
          </a:xfrm>
          <a:prstGeom prst="rect">
            <a:avLst/>
          </a:prstGeom>
          <a:noFill/>
          <a:ln/>
        </p:spPr>
        <p:txBody>
          <a:bodyPr wrap="square" lIns="0" tIns="0" rIns="0" bIns="0" rtlCol="0" anchor="ctr"/>
          <a:lstStyle/>
          <a:p>
            <a:pPr indent="0" marL="0">
              <a:buNone/>
            </a:pPr>
            <a:r>
              <a:rPr lang="en-US" sz="3600" b="1" dirty="0">
                <a:solidFill>
                  <a:srgbClr val="1BAF7A"/>
                </a:solidFill>
                <a:latin typeface="Cambria" pitchFamily="34" charset="0"/>
                <a:ea typeface="Cambria" pitchFamily="34" charset="-122"/>
                <a:cs typeface="Cambria" pitchFamily="34" charset="-120"/>
              </a:rPr>
              <a:t>88.8%</a:t>
            </a:r>
            <a:endParaRPr lang="en-US" sz="3600" dirty="0"/>
          </a:p>
        </p:txBody>
      </p:sp>
      <p:sp>
        <p:nvSpPr>
          <p:cNvPr id="6" name="Text 3"/>
          <p:cNvSpPr txBox="1"/>
          <p:nvPr/>
        </p:nvSpPr>
        <p:spPr>
          <a:xfrm>
            <a:off x="8595360" y="21488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DistilBERT fine-tuned (8k)</a:t>
            </a:r>
            <a:endParaRPr lang="en-US" sz="1200" dirty="0"/>
          </a:p>
        </p:txBody>
      </p:sp>
      <p:sp>
        <p:nvSpPr>
          <p:cNvPr id="7" name="card"/>
          <p:cNvSpPr/>
          <p:nvPr/>
        </p:nvSpPr>
        <p:spPr>
          <a:xfrm>
            <a:off x="8412480" y="2926080"/>
            <a:ext cx="3200400" cy="1417320"/>
          </a:xfrm>
          <a:prstGeom prst="roundRect">
            <a:avLst>
              <a:gd name="adj" fmla="val 7742"/>
            </a:avLst>
          </a:prstGeom>
          <a:solidFill>
            <a:srgbClr val="EEF0FA"/>
          </a:solidFill>
          <a:ln w="12700">
            <a:solidFill>
              <a:srgbClr val="EEF0FA"/>
            </a:solidFill>
            <a:prstDash val="solid"/>
          </a:ln>
        </p:spPr>
      </p:sp>
      <p:sp>
        <p:nvSpPr>
          <p:cNvPr id="8" name="Text 5"/>
          <p:cNvSpPr txBox="1"/>
          <p:nvPr/>
        </p:nvSpPr>
        <p:spPr>
          <a:xfrm>
            <a:off x="8595360" y="3017520"/>
            <a:ext cx="2834640" cy="731520"/>
          </a:xfrm>
          <a:prstGeom prst="rect">
            <a:avLst/>
          </a:prstGeom>
          <a:noFill/>
          <a:ln/>
        </p:spPr>
        <p:txBody>
          <a:bodyPr wrap="square" lIns="0" tIns="0" rIns="0" bIns="0" rtlCol="0" anchor="ctr"/>
          <a:lstStyle/>
          <a:p>
            <a:pPr indent="0" marL="0">
              <a:buNone/>
            </a:pPr>
            <a:r>
              <a:rPr lang="en-US" sz="3600" b="1" dirty="0">
                <a:solidFill>
                  <a:srgbClr val="2A78D6"/>
                </a:solidFill>
                <a:latin typeface="Cambria" pitchFamily="34" charset="0"/>
                <a:ea typeface="Cambria" pitchFamily="34" charset="-122"/>
                <a:cs typeface="Cambria" pitchFamily="34" charset="-120"/>
              </a:rPr>
              <a:t>82.9%</a:t>
            </a:r>
            <a:endParaRPr lang="en-US" sz="3600" dirty="0"/>
          </a:p>
        </p:txBody>
      </p:sp>
      <p:sp>
        <p:nvSpPr>
          <p:cNvPr id="9" name="Text 6"/>
          <p:cNvSpPr txBox="1"/>
          <p:nvPr/>
        </p:nvSpPr>
        <p:spPr>
          <a:xfrm>
            <a:off x="8595360" y="37490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best classical: TF-IDF + Linear SVM</a:t>
            </a:r>
            <a:endParaRPr lang="en-US" sz="1200" dirty="0"/>
          </a:p>
        </p:txBody>
      </p:sp>
      <p:sp>
        <p:nvSpPr>
          <p:cNvPr id="10" name="card"/>
          <p:cNvSpPr/>
          <p:nvPr/>
        </p:nvSpPr>
        <p:spPr>
          <a:xfrm>
            <a:off x="8412480" y="4526280"/>
            <a:ext cx="3200400" cy="1417320"/>
          </a:xfrm>
          <a:prstGeom prst="roundRect">
            <a:avLst>
              <a:gd name="adj" fmla="val 7742"/>
            </a:avLst>
          </a:prstGeom>
          <a:solidFill>
            <a:srgbClr val="EEF0FA"/>
          </a:solidFill>
          <a:ln w="12700">
            <a:solidFill>
              <a:srgbClr val="EEF0FA"/>
            </a:solidFill>
            <a:prstDash val="solid"/>
          </a:ln>
        </p:spPr>
      </p:sp>
      <p:sp>
        <p:nvSpPr>
          <p:cNvPr id="11" name="Text 8"/>
          <p:cNvSpPr txBox="1"/>
          <p:nvPr/>
        </p:nvSpPr>
        <p:spPr>
          <a:xfrm>
            <a:off x="8595360" y="4617720"/>
            <a:ext cx="2834640" cy="731520"/>
          </a:xfrm>
          <a:prstGeom prst="rect">
            <a:avLst/>
          </a:prstGeom>
          <a:noFill/>
          <a:ln/>
        </p:spPr>
        <p:txBody>
          <a:bodyPr wrap="square" lIns="0" tIns="0" rIns="0" bIns="0" rtlCol="0" anchor="ctr"/>
          <a:lstStyle/>
          <a:p>
            <a:pPr indent="0" marL="0">
              <a:buNone/>
            </a:pPr>
            <a:r>
              <a:rPr lang="en-US" sz="3600" b="1" dirty="0">
                <a:solidFill>
                  <a:srgbClr val="6250D6"/>
                </a:solidFill>
                <a:latin typeface="Cambria" pitchFamily="34" charset="0"/>
                <a:ea typeface="Cambria" pitchFamily="34" charset="-122"/>
                <a:cs typeface="Cambria" pitchFamily="34" charset="-120"/>
              </a:rPr>
              <a:t>81.8%</a:t>
            </a:r>
            <a:endParaRPr lang="en-US" sz="3600" dirty="0"/>
          </a:p>
        </p:txBody>
      </p:sp>
      <p:sp>
        <p:nvSpPr>
          <p:cNvPr id="12" name="Text 9"/>
          <p:cNvSpPr txBox="1"/>
          <p:nvPr/>
        </p:nvSpPr>
        <p:spPr>
          <a:xfrm>
            <a:off x="8595360" y="53492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zero-shot – no labels at all</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The price: slower training and inference, bigger models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3108960"/>
                <a:gridCol w="914400"/>
                <a:gridCol w="1097280"/>
                <a:gridCol w="1188720"/>
                <a:gridCol w="100584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 %</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Train time</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Latency, 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Params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TF-IDF + Linear SVM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82.9</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74 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BiLSTM (from scratch)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BERT-tiny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76.6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BERT-small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83.7</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28.8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88.8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DistilBERT-SST2 (off-the-shelf)</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91.1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Zero-shot NLI DistilRoBERTa</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81.8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107.0</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82.1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bl>
          </a:graphicData>
        </a:graphic>
      </p:graphicFrame>
      <p:sp>
        <p:nvSpPr>
          <p:cNvPr id="4" name="card"/>
          <p:cNvSpPr/>
          <p:nvPr/>
        </p:nvSpPr>
        <p:spPr>
          <a:xfrm>
            <a:off x="8229600" y="1371600"/>
            <a:ext cx="3383280" cy="2148840"/>
          </a:xfrm>
          <a:prstGeom prst="roundRect">
            <a:avLst>
              <a:gd name="adj" fmla="val 5106"/>
            </a:avLst>
          </a:prstGeom>
          <a:solidFill>
            <a:srgbClr val="FDF1E8"/>
          </a:solidFill>
          <a:ln w="12700">
            <a:solidFill>
              <a:srgbClr val="FDF1E8"/>
            </a:solidFill>
            <a:prstDash val="solid"/>
          </a:ln>
        </p:spPr>
      </p:sp>
      <p:sp>
        <p:nvSpPr>
          <p:cNvPr id="5" name="Text 2"/>
          <p:cNvSpPr txBox="1"/>
          <p:nvPr/>
        </p:nvSpPr>
        <p:spPr>
          <a:xfrm>
            <a:off x="8458200" y="1463040"/>
            <a:ext cx="3017520" cy="914400"/>
          </a:xfrm>
          <a:prstGeom prst="rect">
            <a:avLst/>
          </a:prstGeom>
          <a:noFill/>
          <a:ln/>
        </p:spPr>
        <p:txBody>
          <a:bodyPr wrap="square" lIns="0" tIns="0" rIns="0" bIns="0" rtlCol="0" anchor="ctr"/>
          <a:lstStyle/>
          <a:p>
            <a:pPr indent="0" marL="0">
              <a:buNone/>
            </a:pPr>
            <a:r>
              <a:rPr lang="en-US" sz="4800" b="1" dirty="0">
                <a:solidFill>
                  <a:srgbClr val="EB6834"/>
                </a:solidFill>
                <a:latin typeface="Cambria" pitchFamily="34" charset="0"/>
                <a:ea typeface="Cambria" pitchFamily="34" charset="-122"/>
                <a:cs typeface="Cambria" pitchFamily="34" charset="-120"/>
              </a:rPr>
              <a:t>×710</a:t>
            </a:r>
            <a:endParaRPr lang="en-US" sz="4800" dirty="0"/>
          </a:p>
        </p:txBody>
      </p:sp>
      <p:sp>
        <p:nvSpPr>
          <p:cNvPr id="6" name="Text 3"/>
          <p:cNvSpPr txBox="1"/>
          <p:nvPr/>
        </p:nvSpPr>
        <p:spPr>
          <a:xfrm>
            <a:off x="8458200" y="2423160"/>
            <a:ext cx="3017520" cy="914400"/>
          </a:xfrm>
          <a:prstGeom prst="rect">
            <a:avLst/>
          </a:prstGeom>
          <a:noFill/>
          <a:ln/>
        </p:spPr>
        <p:txBody>
          <a:bodyPr wrap="square" lIns="0" tIns="0" rIns="0" bIns="0" rtlCol="0" anchor="ctr"/>
          <a:lstStyle/>
          <a:p>
            <a:pPr indent="0" marL="0">
              <a:buNone/>
            </a:pPr>
            <a:r>
              <a:rPr lang="en-US" sz="1300" dirty="0">
                <a:solidFill>
                  <a:srgbClr val="52516E"/>
                </a:solidFill>
              </a:rPr>
              <a:t>slower inference of DistilBERT vs TF-IDF – still only 39 ms per sentence</a:t>
            </a:r>
            <a:endParaRPr lang="en-US" sz="1300" dirty="0"/>
          </a:p>
        </p:txBody>
      </p:sp>
      <p:sp>
        <p:nvSpPr>
          <p:cNvPr id="7" name="card"/>
          <p:cNvSpPr/>
          <p:nvPr/>
        </p:nvSpPr>
        <p:spPr>
          <a:xfrm>
            <a:off x="8229600" y="3749040"/>
            <a:ext cx="3383280" cy="2331720"/>
          </a:xfrm>
          <a:prstGeom prst="roundRect">
            <a:avLst>
              <a:gd name="adj" fmla="val 4706"/>
            </a:avLst>
          </a:prstGeom>
          <a:solidFill>
            <a:srgbClr val="E6F6EF"/>
          </a:solidFill>
          <a:ln w="12700">
            <a:solidFill>
              <a:srgbClr val="E6F6EF"/>
            </a:solidFill>
            <a:prstDash val="solid"/>
          </a:ln>
        </p:spPr>
      </p:sp>
      <p:sp>
        <p:nvSpPr>
          <p:cNvPr id="8" name="Text 5"/>
          <p:cNvSpPr txBox="1"/>
          <p:nvPr/>
        </p:nvSpPr>
        <p:spPr>
          <a:xfrm>
            <a:off x="8458200" y="3886200"/>
            <a:ext cx="3017520" cy="457200"/>
          </a:xfrm>
          <a:prstGeom prst="rect">
            <a:avLst/>
          </a:prstGeom>
          <a:noFill/>
          <a:ln/>
        </p:spPr>
        <p:txBody>
          <a:bodyPr wrap="square" lIns="0" tIns="0" rIns="0" bIns="0" rtlCol="0" anchor="ctr"/>
          <a:lstStyle/>
          <a:p>
            <a:pPr indent="0" marL="0">
              <a:buNone/>
            </a:pPr>
            <a:r>
              <a:rPr lang="en-US" sz="1600" b="1" dirty="0">
                <a:solidFill>
                  <a:srgbClr val="16163F"/>
                </a:solidFill>
              </a:rPr>
              <a:t>Fine-tuning is affordable</a:t>
            </a:r>
            <a:endParaRPr lang="en-US" sz="1600" dirty="0"/>
          </a:p>
        </p:txBody>
      </p:sp>
      <p:sp>
        <p:nvSpPr>
          <p:cNvPr id="9" name="Text 6"/>
          <p:cNvSpPr txBox="1"/>
          <p:nvPr/>
        </p:nvSpPr>
        <p:spPr>
          <a:xfrm>
            <a:off x="8458200" y="4389120"/>
            <a:ext cx="3017520" cy="1554480"/>
          </a:xfrm>
          <a:prstGeom prst="rect">
            <a:avLst/>
          </a:prstGeom>
          <a:noFill/>
          <a:ln/>
        </p:spPr>
        <p:txBody>
          <a:bodyPr wrap="square" lIns="0" tIns="0" rIns="0" bIns="0" rtlCol="0" anchor="ctr"/>
          <a:lstStyle/>
          <a:p>
            <a:pPr indent="0" marL="0">
              <a:buNone/>
            </a:pPr>
            <a:r>
              <a:rPr lang="en-US" sz="1300" dirty="0">
                <a:solidFill>
                  <a:srgbClr val="52516E"/>
                </a:solidFill>
              </a:rPr>
              <a:t>Training on the laptop CPU took 2 min – 2.6 h; no GPU needed for a few thousand examples.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Pre-training is the key: fewer labels, higher accuracy</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71600"/>
            <a:ext cx="3200400" cy="2194560"/>
          </a:xfrm>
          <a:prstGeom prst="roundRect">
            <a:avLst>
              <a:gd name="adj" fmla="val 5000"/>
            </a:avLst>
          </a:prstGeom>
          <a:solidFill>
            <a:srgbClr val="E6F6EF"/>
          </a:solidFill>
          <a:ln w="12700">
            <a:solidFill>
              <a:srgbClr val="E6F6EF"/>
            </a:solidFill>
            <a:prstDash val="solid"/>
          </a:ln>
        </p:spPr>
      </p:sp>
      <p:sp>
        <p:nvSpPr>
          <p:cNvPr id="5" name="Text 2"/>
          <p:cNvSpPr txBox="1"/>
          <p:nvPr/>
        </p:nvSpPr>
        <p:spPr>
          <a:xfrm>
            <a:off x="8641080" y="1463040"/>
            <a:ext cx="2743200" cy="822960"/>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4,000</a:t>
            </a:r>
            <a:endParaRPr lang="en-US" sz="4000" dirty="0"/>
          </a:p>
        </p:txBody>
      </p:sp>
      <p:sp>
        <p:nvSpPr>
          <p:cNvPr id="6" name="Text 3"/>
          <p:cNvSpPr txBox="1"/>
          <p:nvPr/>
        </p:nvSpPr>
        <p:spPr>
          <a:xfrm>
            <a:off x="8641080" y="228600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labels: BERT-small already matches the best classical model trained on all 65k (82.7% vs 82.9%)</a:t>
            </a:r>
            <a:endParaRPr lang="en-US" sz="1300" dirty="0"/>
          </a:p>
        </p:txBody>
      </p:sp>
      <p:sp>
        <p:nvSpPr>
          <p:cNvPr id="7" name="card"/>
          <p:cNvSpPr/>
          <p:nvPr/>
        </p:nvSpPr>
        <p:spPr>
          <a:xfrm>
            <a:off x="8412480" y="3794760"/>
            <a:ext cx="3200400" cy="2286000"/>
          </a:xfrm>
          <a:prstGeom prst="roundRect">
            <a:avLst>
              <a:gd name="adj" fmla="val 4800"/>
            </a:avLst>
          </a:prstGeom>
          <a:solidFill>
            <a:srgbClr val="EEF0FA"/>
          </a:solidFill>
          <a:ln w="12700">
            <a:solidFill>
              <a:srgbClr val="EEF0FA"/>
            </a:solidFill>
            <a:prstDash val="solid"/>
          </a:ln>
        </p:spPr>
      </p:sp>
      <p:sp>
        <p:nvSpPr>
          <p:cNvPr id="8" name="Text 5"/>
          <p:cNvSpPr txBox="1"/>
          <p:nvPr/>
        </p:nvSpPr>
        <p:spPr>
          <a:xfrm>
            <a:off x="8641080" y="3886200"/>
            <a:ext cx="2743200" cy="822960"/>
          </a:xfrm>
          <a:prstGeom prst="rect">
            <a:avLst/>
          </a:prstGeom>
          <a:noFill/>
          <a:ln/>
        </p:spPr>
        <p:txBody>
          <a:bodyPr wrap="square" lIns="0" tIns="0" rIns="0" bIns="0" rtlCol="0" anchor="ctr"/>
          <a:lstStyle/>
          <a:p>
            <a:pPr indent="0" marL="0">
              <a:buNone/>
            </a:pPr>
            <a:r>
              <a:rPr lang="en-US" sz="4000" b="1" dirty="0">
                <a:solidFill>
                  <a:srgbClr val="2E2A6B"/>
                </a:solidFill>
                <a:latin typeface="Cambria" pitchFamily="34" charset="0"/>
                <a:ea typeface="Cambria" pitchFamily="34" charset="-122"/>
                <a:cs typeface="Cambria" pitchFamily="34" charset="-120"/>
              </a:rPr>
              <a:t>+14 p.p.</a:t>
            </a:r>
            <a:endParaRPr lang="en-US" sz="4000" dirty="0"/>
          </a:p>
        </p:txBody>
      </p:sp>
      <p:sp>
        <p:nvSpPr>
          <p:cNvPr id="9" name="Text 6"/>
          <p:cNvSpPr txBox="1"/>
          <p:nvPr/>
        </p:nvSpPr>
        <p:spPr>
          <a:xfrm>
            <a:off x="8641080" y="470916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advantage with only 500 labels – the gap shrinks as data grows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Context matters: negation and contrast sentences</a:t>
            </a:r>
            <a:endParaRPr lang="en-US" sz="3200" dirty="0"/>
          </a:p>
        </p:txBody>
      </p:sp>
      <p:graphicFrame>
        <p:nvGraphicFramePr>
          <p:cNvPr id="3" name="Chart 0" descr=""/>
          <p:cNvGraphicFramePr/>
          <p:nvPr/>
        </p:nvGraphicFramePr>
        <p:xfrm>
          <a:off x="457200" y="1234440"/>
          <a:ext cx="6400800" cy="4983480"/>
        </p:xfrm>
        <a:graphic xmlns:a="http://schemas.openxmlformats.org/drawingml/2006/main">
          <a:graphicData uri="http://schemas.openxmlformats.org/drawingml/2006/chart">
            <c:chart xmlns:c="http://schemas.openxmlformats.org/drawingml/2006/chart" r:id="rId1"/>
          </a:graphicData>
        </a:graphic>
      </p:graphicFrame>
      <p:pic>
        <p:nvPicPr>
          <p:cNvPr id="4" name="Image 0" descr="C:\Shashikanth_Data\VGTU\HomeWorks\NeuralNetwork\NLPTOPIC\Transformers-NLP\code\figures\attention_heatmap.png">    </p:cNvPr>
          <p:cNvPicPr>
            <a:picLocks noChangeAspect="1"/>
          </p:cNvPicPr>
          <p:nvPr/>
        </p:nvPicPr>
        <p:blipFill>
          <a:blip r:embed="rId2"/>
          <a:stretch>
            <a:fillRect/>
          </a:stretch>
        </p:blipFill>
        <p:spPr>
          <a:xfrm>
            <a:off x="7132320" y="1234440"/>
            <a:ext cx="4480560" cy="3840480"/>
          </a:xfrm>
          <a:prstGeom prst="rect">
            <a:avLst/>
          </a:prstGeom>
        </p:spPr>
      </p:pic>
      <p:sp>
        <p:nvSpPr>
          <p:cNvPr id="5" name="Text 1"/>
          <p:cNvSpPr txBox="1"/>
          <p:nvPr/>
        </p:nvSpPr>
        <p:spPr>
          <a:xfrm>
            <a:off x="7132320" y="5532120"/>
            <a:ext cx="4480560" cy="548640"/>
          </a:xfrm>
          <a:prstGeom prst="rect">
            <a:avLst/>
          </a:prstGeom>
          <a:noFill/>
          <a:ln/>
        </p:spPr>
        <p:txBody>
          <a:bodyPr wrap="square" lIns="0" tIns="0" rIns="0" bIns="0" rtlCol="0" anchor="ctr"/>
          <a:lstStyle/>
          <a:p>
            <a:pPr algn="ctr" indent="0" marL="0">
              <a:buNone/>
            </a:pPr>
            <a:r>
              <a:rPr lang="en-US" sz="1100" i="1" dirty="0">
                <a:solidFill>
                  <a:srgbClr val="52516E"/>
                </a:solidFill>
              </a:rPr>
              <a:t>“the plot was not good, but the acting was brilliant” – DistilBERT attention, last layer</a:t>
            </a:r>
            <a:endParaRPr lang="en-US" sz="11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Conclusions &amp; recommendations</a:t>
            </a:r>
            <a:endParaRPr lang="en-US" sz="3400" dirty="0"/>
          </a:p>
        </p:txBody>
      </p:sp>
      <p:sp>
        <p:nvSpPr>
          <p:cNvPr id="3" name="Shape 1"/>
          <p:cNvSpPr/>
          <p:nvPr/>
        </p:nvSpPr>
        <p:spPr>
          <a:xfrm>
            <a:off x="731520" y="1554480"/>
            <a:ext cx="621792" cy="621792"/>
          </a:xfrm>
          <a:prstGeom prst="ellipse">
            <a:avLst/>
          </a:prstGeom>
          <a:solidFill>
            <a:srgbClr val="1BAF7A"/>
          </a:solidFill>
          <a:ln w="12700">
            <a:solidFill>
              <a:srgbClr val="1BAF7A"/>
            </a:solidFill>
            <a:prstDash val="solid"/>
          </a:ln>
        </p:spPr>
      </p:sp>
      <p:pic>
        <p:nvPicPr>
          <p:cNvPr id="4" name="Image 0" descr="preencoded.png">    </p:cNvPr>
          <p:cNvPicPr>
            <a:picLocks noChangeAspect="1"/>
          </p:cNvPicPr>
          <p:nvPr/>
        </p:nvPicPr>
        <p:blipFill>
          <a:blip r:embed="rId1"/>
          <a:stretch>
            <a:fillRect/>
          </a:stretch>
        </p:blipFill>
        <p:spPr>
          <a:xfrm>
            <a:off x="880750" y="1703710"/>
            <a:ext cx="323332" cy="323332"/>
          </a:xfrm>
          <a:prstGeom prst="rect">
            <a:avLst/>
          </a:prstGeom>
        </p:spPr>
      </p:pic>
      <p:sp>
        <p:nvSpPr>
          <p:cNvPr id="5" name="Text 2"/>
          <p:cNvSpPr txBox="1"/>
          <p:nvPr/>
        </p:nvSpPr>
        <p:spPr>
          <a:xfrm>
            <a:off x="1600200" y="15087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Fine-tuned Transformers are the most accurate: 88.8% vs 82.9% (classical) and 82.8% (BiLSTM)</a:t>
            </a:r>
            <a:endParaRPr lang="en-US" sz="1700" dirty="0"/>
          </a:p>
        </p:txBody>
      </p:sp>
      <p:sp>
        <p:nvSpPr>
          <p:cNvPr id="6" name="Shape 3"/>
          <p:cNvSpPr/>
          <p:nvPr/>
        </p:nvSpPr>
        <p:spPr>
          <a:xfrm>
            <a:off x="731520" y="2468880"/>
            <a:ext cx="621792" cy="621792"/>
          </a:xfrm>
          <a:prstGeom prst="ellipse">
            <a:avLst/>
          </a:prstGeom>
          <a:solidFill>
            <a:srgbClr val="1BAF7A"/>
          </a:solidFill>
          <a:ln w="12700">
            <a:solidFill>
              <a:srgbClr val="1BAF7A"/>
            </a:solidFill>
            <a:prstDash val="solid"/>
          </a:ln>
        </p:spPr>
      </p:sp>
      <p:pic>
        <p:nvPicPr>
          <p:cNvPr id="7" name="Image 1" descr="preencoded.png">    </p:cNvPr>
          <p:cNvPicPr>
            <a:picLocks noChangeAspect="1"/>
          </p:cNvPicPr>
          <p:nvPr/>
        </p:nvPicPr>
        <p:blipFill>
          <a:blip r:embed="rId2"/>
          <a:stretch>
            <a:fillRect/>
          </a:stretch>
        </p:blipFill>
        <p:spPr>
          <a:xfrm>
            <a:off x="880750" y="2618110"/>
            <a:ext cx="323332" cy="323332"/>
          </a:xfrm>
          <a:prstGeom prst="rect">
            <a:avLst/>
          </a:prstGeom>
        </p:spPr>
      </p:pic>
      <p:sp>
        <p:nvSpPr>
          <p:cNvPr id="8" name="Text 4"/>
          <p:cNvSpPr txBox="1"/>
          <p:nvPr/>
        </p:nvSpPr>
        <p:spPr>
          <a:xfrm>
            <a:off x="1600200" y="24231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Pre-training gives data efficiency: BERT-small with 4,000 labels matches classical models trained on 65k; DistilBERT with 8,000 beats them</a:t>
            </a:r>
            <a:endParaRPr lang="en-US" sz="1700" dirty="0"/>
          </a:p>
        </p:txBody>
      </p:sp>
      <p:sp>
        <p:nvSpPr>
          <p:cNvPr id="9" name="Shape 5"/>
          <p:cNvSpPr/>
          <p:nvPr/>
        </p:nvSpPr>
        <p:spPr>
          <a:xfrm>
            <a:off x="731520" y="3383280"/>
            <a:ext cx="621792" cy="621792"/>
          </a:xfrm>
          <a:prstGeom prst="ellipse">
            <a:avLst/>
          </a:prstGeom>
          <a:solidFill>
            <a:srgbClr val="1BAF7A"/>
          </a:solidFill>
          <a:ln w="12700">
            <a:solidFill>
              <a:srgbClr val="1BAF7A"/>
            </a:solidFill>
            <a:prstDash val="solid"/>
          </a:ln>
        </p:spPr>
      </p:sp>
      <p:pic>
        <p:nvPicPr>
          <p:cNvPr id="10" name="Image 2" descr="preencoded.png">    </p:cNvPr>
          <p:cNvPicPr>
            <a:picLocks noChangeAspect="1"/>
          </p:cNvPicPr>
          <p:nvPr/>
        </p:nvPicPr>
        <p:blipFill>
          <a:blip r:embed="rId3"/>
          <a:stretch>
            <a:fillRect/>
          </a:stretch>
        </p:blipFill>
        <p:spPr>
          <a:xfrm>
            <a:off x="880750" y="3532510"/>
            <a:ext cx="323332" cy="323332"/>
          </a:xfrm>
          <a:prstGeom prst="rect">
            <a:avLst/>
          </a:prstGeom>
        </p:spPr>
      </p:pic>
      <p:sp>
        <p:nvSpPr>
          <p:cNvPr id="11" name="Text 6"/>
          <p:cNvSpPr txBox="1"/>
          <p:nvPr/>
        </p:nvSpPr>
        <p:spPr>
          <a:xfrm>
            <a:off x="1600200" y="33375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Cost is real but manageable: minutes of CPU fine-tuning, milliseconds per sentence</a:t>
            </a:r>
            <a:endParaRPr lang="en-US" sz="1700" dirty="0"/>
          </a:p>
        </p:txBody>
      </p:sp>
      <p:sp>
        <p:nvSpPr>
          <p:cNvPr id="12" name="Shape 7"/>
          <p:cNvSpPr/>
          <p:nvPr/>
        </p:nvSpPr>
        <p:spPr>
          <a:xfrm>
            <a:off x="731520" y="4297680"/>
            <a:ext cx="621792" cy="621792"/>
          </a:xfrm>
          <a:prstGeom prst="ellipse">
            <a:avLst/>
          </a:prstGeom>
          <a:solidFill>
            <a:srgbClr val="1BAF7A"/>
          </a:solidFill>
          <a:ln w="12700">
            <a:solidFill>
              <a:srgbClr val="1BAF7A"/>
            </a:solidFill>
            <a:prstDash val="solid"/>
          </a:ln>
        </p:spPr>
      </p:sp>
      <p:pic>
        <p:nvPicPr>
          <p:cNvPr id="13" name="Image 3" descr="preencoded.png">    </p:cNvPr>
          <p:cNvPicPr>
            <a:picLocks noChangeAspect="1"/>
          </p:cNvPicPr>
          <p:nvPr/>
        </p:nvPicPr>
        <p:blipFill>
          <a:blip r:embed="rId4"/>
          <a:stretch>
            <a:fillRect/>
          </a:stretch>
        </p:blipFill>
        <p:spPr>
          <a:xfrm>
            <a:off x="880750" y="4446910"/>
            <a:ext cx="323332" cy="323332"/>
          </a:xfrm>
          <a:prstGeom prst="rect">
            <a:avLst/>
          </a:prstGeom>
        </p:spPr>
      </p:pic>
      <p:sp>
        <p:nvSpPr>
          <p:cNvPr id="14" name="Text 8"/>
          <p:cNvSpPr txBox="1"/>
          <p:nvPr/>
        </p:nvSpPr>
        <p:spPr>
          <a:xfrm>
            <a:off x="1600200" y="42519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Reuse first: an in-domain public model gives 91.1% with zero training; zero-shot (81.8%) and out-of-domain models are useful but weaker</a:t>
            </a:r>
            <a:endParaRPr lang="en-US" sz="1700" dirty="0"/>
          </a:p>
        </p:txBody>
      </p:sp>
      <p:sp>
        <p:nvSpPr>
          <p:cNvPr id="15" name="Shape 9"/>
          <p:cNvSpPr/>
          <p:nvPr/>
        </p:nvSpPr>
        <p:spPr>
          <a:xfrm>
            <a:off x="731520" y="5212080"/>
            <a:ext cx="621792" cy="621792"/>
          </a:xfrm>
          <a:prstGeom prst="ellipse">
            <a:avLst/>
          </a:prstGeom>
          <a:solidFill>
            <a:srgbClr val="EB6834"/>
          </a:solidFill>
          <a:ln w="12700">
            <a:solidFill>
              <a:srgbClr val="EB6834"/>
            </a:solidFill>
            <a:prstDash val="solid"/>
          </a:ln>
        </p:spPr>
      </p:sp>
      <p:pic>
        <p:nvPicPr>
          <p:cNvPr id="16" name="Image 4" descr="preencoded.png">    </p:cNvPr>
          <p:cNvPicPr>
            <a:picLocks noChangeAspect="1"/>
          </p:cNvPicPr>
          <p:nvPr/>
        </p:nvPicPr>
        <p:blipFill>
          <a:blip r:embed="rId5"/>
          <a:stretch>
            <a:fillRect/>
          </a:stretch>
        </p:blipFill>
        <p:spPr>
          <a:xfrm>
            <a:off x="880750" y="5361310"/>
            <a:ext cx="323332" cy="323332"/>
          </a:xfrm>
          <a:prstGeom prst="rect">
            <a:avLst/>
          </a:prstGeom>
        </p:spPr>
      </p:pic>
      <p:sp>
        <p:nvSpPr>
          <p:cNvPr id="17" name="Text 10"/>
          <p:cNvSpPr txBox="1"/>
          <p:nvPr/>
        </p:nvSpPr>
        <p:spPr>
          <a:xfrm>
            <a:off x="1600200" y="51663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For Lithuanian: fine-tune LitLat BERT / XLM-R on a small labelled set – the next step of this work</a:t>
            </a:r>
            <a:endParaRPr lang="en-US" sz="1700" dirty="0"/>
          </a:p>
        </p:txBody>
      </p:sp>
      <p:sp>
        <p:nvSpPr>
          <p:cNvPr id="18" name="Text 11"/>
          <p:cNvSpPr txBox="1"/>
          <p:nvPr/>
        </p:nvSpPr>
        <p:spPr>
          <a:xfrm>
            <a:off x="731520" y="6035040"/>
            <a:ext cx="7315200" cy="457200"/>
          </a:xfrm>
          <a:prstGeom prst="rect">
            <a:avLst/>
          </a:prstGeom>
          <a:noFill/>
          <a:ln/>
        </p:spPr>
        <p:txBody>
          <a:bodyPr wrap="square" lIns="0" tIns="0" rIns="0" bIns="0" rtlCol="0" anchor="ctr"/>
          <a:lstStyle/>
          <a:p>
            <a:pPr indent="0" marL="0">
              <a:buNone/>
            </a:pPr>
            <a:r>
              <a:rPr lang="en-US" sz="1800" i="1" dirty="0">
                <a:solidFill>
                  <a:srgbClr val="B8B8D0"/>
                </a:solidFill>
                <a:latin typeface="Cambria" pitchFamily="34" charset="0"/>
                <a:ea typeface="Cambria" pitchFamily="34" charset="-122"/>
                <a:cs typeface="Cambria" pitchFamily="34" charset="-120"/>
              </a:rPr>
              <a:t>Thank you! Questions?</a:t>
            </a:r>
            <a:endParaRPr lang="en-US" sz="18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Transformers and their application in NLP tasks</dc:title>
  <dc:subject>PptxGenJS Presentation</dc:subject>
  <dc:creator>Shashikanth Hosur Ramegowda, Shaeed Khan</dc:creator>
  <cp:lastModifiedBy>Shashikanth Hosur Ramegowda, Shaeed Khan</cp:lastModifiedBy>
  <cp:revision>1</cp:revision>
  <dcterms:created xsi:type="dcterms:W3CDTF">2026-10-29T15:25:28Z</dcterms:created>
  <dcterms:modified xsi:type="dcterms:W3CDTF">2026-10-29T15:25:28Z</dcterms:modified>
</cp:coreProperties>
</file>